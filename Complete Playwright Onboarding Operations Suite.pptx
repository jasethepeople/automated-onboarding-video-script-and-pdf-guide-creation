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500063"/>
            <a:ext cx="45005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DEPLOYMENT BRIEF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57213" y="617934"/>
            <a:ext cx="4500563" cy="160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7600"/>
              </a:lnSpc>
              <a:buNone/>
            </a:pPr>
            <a:r>
              <a:rPr lang="en-US" sz="2950" b="1" spc="-2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PLAYWRIGHT ONBOARDING OPERATIONS SUITE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57213" y="2935021"/>
            <a:ext cx="4429125" cy="713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system for UI verification, session assurance, CI observability, and operational automation.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7213" y="4357632"/>
            <a:ext cx="1451018" cy="371475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4"/>
          <p:cNvSpPr/>
          <p:nvPr/>
        </p:nvSpPr>
        <p:spPr>
          <a:xfrm>
            <a:off x="557213" y="4357632"/>
            <a:ext cx="1451018" cy="371475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OVERVIEW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136818" y="4443357"/>
            <a:ext cx="2920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PLAYWRIGHT · LOCAL ANALYTICS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786438" y="400050"/>
            <a:ext cx="2957513" cy="1785938"/>
          </a:xfrm>
          <a:prstGeom prst="rect">
            <a:avLst/>
          </a:prstGeom>
          <a:solidFill>
            <a:srgbClr val="FFFFFF"/>
          </a:solidFill>
          <a:ln w="18288">
            <a:solidFill>
              <a:srgbClr val="0833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116" y="667941"/>
            <a:ext cx="1250156" cy="12501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86438" y="4604147"/>
            <a:ext cx="29575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AS AN OPERATED PRODUCT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71475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42925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SUITE, ONE OPERATIONAL CONTROL PLANE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42975"/>
            <a:ext cx="5429250" cy="6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 treats onboarding verification as an operated product: it validates the journey, manages runtime trust, produces evidence, and maintains itself.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85775" y="1927250"/>
            <a:ext cx="1978819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927250"/>
            <a:ext cx="1978819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2098700"/>
            <a:ext cx="1664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JOURNEY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2938" y="2606966"/>
            <a:ext cx="166449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GUIDE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2938" y="3368836"/>
            <a:ext cx="1664494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script, step sequence, screenshots, annotations, and PDF-ready guidance.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50319" y="1927250"/>
            <a:ext cx="1978819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550319" y="1927250"/>
            <a:ext cx="1978819" cy="5000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0"/>
          <p:cNvSpPr/>
          <p:nvPr/>
        </p:nvSpPr>
        <p:spPr>
          <a:xfrm>
            <a:off x="2707481" y="2098700"/>
            <a:ext cx="1664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VERIFY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07481" y="2606966"/>
            <a:ext cx="166449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CHECKS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707481" y="3368836"/>
            <a:ext cx="1664494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narrative testing plus independently shardable onboarding verification.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14863" y="1927250"/>
            <a:ext cx="1978819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614863" y="1927250"/>
            <a:ext cx="1978819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8" name="Text 15"/>
          <p:cNvSpPr/>
          <p:nvPr/>
        </p:nvSpPr>
        <p:spPr>
          <a:xfrm>
            <a:off x="4772025" y="2098700"/>
            <a:ext cx="1664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OPERATE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72025" y="2615394"/>
            <a:ext cx="166449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SAFEGUARDS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72025" y="3201739"/>
            <a:ext cx="1664494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health, bounded retry, recovery support, preflight, and cleanup controls.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79406" y="1927250"/>
            <a:ext cx="1978819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6679406" y="1927250"/>
            <a:ext cx="1978819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3" name="Text 20"/>
          <p:cNvSpPr/>
          <p:nvPr/>
        </p:nvSpPr>
        <p:spPr>
          <a:xfrm>
            <a:off x="6836569" y="2098700"/>
            <a:ext cx="16644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LEARN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36569" y="2606966"/>
            <a:ext cx="166449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TRENDS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36569" y="3368836"/>
            <a:ext cx="1664494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Per-shard evidence, merged reports, dashboard history, and regression signals.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5775" y="3970362"/>
            <a:ext cx="19788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2550319" y="3970362"/>
            <a:ext cx="19788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614863" y="3970362"/>
            <a:ext cx="19788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679406" y="3970362"/>
            <a:ext cx="19788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485775" y="4463281"/>
            <a:ext cx="8172450" cy="6143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1" name="Shape 28"/>
          <p:cNvSpPr/>
          <p:nvPr/>
        </p:nvSpPr>
        <p:spPr>
          <a:xfrm>
            <a:off x="485775" y="4463281"/>
            <a:ext cx="2143125" cy="6143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29"/>
          <p:cNvSpPr/>
          <p:nvPr/>
        </p:nvSpPr>
        <p:spPr>
          <a:xfrm>
            <a:off x="485775" y="4463281"/>
            <a:ext cx="2143125" cy="614363"/>
          </a:xfrm>
          <a:prstGeom prst="rect">
            <a:avLst/>
          </a:prstGeom>
          <a:noFill/>
          <a:ln/>
        </p:spPr>
        <p:txBody>
          <a:bodyPr wrap="square" lIns="187071" tIns="212598" rIns="170053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2628900" y="4463281"/>
            <a:ext cx="6029325" cy="614363"/>
          </a:xfrm>
          <a:prstGeom prst="rect">
            <a:avLst/>
          </a:prstGeom>
          <a:noFill/>
          <a:ln/>
        </p:spPr>
        <p:txBody>
          <a:bodyPr wrap="square" lIns="221107" tIns="170053" rIns="238125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becomes an operating system for onboarding quality—not an isolated test file.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EXECUTION, CONTROL, AND INSIGHT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00113"/>
            <a:ext cx="8172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separates UI work from operational trust and performance interpretation—then closes the loop with measurable feedback.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514475"/>
            <a:ext cx="5243233" cy="1226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514475"/>
            <a:ext cx="5243233" cy="35719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Shape 5"/>
          <p:cNvSpPr/>
          <p:nvPr/>
        </p:nvSpPr>
        <p:spPr>
          <a:xfrm>
            <a:off x="485775" y="1514475"/>
            <a:ext cx="1571625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9" name="Text 6"/>
          <p:cNvSpPr/>
          <p:nvPr/>
        </p:nvSpPr>
        <p:spPr>
          <a:xfrm>
            <a:off x="485775" y="1514475"/>
            <a:ext cx="1571625" cy="1190997"/>
          </a:xfrm>
          <a:prstGeom prst="rect">
            <a:avLst/>
          </a:prstGeom>
          <a:noFill/>
          <a:ln/>
        </p:spPr>
        <p:txBody>
          <a:bodyPr wrap="square" lIns="195580" tIns="229616" rIns="136017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57400" y="1514475"/>
            <a:ext cx="2900083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1" name="Shape 8"/>
          <p:cNvSpPr/>
          <p:nvPr/>
        </p:nvSpPr>
        <p:spPr>
          <a:xfrm>
            <a:off x="2057400" y="1514475"/>
            <a:ext cx="1021891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2200275" y="1671638"/>
            <a:ext cx="764716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GENERATOR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00275" y="1998241"/>
            <a:ext cx="764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200275" y="2191122"/>
            <a:ext cx="764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200275" y="2384003"/>
            <a:ext cx="764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PDF user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00275" y="2576885"/>
            <a:ext cx="7647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086435" y="1514475"/>
            <a:ext cx="844302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3229310" y="1671638"/>
            <a:ext cx="587127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JOURNEY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29310" y="1998241"/>
            <a:ext cx="5871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29310" y="2191122"/>
            <a:ext cx="5871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229310" y="2384003"/>
            <a:ext cx="5871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937881" y="1514475"/>
            <a:ext cx="1019603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4080756" y="1671638"/>
            <a:ext cx="762428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SHARDABLE CHECKS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080756" y="1998241"/>
            <a:ext cx="7624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Independent,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080756" y="2191122"/>
            <a:ext cx="7624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test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080756" y="2384003"/>
            <a:ext cx="7624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957483" y="1514475"/>
            <a:ext cx="771525" cy="1190997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5"/>
          <p:cNvSpPr/>
          <p:nvPr/>
        </p:nvSpPr>
        <p:spPr>
          <a:xfrm>
            <a:off x="4957483" y="1514475"/>
            <a:ext cx="771525" cy="1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29021" y="1514475"/>
            <a:ext cx="5073904" cy="1226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5829021" y="1514475"/>
            <a:ext cx="5073904" cy="35719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1" name="Shape 28"/>
          <p:cNvSpPr/>
          <p:nvPr/>
        </p:nvSpPr>
        <p:spPr>
          <a:xfrm>
            <a:off x="5829021" y="1514475"/>
            <a:ext cx="1571625" cy="1190997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29"/>
          <p:cNvSpPr/>
          <p:nvPr/>
        </p:nvSpPr>
        <p:spPr>
          <a:xfrm>
            <a:off x="5829021" y="1514475"/>
            <a:ext cx="1571625" cy="1190997"/>
          </a:xfrm>
          <a:prstGeom prst="rect">
            <a:avLst/>
          </a:prstGeom>
          <a:noFill/>
          <a:ln/>
        </p:spPr>
        <p:txBody>
          <a:bodyPr wrap="square" lIns="195580" tIns="229616" rIns="136017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400646" y="1514475"/>
            <a:ext cx="2730754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4" name="Shape 31"/>
          <p:cNvSpPr/>
          <p:nvPr/>
        </p:nvSpPr>
        <p:spPr>
          <a:xfrm>
            <a:off x="7400646" y="1514475"/>
            <a:ext cx="876672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543521" y="1671638"/>
            <a:ext cx="619497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543521" y="1998241"/>
            <a:ext cx="619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543521" y="2191122"/>
            <a:ext cx="619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43521" y="2384003"/>
            <a:ext cx="619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8284462" y="1514475"/>
            <a:ext cx="894420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8427337" y="1671638"/>
            <a:ext cx="637245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HEALTH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427337" y="1998241"/>
            <a:ext cx="637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Retry, expiry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427337" y="2191122"/>
            <a:ext cx="637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427337" y="2384003"/>
            <a:ext cx="637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427337" y="2576885"/>
            <a:ext cx="637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9186025" y="1514475"/>
            <a:ext cx="945375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9328900" y="1671638"/>
            <a:ext cx="688200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PREFLIGHT &amp; PRUNING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9328900" y="1998241"/>
            <a:ext cx="688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328900" y="2191122"/>
            <a:ext cx="688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and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9328900" y="2384003"/>
            <a:ext cx="688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9328900" y="2576885"/>
            <a:ext cx="6882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0131400" y="1514475"/>
            <a:ext cx="771525" cy="1190997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2" name="Text 49"/>
          <p:cNvSpPr/>
          <p:nvPr/>
        </p:nvSpPr>
        <p:spPr>
          <a:xfrm>
            <a:off x="10131400" y="1514475"/>
            <a:ext cx="771525" cy="1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50"/>
          <p:cNvSpPr/>
          <p:nvPr/>
        </p:nvSpPr>
        <p:spPr>
          <a:xfrm>
            <a:off x="11002938" y="1514475"/>
            <a:ext cx="5114869" cy="12267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1"/>
          <p:cNvSpPr/>
          <p:nvPr/>
        </p:nvSpPr>
        <p:spPr>
          <a:xfrm>
            <a:off x="11002938" y="1514475"/>
            <a:ext cx="5114869" cy="35719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55" name="Shape 52"/>
          <p:cNvSpPr/>
          <p:nvPr/>
        </p:nvSpPr>
        <p:spPr>
          <a:xfrm>
            <a:off x="11002938" y="1514475"/>
            <a:ext cx="1571625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56" name="Text 53"/>
          <p:cNvSpPr/>
          <p:nvPr/>
        </p:nvSpPr>
        <p:spPr>
          <a:xfrm>
            <a:off x="11002938" y="1514475"/>
            <a:ext cx="1571625" cy="1190997"/>
          </a:xfrm>
          <a:prstGeom prst="rect">
            <a:avLst/>
          </a:prstGeom>
          <a:noFill/>
          <a:ln/>
        </p:spPr>
        <p:txBody>
          <a:bodyPr wrap="square" lIns="195580" tIns="229616" rIns="136017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12574563" y="1514475"/>
            <a:ext cx="2771719" cy="1190997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58" name="Shape 55"/>
          <p:cNvSpPr/>
          <p:nvPr/>
        </p:nvSpPr>
        <p:spPr>
          <a:xfrm>
            <a:off x="12574563" y="1514475"/>
            <a:ext cx="803672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/>
          <p:nvPr/>
        </p:nvSpPr>
        <p:spPr>
          <a:xfrm>
            <a:off x="12717438" y="1671638"/>
            <a:ext cx="546497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EXPORT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12717438" y="1998241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per-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12717438" y="2191122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2717438" y="2384003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and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12717438" y="2576885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facts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13385378" y="1514475"/>
            <a:ext cx="907200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/>
          <p:nvPr/>
        </p:nvSpPr>
        <p:spPr>
          <a:xfrm>
            <a:off x="13528253" y="1671638"/>
            <a:ext cx="650025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ANALYZER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13528253" y="1998241"/>
            <a:ext cx="65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Baseline,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13528253" y="2191122"/>
            <a:ext cx="65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thresholds,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3528253" y="2384003"/>
            <a:ext cx="65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13528253" y="2576885"/>
            <a:ext cx="6500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4299723" y="1514475"/>
            <a:ext cx="1046559" cy="11909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/>
          <p:nvPr/>
        </p:nvSpPr>
        <p:spPr>
          <a:xfrm>
            <a:off x="14442598" y="1671638"/>
            <a:ext cx="789384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8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DASHBOARD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14442598" y="1998241"/>
            <a:ext cx="7893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14442598" y="2191122"/>
            <a:ext cx="7893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balance, and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14442598" y="2384003"/>
            <a:ext cx="7893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performance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15346282" y="1514475"/>
            <a:ext cx="771525" cy="1190997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6" name="Text 73"/>
          <p:cNvSpPr/>
          <p:nvPr/>
        </p:nvSpPr>
        <p:spPr>
          <a:xfrm>
            <a:off x="15346282" y="1514475"/>
            <a:ext cx="771525" cy="1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2000" dirty="0"/>
          </a:p>
        </p:txBody>
      </p:sp>
      <p:sp>
        <p:nvSpPr>
          <p:cNvPr id="77" name="Text 74"/>
          <p:cNvSpPr/>
          <p:nvPr/>
        </p:nvSpPr>
        <p:spPr>
          <a:xfrm>
            <a:off x="485775" y="2946574"/>
            <a:ext cx="37826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EVIDENCE FLOWS FORWARD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4268391" y="2887638"/>
            <a:ext cx="60721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5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4875609" y="2946574"/>
            <a:ext cx="378261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LEARNING FLOWS BACK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485775" y="3348410"/>
            <a:ext cx="8172450" cy="7286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1" name="Text 78"/>
          <p:cNvSpPr/>
          <p:nvPr/>
        </p:nvSpPr>
        <p:spPr>
          <a:xfrm>
            <a:off x="485775" y="3348410"/>
            <a:ext cx="2071688" cy="728663"/>
          </a:xfrm>
          <a:prstGeom prst="rect">
            <a:avLst/>
          </a:prstGeom>
          <a:noFill/>
          <a:ln/>
        </p:spPr>
        <p:txBody>
          <a:bodyPr wrap="square" lIns="204089" tIns="255143" rIns="127508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PRINCIPLE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2557463" y="3348410"/>
            <a:ext cx="6100763" cy="728663"/>
          </a:xfrm>
          <a:prstGeom prst="rect">
            <a:avLst/>
          </a:prstGeom>
          <a:noFill/>
          <a:ln/>
        </p:spPr>
        <p:txBody>
          <a:bodyPr wrap="square" lIns="221107" tIns="204089" rIns="238125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application behavior, operational controls, and performance signals independently testable—but intentionally connected.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28613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EXECUTION DESIGN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00063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TESTS WITHOUT SHARED-STATE COLLISIONS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885825"/>
            <a:ext cx="70723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keeps one complete onboarding narrative for confidence while distributing independent checks across two runners for faster feedback.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414463"/>
            <a:ext cx="2690292" cy="218598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7" name="Text 4"/>
          <p:cNvSpPr/>
          <p:nvPr/>
        </p:nvSpPr>
        <p:spPr>
          <a:xfrm>
            <a:off x="657225" y="1600200"/>
            <a:ext cx="23473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PATH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57225" y="1800225"/>
            <a:ext cx="2347392" cy="2039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JOURNEY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7225" y="2089938"/>
            <a:ext cx="2347392" cy="466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ordered six-step onboarding flow validates the experience exactly as a new user encounters it.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7225" y="2741972"/>
            <a:ext cx="763377" cy="38576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1" name="Text 8"/>
          <p:cNvSpPr/>
          <p:nvPr/>
        </p:nvSpPr>
        <p:spPr>
          <a:xfrm>
            <a:off x="657225" y="2741972"/>
            <a:ext cx="763377" cy="38576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6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1449177" y="2741972"/>
            <a:ext cx="763432" cy="3857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0"/>
          <p:cNvSpPr/>
          <p:nvPr/>
        </p:nvSpPr>
        <p:spPr>
          <a:xfrm>
            <a:off x="1449177" y="2741972"/>
            <a:ext cx="763432" cy="38576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2241184" y="2741972"/>
            <a:ext cx="763432" cy="38576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5" name="Text 12"/>
          <p:cNvSpPr/>
          <p:nvPr/>
        </p:nvSpPr>
        <p:spPr>
          <a:xfrm>
            <a:off x="2241184" y="2741972"/>
            <a:ext cx="763432" cy="38576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6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176067" y="1414463"/>
            <a:ext cx="414338" cy="218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3590404" y="1414463"/>
            <a:ext cx="5067821" cy="2185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590404" y="1414463"/>
            <a:ext cx="5067821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6"/>
          <p:cNvSpPr/>
          <p:nvPr/>
        </p:nvSpPr>
        <p:spPr>
          <a:xfrm>
            <a:off x="3747567" y="1535906"/>
            <a:ext cx="31247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72288" y="1510903"/>
            <a:ext cx="1643063" cy="22145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1" name="Text 18"/>
          <p:cNvSpPr/>
          <p:nvPr/>
        </p:nvSpPr>
        <p:spPr>
          <a:xfrm>
            <a:off x="6872288" y="1510903"/>
            <a:ext cx="1643063" cy="221456"/>
          </a:xfrm>
          <a:prstGeom prst="rect">
            <a:avLst/>
          </a:prstGeom>
          <a:noFill/>
          <a:ln/>
        </p:spPr>
        <p:txBody>
          <a:bodyPr wrap="square" lIns="102108" tIns="76581" rIns="102108" bIns="76581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TWO-RUNNER MATRIX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3590404" y="1828800"/>
            <a:ext cx="5067821" cy="1771650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3" name="Shape 20"/>
          <p:cNvSpPr/>
          <p:nvPr/>
        </p:nvSpPr>
        <p:spPr>
          <a:xfrm>
            <a:off x="3590404" y="1828800"/>
            <a:ext cx="2508907" cy="177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3733279" y="1985963"/>
            <a:ext cx="222315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1 / 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733279" y="2164556"/>
            <a:ext cx="22231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CHECKS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733279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7" name="Text 24"/>
          <p:cNvSpPr/>
          <p:nvPr/>
        </p:nvSpPr>
        <p:spPr>
          <a:xfrm>
            <a:off x="3733279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486219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9" name="Text 26"/>
          <p:cNvSpPr/>
          <p:nvPr/>
        </p:nvSpPr>
        <p:spPr>
          <a:xfrm>
            <a:off x="4486219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5239159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1" name="Text 28"/>
          <p:cNvSpPr/>
          <p:nvPr/>
        </p:nvSpPr>
        <p:spPr>
          <a:xfrm>
            <a:off x="5239159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6149318" y="1828800"/>
            <a:ext cx="2508907" cy="1771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6292193" y="1985963"/>
            <a:ext cx="222315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2 / 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92193" y="2164556"/>
            <a:ext cx="22231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CHECKS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92193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6" name="Text 33"/>
          <p:cNvSpPr/>
          <p:nvPr/>
        </p:nvSpPr>
        <p:spPr>
          <a:xfrm>
            <a:off x="6292193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7045133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8" name="Text 35"/>
          <p:cNvSpPr/>
          <p:nvPr/>
        </p:nvSpPr>
        <p:spPr>
          <a:xfrm>
            <a:off x="7045133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7798073" y="2450306"/>
            <a:ext cx="717221" cy="442913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0" name="Text 37"/>
          <p:cNvSpPr/>
          <p:nvPr/>
        </p:nvSpPr>
        <p:spPr>
          <a:xfrm>
            <a:off x="7798073" y="2450306"/>
            <a:ext cx="717221" cy="442913"/>
          </a:xfrm>
          <a:prstGeom prst="rect">
            <a:avLst/>
          </a:prstGeom>
          <a:noFill/>
          <a:ln/>
        </p:spPr>
        <p:txBody>
          <a:bodyPr wrap="square" lIns="85090" tIns="102108" rIns="68072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85775" y="3743325"/>
            <a:ext cx="8172450" cy="104298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2" name="Shape 39"/>
          <p:cNvSpPr/>
          <p:nvPr/>
        </p:nvSpPr>
        <p:spPr>
          <a:xfrm>
            <a:off x="485775" y="3743325"/>
            <a:ext cx="1714500" cy="10429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3" name="Text 40"/>
          <p:cNvSpPr/>
          <p:nvPr/>
        </p:nvSpPr>
        <p:spPr>
          <a:xfrm>
            <a:off x="485775" y="3743325"/>
            <a:ext cx="1714500" cy="1042988"/>
          </a:xfrm>
          <a:prstGeom prst="rect">
            <a:avLst/>
          </a:prstGeom>
          <a:noFill/>
          <a:ln/>
        </p:spPr>
        <p:txBody>
          <a:bodyPr wrap="square" lIns="187071" tIns="297688" rIns="153035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GUARDRAILS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207419" y="3743325"/>
            <a:ext cx="2145469" cy="1042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2350294" y="3914775"/>
            <a:ext cx="187400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PREREQUISITE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2350294" y="4111898"/>
            <a:ext cx="18740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shard first confirms authenticated access before creating test data.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360032" y="3743325"/>
            <a:ext cx="2145525" cy="1042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4502907" y="3914775"/>
            <a:ext cx="18740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NAMING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502907" y="4111898"/>
            <a:ext cx="18740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project identifiers prevent collisions across runs and runners.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512700" y="3743325"/>
            <a:ext cx="2145525" cy="1042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6655575" y="3914775"/>
            <a:ext cx="18740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DATA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655575" y="4111898"/>
            <a:ext cx="1874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shard relies on another shard’s project, task, or test-side effect.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85775" y="4929188"/>
            <a:ext cx="8172450" cy="151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9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parallel speed without compromising the end-to-end story or contaminating shared test state.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BOUNDARY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AUTHENTICATION THAT FAILS CLOSED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00113"/>
            <a:ext cx="67151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state reduces test friction—but trust remains bounded by a dedicated account, protected environments, explicit expiry detection, and approved human re-authentication.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485900"/>
            <a:ext cx="1978819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485900"/>
            <a:ext cx="1978819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1635919"/>
            <a:ext cx="1707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STORE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28650" y="1877969"/>
            <a:ext cx="1707356" cy="170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1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STATE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8650" y="2190843"/>
            <a:ext cx="1707356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test-account cookies and storage state live only in a protected environment secret.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28650" y="2771719"/>
            <a:ext cx="1707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50319" y="1485900"/>
            <a:ext cx="1978819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550319" y="1485900"/>
            <a:ext cx="1978819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4" name="Text 11"/>
          <p:cNvSpPr/>
          <p:nvPr/>
        </p:nvSpPr>
        <p:spPr>
          <a:xfrm>
            <a:off x="2693194" y="1635919"/>
            <a:ext cx="1707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VERIFY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693194" y="1877969"/>
            <a:ext cx="1707356" cy="170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1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GATE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93194" y="2190843"/>
            <a:ext cx="1707356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 run first verifies authenticated workspace access before it can create test data.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693194" y="2771719"/>
            <a:ext cx="1707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14863" y="1485900"/>
            <a:ext cx="1978819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614863" y="1485900"/>
            <a:ext cx="1978819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0" name="Text 17"/>
          <p:cNvSpPr/>
          <p:nvPr/>
        </p:nvSpPr>
        <p:spPr>
          <a:xfrm>
            <a:off x="4757738" y="1635919"/>
            <a:ext cx="1707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CLASSIFY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757738" y="1877969"/>
            <a:ext cx="1707356" cy="170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1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RETRY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757738" y="2190843"/>
            <a:ext cx="1707356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failures retry with backoff; confirmed login or SSO redirects stop immediately.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57738" y="2771719"/>
            <a:ext cx="1707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679406" y="1485900"/>
            <a:ext cx="1978819" cy="15001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679406" y="1485900"/>
            <a:ext cx="1978819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6" name="Text 23"/>
          <p:cNvSpPr/>
          <p:nvPr/>
        </p:nvSpPr>
        <p:spPr>
          <a:xfrm>
            <a:off x="6822281" y="1635919"/>
            <a:ext cx="170735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RENEW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822281" y="1877969"/>
            <a:ext cx="1707356" cy="170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1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RECOVERY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822281" y="2190843"/>
            <a:ext cx="1707356" cy="438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authorized owner completes normal SSO/MFA, validates fresh state, then replaces the secret.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822281" y="2771719"/>
            <a:ext cx="17073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85775" y="3157538"/>
            <a:ext cx="4673687" cy="1200150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1" name="Text 28"/>
          <p:cNvSpPr/>
          <p:nvPr/>
        </p:nvSpPr>
        <p:spPr>
          <a:xfrm>
            <a:off x="657225" y="3321844"/>
            <a:ext cx="430221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RECOVERY MODEL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57225" y="3556136"/>
            <a:ext cx="4302212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through ordinary identity-provider controls; validate the resulting state headlessly; encrypt and hand it back through the approved secret-management path.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273762" y="3157538"/>
            <a:ext cx="3384407" cy="1200150"/>
          </a:xfrm>
          <a:prstGeom prst="rect">
            <a:avLst/>
          </a:prstGeom>
          <a:solidFill>
            <a:srgbClr val="FFFFFF"/>
          </a:solidFill>
          <a:ln w="18288">
            <a:solidFill>
              <a:srgbClr val="E11D4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45212" y="3314700"/>
            <a:ext cx="304150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NOT AUTOMATED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573799" y="3527561"/>
            <a:ext cx="2912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16000"/>
              </a:lnSpc>
              <a:buSzPct val="100000"/>
              <a:buChar char="•"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username/password sign-in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573799" y="3682938"/>
            <a:ext cx="2912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16000"/>
              </a:lnSpc>
              <a:buSzPct val="100000"/>
              <a:buChar char="•"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MFA, OTP, or push-factor handling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573799" y="3838315"/>
            <a:ext cx="29129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16000"/>
              </a:lnSpc>
              <a:buSzPct val="100000"/>
              <a:buChar char="•"/>
            </a:pPr>
            <a:r>
              <a:rPr lang="en-US" sz="7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values in logs, artifacts, or reports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85775" y="4493419"/>
            <a:ext cx="8172450" cy="3571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9" name="Text 36"/>
          <p:cNvSpPr/>
          <p:nvPr/>
        </p:nvSpPr>
        <p:spPr>
          <a:xfrm>
            <a:off x="485775" y="4616983"/>
            <a:ext cx="1885950" cy="110003"/>
          </a:xfrm>
          <a:prstGeom prst="rect">
            <a:avLst/>
          </a:prstGeom>
          <a:noFill/>
          <a:ln/>
        </p:spPr>
        <p:txBody>
          <a:bodyPr wrap="none" lIns="170053" tIns="0" rIns="119126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PRINCIPLE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2371725" y="4599124"/>
            <a:ext cx="6286500" cy="145721"/>
          </a:xfrm>
          <a:prstGeom prst="rect">
            <a:avLst/>
          </a:prstGeom>
          <a:noFill/>
          <a:ln/>
        </p:spPr>
        <p:txBody>
          <a:bodyPr wrap="none" lIns="0" tIns="0" rIns="187071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authentication is an actionable operational event—not a prompt to bypass identity controls.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ARCHITECTURE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PRODUCES EVIDENCE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07256"/>
            <a:ext cx="635793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 system captures timing and outcome facts at the shard level, merges them without secrets, and turns real history into local operational visibility.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515814"/>
            <a:ext cx="2357438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515814"/>
            <a:ext cx="2357438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1644402"/>
            <a:ext cx="207168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01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28650" y="1801564"/>
            <a:ext cx="20716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ARTIFACT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8650" y="2044452"/>
            <a:ext cx="2071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JSON result, controlled timestamps, outcome, retry count, and failure diagnostics.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5775" y="2601664"/>
            <a:ext cx="2357438" cy="1000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85775" y="2601664"/>
            <a:ext cx="2357438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" y="2730252"/>
            <a:ext cx="207168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02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28650" y="2887414"/>
            <a:ext cx="20716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ARTIFACT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8650" y="3130302"/>
            <a:ext cx="2071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safe schema, independently collected so runner balance can be measured—not assumed.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843213" y="2430214"/>
            <a:ext cx="4143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257550" y="1737271"/>
            <a:ext cx="1785938" cy="16430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8" name="Text 15"/>
          <p:cNvSpPr/>
          <p:nvPr/>
        </p:nvSpPr>
        <p:spPr>
          <a:xfrm>
            <a:off x="3414713" y="1915864"/>
            <a:ext cx="147161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NO-SECRET MERGE JOB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414713" y="2077603"/>
            <a:ext cx="1471613" cy="378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METRICS EXPORT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14713" y="2532459"/>
            <a:ext cx="1471613" cy="621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actual shard outputs into one dashboard-ready run record and unified report.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414713" y="3230203"/>
            <a:ext cx="1158069" cy="150019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Text 19"/>
          <p:cNvSpPr/>
          <p:nvPr/>
        </p:nvSpPr>
        <p:spPr>
          <a:xfrm>
            <a:off x="3414713" y="3230203"/>
            <a:ext cx="1158069" cy="150019"/>
          </a:xfrm>
          <a:prstGeom prst="rect">
            <a:avLst/>
          </a:prstGeom>
          <a:noFill/>
          <a:ln/>
        </p:spPr>
        <p:txBody>
          <a:bodyPr wrap="square" lIns="93599" tIns="76581" rIns="93599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RETAINED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043488" y="2430214"/>
            <a:ext cx="4143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457825" y="1515814"/>
            <a:ext cx="3200400" cy="2085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57825" y="1515814"/>
            <a:ext cx="3200400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6" name="Text 23"/>
          <p:cNvSpPr/>
          <p:nvPr/>
        </p:nvSpPr>
        <p:spPr>
          <a:xfrm>
            <a:off x="5643563" y="1672977"/>
            <a:ext cx="282892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VIEW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643563" y="2302073"/>
            <a:ext cx="2828925" cy="2133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4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DASHBOARD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5643563" y="3058809"/>
            <a:ext cx="904856" cy="542925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9" name="Text 26"/>
          <p:cNvSpPr/>
          <p:nvPr/>
        </p:nvSpPr>
        <p:spPr>
          <a:xfrm>
            <a:off x="5729288" y="3158821"/>
            <a:ext cx="7476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729288" y="3387421"/>
            <a:ext cx="74769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TREND</a:t>
            </a:r>
            <a:endParaRPr lang="en-US" sz="500" dirty="0"/>
          </a:p>
        </p:txBody>
      </p:sp>
      <p:sp>
        <p:nvSpPr>
          <p:cNvPr id="31" name="Shape 28"/>
          <p:cNvSpPr/>
          <p:nvPr/>
        </p:nvSpPr>
        <p:spPr>
          <a:xfrm>
            <a:off x="6605569" y="3058809"/>
            <a:ext cx="904856" cy="542925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2" name="Text 29"/>
          <p:cNvSpPr/>
          <p:nvPr/>
        </p:nvSpPr>
        <p:spPr>
          <a:xfrm>
            <a:off x="6691294" y="3158821"/>
            <a:ext cx="7476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691294" y="3387421"/>
            <a:ext cx="74769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BALANCE</a:t>
            </a:r>
            <a:endParaRPr lang="en-US" sz="500" dirty="0"/>
          </a:p>
        </p:txBody>
      </p:sp>
      <p:sp>
        <p:nvSpPr>
          <p:cNvPr id="34" name="Shape 31"/>
          <p:cNvSpPr/>
          <p:nvPr/>
        </p:nvSpPr>
        <p:spPr>
          <a:xfrm>
            <a:off x="7567575" y="3058809"/>
            <a:ext cx="904856" cy="542925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5" name="Text 32"/>
          <p:cNvSpPr/>
          <p:nvPr/>
        </p:nvSpPr>
        <p:spPr>
          <a:xfrm>
            <a:off x="7653300" y="3158821"/>
            <a:ext cx="74769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653300" y="3387421"/>
            <a:ext cx="74769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SIGNAL</a:t>
            </a:r>
            <a:endParaRPr lang="en-US" sz="500" dirty="0"/>
          </a:p>
        </p:txBody>
      </p:sp>
      <p:sp>
        <p:nvSpPr>
          <p:cNvPr id="37" name="Shape 34"/>
          <p:cNvSpPr/>
          <p:nvPr/>
        </p:nvSpPr>
        <p:spPr>
          <a:xfrm>
            <a:off x="485775" y="3801814"/>
            <a:ext cx="8172450" cy="688591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8" name="Shape 35"/>
          <p:cNvSpPr/>
          <p:nvPr/>
        </p:nvSpPr>
        <p:spPr>
          <a:xfrm>
            <a:off x="485775" y="3801814"/>
            <a:ext cx="2107406" cy="688591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9" name="Text 36"/>
          <p:cNvSpPr/>
          <p:nvPr/>
        </p:nvSpPr>
        <p:spPr>
          <a:xfrm>
            <a:off x="485775" y="3801814"/>
            <a:ext cx="2107406" cy="688591"/>
          </a:xfrm>
          <a:prstGeom prst="rect">
            <a:avLst/>
          </a:prstGeom>
          <a:noFill/>
          <a:ln/>
        </p:spPr>
        <p:txBody>
          <a:bodyPr wrap="square" lIns="187071" tIns="212598" rIns="136017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BOUNDARY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593181" y="3801814"/>
            <a:ext cx="6065044" cy="688591"/>
          </a:xfrm>
          <a:prstGeom prst="rect">
            <a:avLst/>
          </a:prstGeom>
          <a:noFill/>
          <a:ln/>
        </p:spPr>
        <p:txBody>
          <a:bodyPr wrap="square" lIns="221107" tIns="187071" rIns="221107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artifacts contain aggregate test facts only. Browser storage state, secrets, cookies, screenshots, traces, and raw logs are excluded from the dashboard data contract.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INTELLIGENCE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CONVERTS SIGNALS INTO DECISIONS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900113"/>
            <a:ext cx="81724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waits for sufficient evidence, compares like-for-like runs, and turns only material drift into an operational action.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343025"/>
            <a:ext cx="1382985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343025"/>
            <a:ext cx="1382985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07219" y="1478756"/>
            <a:ext cx="114009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07219" y="1635919"/>
            <a:ext cx="114009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7219" y="1983116"/>
            <a:ext cx="114009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RUNS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7219" y="2360340"/>
            <a:ext cx="1140098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Bounded, safe history is stored on the protected metrics-history branch.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68760" y="1343025"/>
            <a:ext cx="31432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183085" y="1343025"/>
            <a:ext cx="1383041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2183085" y="1343025"/>
            <a:ext cx="1383041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5" name="Text 12"/>
          <p:cNvSpPr/>
          <p:nvPr/>
        </p:nvSpPr>
        <p:spPr>
          <a:xfrm>
            <a:off x="2304529" y="1478756"/>
            <a:ext cx="11401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304529" y="1635919"/>
            <a:ext cx="114015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UP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04529" y="1983116"/>
            <a:ext cx="11401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PASS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304529" y="2360340"/>
            <a:ext cx="1140154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successful runs are required before any regression decision is made.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566127" y="1343025"/>
            <a:ext cx="31432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880452" y="1343025"/>
            <a:ext cx="1383041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3880452" y="1343025"/>
            <a:ext cx="1383041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2" name="Text 19"/>
          <p:cNvSpPr/>
          <p:nvPr/>
        </p:nvSpPr>
        <p:spPr>
          <a:xfrm>
            <a:off x="4001895" y="1478756"/>
            <a:ext cx="11401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001895" y="1635919"/>
            <a:ext cx="114015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001895" y="1983116"/>
            <a:ext cx="11401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PRIOR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001895" y="2360340"/>
            <a:ext cx="1140154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metrics are assessed against the median of prior successful runs.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63493" y="1343025"/>
            <a:ext cx="31432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577818" y="1343025"/>
            <a:ext cx="1383041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5577818" y="1343025"/>
            <a:ext cx="1383041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9" name="Text 26"/>
          <p:cNvSpPr/>
          <p:nvPr/>
        </p:nvSpPr>
        <p:spPr>
          <a:xfrm>
            <a:off x="5699261" y="1478756"/>
            <a:ext cx="11401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699261" y="1635919"/>
            <a:ext cx="114015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699261" y="1983116"/>
            <a:ext cx="11401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699261" y="2360340"/>
            <a:ext cx="1140154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GitHub summary charts surface duration and shard-balance direction.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960859" y="1343025"/>
            <a:ext cx="314325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275184" y="1343025"/>
            <a:ext cx="1383041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7275184" y="1343025"/>
            <a:ext cx="1383041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6" name="Text 33"/>
          <p:cNvSpPr/>
          <p:nvPr/>
        </p:nvSpPr>
        <p:spPr>
          <a:xfrm>
            <a:off x="7396628" y="1478756"/>
            <a:ext cx="11401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396628" y="1635919"/>
            <a:ext cx="114015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396628" y="1983116"/>
            <a:ext cx="114015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ISSUE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7396628" y="2360340"/>
            <a:ext cx="1140154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deduplicated regression issue focuses response on the newest evidence.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85775" y="3100388"/>
            <a:ext cx="3834408" cy="11715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1" name="Text 38"/>
          <p:cNvSpPr/>
          <p:nvPr/>
        </p:nvSpPr>
        <p:spPr>
          <a:xfrm>
            <a:off x="642938" y="3257550"/>
            <a:ext cx="352008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SIGNALS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42938" y="3504009"/>
            <a:ext cx="113049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728663" y="3596878"/>
            <a:ext cx="5203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7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28663" y="3758896"/>
            <a:ext cx="97333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runtime change</a:t>
            </a:r>
            <a:endParaRPr lang="en-US" sz="600" dirty="0"/>
          </a:p>
        </p:txBody>
      </p:sp>
      <p:sp>
        <p:nvSpPr>
          <p:cNvPr id="45" name="Shape 42"/>
          <p:cNvSpPr/>
          <p:nvPr/>
        </p:nvSpPr>
        <p:spPr>
          <a:xfrm>
            <a:off x="1837730" y="3504009"/>
            <a:ext cx="113049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1923455" y="3596878"/>
            <a:ext cx="48895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7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923455" y="3758896"/>
            <a:ext cx="97333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 imbalance change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3032522" y="3504009"/>
            <a:ext cx="113049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3118247" y="3596878"/>
            <a:ext cx="43348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7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3118247" y="3758896"/>
            <a:ext cx="97333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growth change</a:t>
            </a:r>
            <a:endParaRPr lang="en-US" sz="600" dirty="0"/>
          </a:p>
        </p:txBody>
      </p:sp>
      <p:sp>
        <p:nvSpPr>
          <p:cNvPr id="51" name="Shape 48"/>
          <p:cNvSpPr/>
          <p:nvPr/>
        </p:nvSpPr>
        <p:spPr>
          <a:xfrm>
            <a:off x="4420195" y="3100388"/>
            <a:ext cx="4238030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4420195" y="3100388"/>
            <a:ext cx="4238030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53" name="Text 50"/>
          <p:cNvSpPr/>
          <p:nvPr/>
        </p:nvSpPr>
        <p:spPr>
          <a:xfrm>
            <a:off x="4577358" y="3257550"/>
            <a:ext cx="392370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8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77358" y="3490392"/>
            <a:ext cx="3923705" cy="521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variables control the thresholds. </a:t>
            </a:r>
            <a:r>
              <a:rPr lang="en-US" sz="9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baseline, no alert.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Material drift produces visible summary context and one 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issue instead of repeated noise.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14325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CONTROLS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485775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LEAN, AUDITABLE OPERATIONS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871538"/>
            <a:ext cx="5857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scheduled workflow has a narrow responsibility, a safe failure mode, and an auditable output.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464469"/>
            <a:ext cx="302895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464469"/>
            <a:ext cx="3028950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1593056"/>
            <a:ext cx="2757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· 16:17 UTC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28650" y="1750219"/>
            <a:ext cx="27574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HEALTH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8650" y="1955936"/>
            <a:ext cx="2757488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retry; confirmed expiry opens or updates a renewal issue.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5775" y="2521744"/>
            <a:ext cx="302895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85775" y="2521744"/>
            <a:ext cx="3028950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" y="2650331"/>
            <a:ext cx="2757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· 07:17 UTC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28650" y="2807494"/>
            <a:ext cx="27574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PREFLIGHT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8650" y="3013211"/>
            <a:ext cx="2757488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Non-destructive configuration and policy readiness check.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71888" y="1457325"/>
            <a:ext cx="1800225" cy="2014538"/>
          </a:xfrm>
          <a:prstGeom prst="rect">
            <a:avLst/>
          </a:prstGeom>
          <a:solidFill>
            <a:srgbClr val="083344"/>
          </a:solidFill>
          <a:ln w="45720">
            <a:solidFill>
              <a:srgbClr val="E11D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363" y="1728453"/>
            <a:ext cx="1057275" cy="10572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42581" y="2914315"/>
            <a:ext cx="105878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3900934" y="3089337"/>
            <a:ext cx="134213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workflow control plane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5629275" y="1464469"/>
            <a:ext cx="302895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5629275" y="1464469"/>
            <a:ext cx="3028950" cy="42863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2" name="Text 18"/>
          <p:cNvSpPr/>
          <p:nvPr/>
        </p:nvSpPr>
        <p:spPr>
          <a:xfrm>
            <a:off x="5772150" y="1593056"/>
            <a:ext cx="2757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· 03:37 UTC</a:t>
            </a:r>
            <a:endParaRPr lang="en-US" sz="650" dirty="0"/>
          </a:p>
        </p:txBody>
      </p:sp>
      <p:sp>
        <p:nvSpPr>
          <p:cNvPr id="23" name="Text 19"/>
          <p:cNvSpPr/>
          <p:nvPr/>
        </p:nvSpPr>
        <p:spPr>
          <a:xfrm>
            <a:off x="5772150" y="1750219"/>
            <a:ext cx="27574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PRUNING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772150" y="1955936"/>
            <a:ext cx="2757488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Allowlisted retention cleanup after an auditable dry-run manifest.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629275" y="2521744"/>
            <a:ext cx="3028950" cy="9429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5629275" y="2521744"/>
            <a:ext cx="3028950" cy="42863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7" name="Text 23"/>
          <p:cNvSpPr/>
          <p:nvPr/>
        </p:nvSpPr>
        <p:spPr>
          <a:xfrm>
            <a:off x="5772150" y="2650331"/>
            <a:ext cx="275748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MAIN + MANUAL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5772150" y="2807494"/>
            <a:ext cx="275748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E2E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772150" y="3013211"/>
            <a:ext cx="2757488" cy="278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Shards, metrics, reports, history, and performance regression checks.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85775" y="3686175"/>
            <a:ext cx="8172450" cy="75723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1" name="Shape 27"/>
          <p:cNvSpPr/>
          <p:nvPr/>
        </p:nvSpPr>
        <p:spPr>
          <a:xfrm>
            <a:off x="485775" y="3686175"/>
            <a:ext cx="2143125" cy="75723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2" name="Text 28"/>
          <p:cNvSpPr/>
          <p:nvPr/>
        </p:nvSpPr>
        <p:spPr>
          <a:xfrm>
            <a:off x="485775" y="3686175"/>
            <a:ext cx="2143125" cy="757238"/>
          </a:xfrm>
          <a:prstGeom prst="rect">
            <a:avLst/>
          </a:prstGeom>
          <a:noFill/>
          <a:ln/>
        </p:spPr>
        <p:txBody>
          <a:bodyPr wrap="square" lIns="204089" tIns="238125" rIns="170053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PRINCIPLE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628900" y="3686175"/>
            <a:ext cx="6029325" cy="757238"/>
          </a:xfrm>
          <a:prstGeom prst="rect">
            <a:avLst/>
          </a:prstGeom>
          <a:noFill/>
          <a:ln/>
        </p:spPr>
        <p:txBody>
          <a:bodyPr wrap="square" lIns="238125" tIns="195580" rIns="238125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Slack and email notices carry aggregate outcome data only. A notification outage never hides the workflow’s primary result.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35756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NEW-REPOSITORY ROLLOUT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07206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 FIVE CONTROLLED STAGES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892969"/>
            <a:ext cx="66436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each boundary before enabling unattended automation: source integrity, repository policy, approved state, configuration, and live verification.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507331"/>
            <a:ext cx="1577318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85775" y="1507331"/>
            <a:ext cx="1577318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8" name="Text 5"/>
          <p:cNvSpPr/>
          <p:nvPr/>
        </p:nvSpPr>
        <p:spPr>
          <a:xfrm>
            <a:off x="614363" y="1650206"/>
            <a:ext cx="13201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14363" y="1957388"/>
            <a:ext cx="1320143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LOCALLY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4363" y="2197373"/>
            <a:ext cx="132014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package, install dependencies, and run the full offline master validation.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14363" y="3276191"/>
            <a:ext cx="1320143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`NPM RUN VERIFY:ALL`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2134530" y="1507331"/>
            <a:ext cx="1577318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134530" y="1507331"/>
            <a:ext cx="1577318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4" name="Text 11"/>
          <p:cNvSpPr/>
          <p:nvPr/>
        </p:nvSpPr>
        <p:spPr>
          <a:xfrm>
            <a:off x="2263118" y="1650206"/>
            <a:ext cx="13201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263118" y="1957388"/>
            <a:ext cx="1320143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REPOSITORY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263118" y="2344489"/>
            <a:ext cx="132014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the source, protect `main`, and establish the required GitHub Actions policy.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63118" y="3276191"/>
            <a:ext cx="1320143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REVIEWED WORKFLOW SOURCE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3783285" y="1507331"/>
            <a:ext cx="1577373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3783285" y="1507331"/>
            <a:ext cx="1577373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0" name="Text 17"/>
          <p:cNvSpPr/>
          <p:nvPr/>
        </p:nvSpPr>
        <p:spPr>
          <a:xfrm>
            <a:off x="3911873" y="1650206"/>
            <a:ext cx="132019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911873" y="1957388"/>
            <a:ext cx="1320198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TRUST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911873" y="2197373"/>
            <a:ext cx="1320198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two environments and manually capture dedicated test-account state after normal SSO/MFA.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911873" y="3276191"/>
            <a:ext cx="1320198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APPROVED STORAGE STATE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5432096" y="1507331"/>
            <a:ext cx="1577318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32096" y="1507331"/>
            <a:ext cx="1577318" cy="50006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6" name="Text 23"/>
          <p:cNvSpPr/>
          <p:nvPr/>
        </p:nvSpPr>
        <p:spPr>
          <a:xfrm>
            <a:off x="5560684" y="1650206"/>
            <a:ext cx="132014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5560684" y="1957388"/>
            <a:ext cx="1320143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SUITE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60684" y="2197373"/>
            <a:ext cx="132014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single control command as dry-run, review its plan, then repeat with `--apply`.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560684" y="3276191"/>
            <a:ext cx="1320143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PREFLIGHT-READY CONFIG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7080852" y="1507331"/>
            <a:ext cx="1577373" cy="1957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7080852" y="1507331"/>
            <a:ext cx="1577373" cy="5000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2" name="Text 29"/>
          <p:cNvSpPr/>
          <p:nvPr/>
        </p:nvSpPr>
        <p:spPr>
          <a:xfrm>
            <a:off x="7209439" y="1650206"/>
            <a:ext cx="132019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209439" y="1957388"/>
            <a:ext cx="1320198" cy="147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100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SAFELY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209439" y="2197373"/>
            <a:ext cx="1320198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the manual workflow sequence before relying on daily and weekly schedules.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209439" y="3276191"/>
            <a:ext cx="1320198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EVIDENCE FROM FIRST E2E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85775" y="3550444"/>
            <a:ext cx="15773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2134530" y="3550444"/>
            <a:ext cx="15773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3783285" y="3550444"/>
            <a:ext cx="157737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5432096" y="3550444"/>
            <a:ext cx="15773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080852" y="3550444"/>
            <a:ext cx="157737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3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485775" y="3929063"/>
            <a:ext cx="8172450" cy="111442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2" name="Shape 39"/>
          <p:cNvSpPr/>
          <p:nvPr/>
        </p:nvSpPr>
        <p:spPr>
          <a:xfrm>
            <a:off x="485775" y="3929063"/>
            <a:ext cx="2214563" cy="1114425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3" name="Text 40"/>
          <p:cNvSpPr/>
          <p:nvPr/>
        </p:nvSpPr>
        <p:spPr>
          <a:xfrm>
            <a:off x="485775" y="3929063"/>
            <a:ext cx="2214563" cy="1114425"/>
          </a:xfrm>
          <a:prstGeom prst="rect">
            <a:avLst/>
          </a:prstGeom>
          <a:noFill/>
          <a:ln/>
        </p:spPr>
        <p:txBody>
          <a:bodyPr wrap="square" lIns="204089" tIns="289179" rIns="187071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8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ACTIVATION ORDER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886075" y="4093369"/>
            <a:ext cx="1353741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2978944" y="4200525"/>
            <a:ext cx="1189434" cy="100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65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PREFLIGHT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2978944" y="4357967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check only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4296966" y="4093369"/>
            <a:ext cx="1353741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4389834" y="4200525"/>
            <a:ext cx="1189434" cy="100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65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SESSION HEALTH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4389834" y="4357967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access proof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707856" y="4093369"/>
            <a:ext cx="1353741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5800725" y="4200525"/>
            <a:ext cx="1189434" cy="100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65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E2E RUN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5800725" y="4357967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Shards, metrics, dashboard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5800725" y="4519092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7118747" y="4093369"/>
            <a:ext cx="1353741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7211616" y="4200525"/>
            <a:ext cx="1189434" cy="100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650" b="1" spc="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PRUNING DRY-RUN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7211616" y="4357967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manifest before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7211616" y="4519092"/>
            <a:ext cx="1189434" cy="103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deletion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886075" y="4729163"/>
            <a:ext cx="5586413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these checks pass should scheduled monitoring, retention cleanup, and trend-based issue automation become the operating baseline.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4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817245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CONTROL CENTER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85775" y="514350"/>
            <a:ext cx="81724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CONFIGURES; ONE COMMAND PROVES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85775" y="871538"/>
            <a:ext cx="6572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keeps activation and verification intentionally simple: configure once with approved inputs, then use repeatable workflows and artifacts to operate continuously.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5775" y="1421606"/>
            <a:ext cx="4086225" cy="257175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4"/>
          <p:cNvSpPr/>
          <p:nvPr/>
        </p:nvSpPr>
        <p:spPr>
          <a:xfrm>
            <a:off x="485775" y="1421606"/>
            <a:ext cx="4086225" cy="25717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DEPLOYMENT CONFIGURATION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0" y="1421606"/>
            <a:ext cx="4086225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1421606"/>
            <a:ext cx="4086225" cy="25717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ASSURANCE AND REVIEW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85775" y="1735931"/>
            <a:ext cx="8172450" cy="2861686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1" name="Shape 8"/>
          <p:cNvSpPr/>
          <p:nvPr/>
        </p:nvSpPr>
        <p:spPr>
          <a:xfrm>
            <a:off x="485775" y="1735931"/>
            <a:ext cx="3674343" cy="30003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" y="1735931"/>
            <a:ext cx="3674343" cy="300038"/>
          </a:xfrm>
          <a:prstGeom prst="rect">
            <a:avLst/>
          </a:prstGeom>
          <a:noFill/>
          <a:ln/>
        </p:spPr>
        <p:txBody>
          <a:bodyPr wrap="square" lIns="153035" tIns="110617" rIns="153035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ACTION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167262" y="1735931"/>
            <a:ext cx="4490963" cy="300038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14" name="Text 11"/>
          <p:cNvSpPr/>
          <p:nvPr/>
        </p:nvSpPr>
        <p:spPr>
          <a:xfrm>
            <a:off x="4167262" y="1735931"/>
            <a:ext cx="4490963" cy="300038"/>
          </a:xfrm>
          <a:prstGeom prst="rect">
            <a:avLst/>
          </a:prstGeom>
          <a:noFill/>
          <a:ln/>
        </p:spPr>
        <p:txBody>
          <a:bodyPr wrap="square" lIns="153035" tIns="110617" rIns="153035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OR CONTROL PATH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85775" y="2043113"/>
            <a:ext cx="367434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00075" y="2143125"/>
            <a:ext cx="3445743" cy="143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9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COMPLETE SUITE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0075" y="2351243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protected environments, secrets, variables, policies, and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00075" y="2544124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notification wiring.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167262" y="2043113"/>
            <a:ext cx="449096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281562" y="2143125"/>
            <a:ext cx="4262363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1" name="Text 18"/>
          <p:cNvSpPr/>
          <p:nvPr/>
        </p:nvSpPr>
        <p:spPr>
          <a:xfrm>
            <a:off x="4281562" y="2143125"/>
            <a:ext cx="4262363" cy="257175"/>
          </a:xfrm>
          <a:prstGeom prst="rect">
            <a:avLst/>
          </a:prstGeom>
          <a:noFill/>
          <a:ln/>
        </p:spPr>
        <p:txBody>
          <a:bodyPr wrap="square" lIns="102108" tIns="85090" rIns="8509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bash scripts/configure-all-features.sh … --apply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281562" y="2457450"/>
            <a:ext cx="4262363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dry-run; requires approved browser state and repository administration.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85775" y="2679855"/>
            <a:ext cx="367434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600075" y="2779868"/>
            <a:ext cx="3445743" cy="143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9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ALL CODED COMPONENTS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00075" y="2987985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suite’s offline validation path without touching the SaaS or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0075" y="3180866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channels.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167262" y="2679855"/>
            <a:ext cx="449096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281562" y="2779868"/>
            <a:ext cx="4262363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29" name="Text 26"/>
          <p:cNvSpPr/>
          <p:nvPr/>
        </p:nvSpPr>
        <p:spPr>
          <a:xfrm>
            <a:off x="4281562" y="2779868"/>
            <a:ext cx="4262363" cy="257175"/>
          </a:xfrm>
          <a:prstGeom prst="rect">
            <a:avLst/>
          </a:prstGeom>
          <a:noFill/>
          <a:ln/>
        </p:spPr>
        <p:txBody>
          <a:bodyPr wrap="square" lIns="102108" tIns="85090" rIns="8509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run verify:all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281562" y="3094193"/>
            <a:ext cx="4262363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code, contracts, safety boundaries, metrics, trends, and workflow structure.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85775" y="3316598"/>
            <a:ext cx="3674343" cy="644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600075" y="3416610"/>
            <a:ext cx="3445743" cy="143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9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DEPLOYMENT READINESS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00075" y="3624728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policy and integration completeness before a scheduled action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00075" y="3817609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encounters it.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167262" y="3316598"/>
            <a:ext cx="4490963" cy="6442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4281562" y="3416610"/>
            <a:ext cx="4262363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37" name="Text 34"/>
          <p:cNvSpPr/>
          <p:nvPr/>
        </p:nvSpPr>
        <p:spPr>
          <a:xfrm>
            <a:off x="4281562" y="3416610"/>
            <a:ext cx="4262363" cy="257175"/>
          </a:xfrm>
          <a:prstGeom prst="rect">
            <a:avLst/>
          </a:prstGeom>
          <a:noFill/>
          <a:ln/>
        </p:spPr>
        <p:txBody>
          <a:bodyPr wrap="square" lIns="102108" tIns="85090" rIns="8509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 Actions → Operations preflight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281562" y="3730935"/>
            <a:ext cx="4262363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non-destructive check for environment variables, source wiring, and notification completeness.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485775" y="3968018"/>
            <a:ext cx="367434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600075" y="4068031"/>
            <a:ext cx="3445743" cy="1438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800"/>
              </a:lnSpc>
              <a:buNone/>
            </a:pPr>
            <a:r>
              <a:rPr lang="en-US" sz="950" b="1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PERFORMANCE HISTORY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0075" y="4276148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real merged metrics locally, without sending records to an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00075" y="4469030"/>
            <a:ext cx="34457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analytics service.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4167262" y="3968018"/>
            <a:ext cx="4490963" cy="6295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4281562" y="4068031"/>
            <a:ext cx="4262363" cy="257175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5" name="Text 42"/>
          <p:cNvSpPr/>
          <p:nvPr/>
        </p:nvSpPr>
        <p:spPr>
          <a:xfrm>
            <a:off x="4281562" y="4068031"/>
            <a:ext cx="4262363" cy="257175"/>
          </a:xfrm>
          <a:prstGeom prst="rect">
            <a:avLst/>
          </a:prstGeom>
          <a:noFill/>
          <a:ln/>
        </p:spPr>
        <p:txBody>
          <a:bodyPr wrap="square" lIns="102108" tIns="85090" rIns="8509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Dashboard → import merged metrics JSON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281562" y="4382356"/>
            <a:ext cx="4262363" cy="114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duration, runner balance, retries, and trend context in the local HTML visualizer.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485775" y="4697630"/>
            <a:ext cx="8172450" cy="457200"/>
          </a:xfrm>
          <a:prstGeom prst="rect">
            <a:avLst/>
          </a:prstGeom>
          <a:solidFill>
            <a:srgbClr val="083344"/>
          </a:solidFill>
          <a:ln/>
        </p:spPr>
      </p:sp>
      <p:sp>
        <p:nvSpPr>
          <p:cNvPr id="48" name="Shape 45"/>
          <p:cNvSpPr/>
          <p:nvPr/>
        </p:nvSpPr>
        <p:spPr>
          <a:xfrm>
            <a:off x="485775" y="4697630"/>
            <a:ext cx="217170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9" name="Text 46"/>
          <p:cNvSpPr/>
          <p:nvPr/>
        </p:nvSpPr>
        <p:spPr>
          <a:xfrm>
            <a:off x="485775" y="4697630"/>
            <a:ext cx="2171700" cy="457200"/>
          </a:xfrm>
          <a:prstGeom prst="rect">
            <a:avLst/>
          </a:prstGeom>
          <a:noFill/>
          <a:ln/>
        </p:spPr>
        <p:txBody>
          <a:bodyPr wrap="square" lIns="178562" tIns="153035" rIns="136017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75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PRINCIPLE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2657475" y="4697630"/>
            <a:ext cx="6000750" cy="457200"/>
          </a:xfrm>
          <a:prstGeom prst="rect">
            <a:avLst/>
          </a:prstGeom>
          <a:noFill/>
          <a:ln/>
        </p:spPr>
        <p:txBody>
          <a:bodyPr wrap="square" lIns="212598" tIns="119126" rIns="204089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high-trust changes deliberate; make routine verification, observability, and maintenance repeatable.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1456265"/>
            <a:ext cx="494989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50" b="1" spc="2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ONBOARDING ASSURANCE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57213" y="1677721"/>
            <a:ext cx="4949893" cy="119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800"/>
              </a:lnSpc>
              <a:buNone/>
            </a:pPr>
            <a:r>
              <a:rPr lang="en-US" sz="2950" b="1" spc="-2" kern="0" dirty="0">
                <a:solidFill>
                  <a:srgbClr val="08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CONFIDENCE. GOVERNED AUTOMATION.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57213" y="3071031"/>
            <a:ext cx="4949893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system for reliable UI verification, secure session handling, measurable CI performance, and operationally safe automation.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7213" y="3997933"/>
            <a:ext cx="2763124" cy="192881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7" name="Text 4"/>
          <p:cNvSpPr/>
          <p:nvPr/>
        </p:nvSpPr>
        <p:spPr>
          <a:xfrm>
            <a:off x="557213" y="3997933"/>
            <a:ext cx="2763124" cy="192881"/>
          </a:xfrm>
          <a:prstGeom prst="rect">
            <a:avLst/>
          </a:prstGeom>
          <a:noFill/>
          <a:ln/>
        </p:spPr>
        <p:txBody>
          <a:bodyPr wrap="square" lIns="136017" tIns="110617" rIns="136017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DEPLOYMENT CHECKLIST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921443" y="3786188"/>
            <a:ext cx="1300497" cy="328613"/>
          </a:xfrm>
          <a:prstGeom prst="rect">
            <a:avLst/>
          </a:prstGeom>
          <a:solidFill>
            <a:srgbClr val="FFFFFF"/>
          </a:solidFill>
          <a:ln w="18288">
            <a:solidFill>
              <a:srgbClr val="0833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1443" y="3786188"/>
            <a:ext cx="1300497" cy="32861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" b="1" spc="1" kern="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→ INSIGHT → ACTION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2026-08-21T07:44:19Z</dcterms:created>
  <dcterms:modified xsi:type="dcterms:W3CDTF">2026-08-21T07:44:19Z</dcterms:modified>
</cp:coreProperties>
</file>