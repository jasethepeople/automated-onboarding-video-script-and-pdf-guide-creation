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dive into the complete SaaS Onboarding Operations suite. We'll explore how test automation transforms from isolated files into an operated, reliable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single trigger activates the entire operational control plane. We treat onboarding automation as an operating-system brief rather than a collection of scattered test scripts.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on that trigger, the architecture connects four distinct layers into a single cohesive system. Experience, verification, operations, and insight work together to prevent silent degradation.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writing any code, we must bound the user journey. Establishing clear success criteria, UI evidence, and test boundaries ensures robust automation from day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never an afterthought in this framework. We protect browser state, fail closed on session issues, and strictly prohibit any headless bypass of multi-factor authentication.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this brings us right to how we handle test sharding without breaking dependencies. The serial journey stays strictly ordered for core flows, while only isolated checks are sharded across runners. Every shard must pass the session health gate first, using unique timestamped data to avoid collisions. This gives us fast CI feedback while keeping our session health secure and our data completely isolated. Let us look at how those run facts turn into useful analytics.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 we turn raw test runs into actionable intelligence? Every shard exports only aggregate metadata, keeping secrets and browser state completely out of the loop. We merge those artifacts into a single JSON contract, feed our local dashboard, and track true historical performance. If metrics cross configurable baseline thresholds, we flag regressions without creating noisy false alarms. Now let us see how we keep this entire pipeline clean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Maintenance here is never left to chance or hidden background scripts. We rely on session health checks, non-destructive preflights, and allowlisted dry-run-first pruning to keep storage clean. If optional notifications fail, they never block the core workflow result. Every scheduled routine leaves a clear audit trail, ensuring our operational boundaries stay tight and predictable.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standardize everything down to a pair of primary commands. One command handles the high trust setup while the other provides continuous assurance. Building on our maintenance routine, this control surface keeps operator actions deliberate and repeatable. You configure environments and policies through a dry run script, and you validate code locally without touching live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from operational controls to contract verification, we ensure promised capabilities never vanish behind partial implementations. A 12 capability manifest maps every requirement to a concrete source path. The validator checks code coverage directly, separating offline validation from live access claims. Every promise must map directly to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this all up, our goal is to build the whole system and then prove it. This pattern turns onboarding automation into a reliable delivery engine with secure operations and measurable performance. Start with the feature contract and lock down your verification workflow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528638"/>
            <a:ext cx="4722019" cy="107156"/>
          </a:xfrm>
          <a:prstGeom prst="rect">
            <a:avLst/>
          </a:prstGeom>
          <a:noFill/>
          <a:ln/>
        </p:spPr>
        <p:txBody>
          <a:bodyPr wrap="none" lIns="0" tIns="0" rIns="0" bIns="0" rtlCol="0" anchor="t">
            <a:spAutoFit/>
          </a:bodyPr>
          <a:lstStyle/>
          <a:p>
            <a:pPr algn="l" indent="0" marL="0">
              <a:lnSpc>
                <a:spcPct val="80000"/>
              </a:lnSpc>
              <a:buNone/>
            </a:pPr>
            <a:r>
              <a:rPr lang="en-US" sz="750" b="1" spc="2" kern="0" dirty="0">
                <a:solidFill>
                  <a:srgbClr val="A3E635"/>
                </a:solidFill>
                <a:latin typeface="Arial" pitchFamily="34" charset="0"/>
                <a:ea typeface="Arial" pitchFamily="34" charset="-122"/>
                <a:cs typeface="Arial" pitchFamily="34" charset="-120"/>
              </a:rPr>
              <a:t>REUSABLE DELIVERY SKILL</a:t>
            </a:r>
            <a:endParaRPr lang="en-US" sz="750" dirty="0"/>
          </a:p>
        </p:txBody>
      </p:sp>
      <p:sp>
        <p:nvSpPr>
          <p:cNvPr id="5" name="Text 1"/>
          <p:cNvSpPr/>
          <p:nvPr/>
        </p:nvSpPr>
        <p:spPr>
          <a:xfrm>
            <a:off x="571500" y="792956"/>
            <a:ext cx="4722019" cy="832582"/>
          </a:xfrm>
          <a:prstGeom prst="rect">
            <a:avLst/>
          </a:prstGeom>
          <a:noFill/>
          <a:ln/>
        </p:spPr>
        <p:txBody>
          <a:bodyPr wrap="square" lIns="0" tIns="0" rIns="0" bIns="0" rtlCol="0" anchor="t">
            <a:spAutoFit/>
          </a:bodyPr>
          <a:lstStyle/>
          <a:p>
            <a:pPr algn="l" indent="0" marL="0">
              <a:lnSpc>
                <a:spcPct val="75200"/>
              </a:lnSpc>
              <a:buNone/>
            </a:pPr>
            <a:r>
              <a:rPr lang="en-US" sz="3200" b="1" spc="-2" kern="0" dirty="0">
                <a:solidFill>
                  <a:srgbClr val="F8FAFC"/>
                </a:solidFill>
                <a:latin typeface="Arial" pitchFamily="34" charset="0"/>
                <a:ea typeface="Arial" pitchFamily="34" charset="-122"/>
                <a:cs typeface="Arial" pitchFamily="34" charset="-120"/>
              </a:rPr>
              <a:t>SAAS ONBOARDING OPERATIONS</a:t>
            </a:r>
            <a:endParaRPr lang="en-US" sz="3200" dirty="0"/>
          </a:p>
        </p:txBody>
      </p:sp>
      <p:sp>
        <p:nvSpPr>
          <p:cNvPr id="6" name="Text 2"/>
          <p:cNvSpPr/>
          <p:nvPr/>
        </p:nvSpPr>
        <p:spPr>
          <a:xfrm>
            <a:off x="571500" y="3002328"/>
            <a:ext cx="4357688" cy="464344"/>
          </a:xfrm>
          <a:prstGeom prst="rect">
            <a:avLst/>
          </a:prstGeom>
          <a:noFill/>
          <a:ln/>
        </p:spPr>
        <p:txBody>
          <a:bodyPr wrap="square" lIns="0" tIns="0" rIns="0" bIns="0" rtlCol="0" anchor="t">
            <a:spAutoFit/>
          </a:bodyPr>
          <a:lstStyle/>
          <a:p>
            <a:pPr algn="l" indent="0" marL="0">
              <a:lnSpc>
                <a:spcPct val="100000"/>
              </a:lnSpc>
              <a:buNone/>
            </a:pPr>
            <a:r>
              <a:rPr lang="en-US" sz="1400" dirty="0">
                <a:solidFill>
                  <a:srgbClr val="CBD5E1"/>
                </a:solidFill>
                <a:latin typeface="Arial" pitchFamily="34" charset="0"/>
                <a:ea typeface="Arial" pitchFamily="34" charset="-122"/>
                <a:cs typeface="Arial" pitchFamily="34" charset="-120"/>
              </a:rPr>
              <a:t>A repeatable system for complete, secure, observable onboarding automation.</a:t>
            </a:r>
            <a:endParaRPr lang="en-US" sz="1400" dirty="0"/>
          </a:p>
        </p:txBody>
      </p:sp>
      <p:sp>
        <p:nvSpPr>
          <p:cNvPr id="7" name="Shape 3"/>
          <p:cNvSpPr/>
          <p:nvPr/>
        </p:nvSpPr>
        <p:spPr>
          <a:xfrm>
            <a:off x="571500" y="4904184"/>
            <a:ext cx="1127038" cy="178594"/>
          </a:xfrm>
          <a:prstGeom prst="rect">
            <a:avLst/>
          </a:prstGeom>
          <a:solidFill>
            <a:srgbClr val="A3E635"/>
          </a:solidFill>
          <a:ln/>
        </p:spPr>
      </p:sp>
      <p:sp>
        <p:nvSpPr>
          <p:cNvPr id="8" name="Text 4"/>
          <p:cNvSpPr/>
          <p:nvPr/>
        </p:nvSpPr>
        <p:spPr>
          <a:xfrm>
            <a:off x="571500" y="4904184"/>
            <a:ext cx="1127038" cy="178594"/>
          </a:xfrm>
          <a:prstGeom prst="rect">
            <a:avLst/>
          </a:prstGeom>
          <a:noFill/>
          <a:ln/>
        </p:spPr>
        <p:txBody>
          <a:bodyPr wrap="square" lIns="110617" tIns="102108" rIns="110617" bIns="0" rtlCol="0" anchor="t">
            <a:spAutoFit/>
          </a:bodyPr>
          <a:lstStyle/>
          <a:p>
            <a:pPr algn="l" indent="0" marL="0">
              <a:lnSpc>
                <a:spcPct val="80000"/>
              </a:lnSpc>
              <a:buNone/>
            </a:pPr>
            <a:r>
              <a:rPr lang="en-US" sz="650" b="1" spc="1" kern="0" dirty="0">
                <a:solidFill>
                  <a:srgbClr val="0B1020"/>
                </a:solidFill>
                <a:latin typeface="Arial" pitchFamily="34" charset="0"/>
                <a:ea typeface="Arial" pitchFamily="34" charset="-122"/>
                <a:cs typeface="Arial" pitchFamily="34" charset="-120"/>
              </a:rPr>
              <a:t>SKILL OVERVIEW</a:t>
            </a:r>
            <a:endParaRPr lang="en-US" sz="650" dirty="0"/>
          </a:p>
        </p:txBody>
      </p:sp>
      <p:sp>
        <p:nvSpPr>
          <p:cNvPr id="9" name="Text 5"/>
          <p:cNvSpPr/>
          <p:nvPr/>
        </p:nvSpPr>
        <p:spPr>
          <a:xfrm>
            <a:off x="1812838" y="4947047"/>
            <a:ext cx="2809280" cy="92869"/>
          </a:xfrm>
          <a:prstGeom prst="rect">
            <a:avLst/>
          </a:prstGeom>
          <a:noFill/>
          <a:ln/>
        </p:spPr>
        <p:txBody>
          <a:bodyPr wrap="none" lIns="0" tIns="0" rIns="0" bIns="0" rtlCol="0" anchor="t">
            <a:spAutoFit/>
          </a:bodyPr>
          <a:lstStyle/>
          <a:p>
            <a:pPr algn="l" indent="0" marL="0">
              <a:lnSpc>
                <a:spcPct val="80000"/>
              </a:lnSpc>
              <a:buNone/>
            </a:pPr>
            <a:r>
              <a:rPr lang="en-US" sz="650" b="1" spc="1" kern="0" dirty="0">
                <a:solidFill>
                  <a:srgbClr val="38BDF8"/>
                </a:solidFill>
                <a:latin typeface="Arial" pitchFamily="34" charset="0"/>
                <a:ea typeface="Arial" pitchFamily="34" charset="-122"/>
                <a:cs typeface="Arial" pitchFamily="34" charset="-120"/>
              </a:rPr>
              <a:t>JOURNEY · VERIFICATION · OPERATIONS · INSIGHT</a:t>
            </a:r>
            <a:endParaRPr lang="en-US" sz="650" dirty="0"/>
          </a:p>
        </p:txBody>
      </p:sp>
      <p:sp>
        <p:nvSpPr>
          <p:cNvPr id="10" name="Shape 6"/>
          <p:cNvSpPr/>
          <p:nvPr/>
        </p:nvSpPr>
        <p:spPr>
          <a:xfrm>
            <a:off x="6029325" y="485775"/>
            <a:ext cx="2700338" cy="1685925"/>
          </a:xfrm>
          <a:prstGeom prst="rect">
            <a:avLst/>
          </a:prstGeom>
          <a:solidFill>
            <a:srgbClr val="F8FAFC"/>
          </a:solidFill>
          <a:ln w="18288">
            <a:solidFill>
              <a:srgbClr val="38BDF8"/>
            </a:solidFill>
            <a:prstDash val="solid"/>
          </a:ln>
        </p:spPr>
      </p:sp>
      <p:pic>
        <p:nvPicPr>
          <p:cNvPr id="11" name="Image 1" descr="preencoded.png">    </p:cNvPr>
          <p:cNvPicPr>
            <a:picLocks noChangeAspect="1"/>
          </p:cNvPicPr>
          <p:nvPr/>
        </p:nvPicPr>
        <p:blipFill>
          <a:blip r:embed="rId2"/>
          <a:stretch>
            <a:fillRect/>
          </a:stretch>
        </p:blipFill>
        <p:spPr>
          <a:xfrm>
            <a:off x="6779419" y="728663"/>
            <a:ext cx="1200150" cy="1200150"/>
          </a:xfrm>
          <a:prstGeom prst="rect">
            <a:avLst/>
          </a:prstGeom>
        </p:spPr>
      </p:pic>
      <p:sp>
        <p:nvSpPr>
          <p:cNvPr id="12" name="Text 7"/>
          <p:cNvSpPr/>
          <p:nvPr/>
        </p:nvSpPr>
        <p:spPr>
          <a:xfrm>
            <a:off x="6029325" y="5041367"/>
            <a:ext cx="2700338" cy="102133"/>
          </a:xfrm>
          <a:prstGeom prst="rect">
            <a:avLst/>
          </a:prstGeom>
          <a:noFill/>
          <a:ln/>
        </p:spPr>
        <p:txBody>
          <a:bodyPr wrap="none" lIns="0" tIns="0" rIns="0" bIns="0" rtlCol="0" anchor="t">
            <a:spAutoFit/>
          </a:bodyPr>
          <a:lstStyle/>
          <a:p>
            <a:pPr algn="l" indent="0" marL="0">
              <a:lnSpc>
                <a:spcPct val="88000"/>
              </a:lnSpc>
              <a:buNone/>
            </a:pPr>
            <a:r>
              <a:rPr lang="en-US" sz="650" b="1" spc="1" kern="0" dirty="0">
                <a:solidFill>
                  <a:srgbClr val="CBD5E1"/>
                </a:solidFill>
                <a:latin typeface="Arial" pitchFamily="34" charset="0"/>
                <a:ea typeface="Arial" pitchFamily="34" charset="-122"/>
                <a:cs typeface="Arial" pitchFamily="34" charset="-120"/>
              </a:rPr>
              <a:t>BUILD THE WHOLE SYSTEM, THEN PROVE IT</a:t>
            </a:r>
            <a:endParaRPr lang="en-US" sz="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85775" y="357188"/>
            <a:ext cx="8172450" cy="100013"/>
          </a:xfrm>
          <a:prstGeom prst="rect">
            <a:avLst/>
          </a:prstGeom>
          <a:noFill/>
          <a:ln/>
        </p:spPr>
        <p:txBody>
          <a:bodyPr wrap="none" lIns="0" tIns="0" rIns="0" bIns="0" rtlCol="0" anchor="t">
            <a:spAutoFit/>
          </a:bodyPr>
          <a:lstStyle/>
          <a:p>
            <a:pPr algn="l" indent="0" marL="0">
              <a:lnSpc>
                <a:spcPct val="80000"/>
              </a:lnSpc>
              <a:buNone/>
            </a:pPr>
            <a:r>
              <a:rPr lang="en-US" sz="700" b="1" spc="2" kern="0" dirty="0">
                <a:solidFill>
                  <a:srgbClr val="A3E635"/>
                </a:solidFill>
                <a:latin typeface="Arial" pitchFamily="34" charset="0"/>
                <a:ea typeface="Arial" pitchFamily="34" charset="-122"/>
                <a:cs typeface="Arial" pitchFamily="34" charset="-120"/>
              </a:rPr>
              <a:t>SKILL TRIGGER</a:t>
            </a:r>
            <a:endParaRPr lang="en-US" sz="700" dirty="0"/>
          </a:p>
        </p:txBody>
      </p:sp>
      <p:sp>
        <p:nvSpPr>
          <p:cNvPr id="5" name="Text 1"/>
          <p:cNvSpPr/>
          <p:nvPr/>
        </p:nvSpPr>
        <p:spPr>
          <a:xfrm>
            <a:off x="485775" y="528638"/>
            <a:ext cx="8172450" cy="300038"/>
          </a:xfrm>
          <a:prstGeom prst="rect">
            <a:avLst/>
          </a:prstGeom>
          <a:noFill/>
          <a:ln/>
        </p:spPr>
        <p:txBody>
          <a:bodyPr wrap="none" lIns="0" tIns="0" rIns="0" bIns="0" rtlCol="0" anchor="t">
            <a:spAutoFit/>
          </a:bodyPr>
          <a:lstStyle/>
          <a:p>
            <a:pPr algn="l" indent="0" marL="0">
              <a:lnSpc>
                <a:spcPct val="80000"/>
              </a:lnSpc>
              <a:buNone/>
            </a:pPr>
            <a:r>
              <a:rPr lang="en-US" sz="2100" b="1" spc="-1" kern="0" dirty="0">
                <a:solidFill>
                  <a:srgbClr val="F8FAFC"/>
                </a:solidFill>
                <a:latin typeface="Arial" pitchFamily="34" charset="0"/>
                <a:ea typeface="Arial" pitchFamily="34" charset="-122"/>
                <a:cs typeface="Arial" pitchFamily="34" charset="-120"/>
              </a:rPr>
              <a:t>ONE TRIGGER UNLOCKS THE FULL SYSTEM</a:t>
            </a:r>
            <a:endParaRPr lang="en-US" sz="2100" dirty="0"/>
          </a:p>
        </p:txBody>
      </p:sp>
      <p:sp>
        <p:nvSpPr>
          <p:cNvPr id="6" name="Text 2"/>
          <p:cNvSpPr/>
          <p:nvPr/>
        </p:nvSpPr>
        <p:spPr>
          <a:xfrm>
            <a:off x="485775" y="914400"/>
            <a:ext cx="6572250" cy="371475"/>
          </a:xfrm>
          <a:prstGeom prst="rect">
            <a:avLst/>
          </a:prstGeom>
          <a:noFill/>
          <a:ln/>
        </p:spPr>
        <p:txBody>
          <a:bodyPr wrap="square" lIns="0" tIns="0" rIns="0" bIns="0" rtlCol="0" anchor="t">
            <a:spAutoFit/>
          </a:bodyPr>
          <a:lstStyle/>
          <a:p>
            <a:pPr algn="l" indent="0" marL="0">
              <a:lnSpc>
                <a:spcPct val="104000"/>
              </a:lnSpc>
              <a:buNone/>
            </a:pPr>
            <a:r>
              <a:rPr lang="en-US" sz="1050" dirty="0">
                <a:solidFill>
                  <a:srgbClr val="CBD5E1"/>
                </a:solidFill>
                <a:latin typeface="Arial" pitchFamily="34" charset="0"/>
                <a:ea typeface="Arial" pitchFamily="34" charset="-122"/>
                <a:cs typeface="Arial" pitchFamily="34" charset="-120"/>
              </a:rPr>
              <a:t>Activate the skill when the user needs an onboarding journey to be analyzed, automated, tested, operated, measured, or explained.</a:t>
            </a:r>
            <a:endParaRPr lang="en-US" sz="1050" dirty="0"/>
          </a:p>
        </p:txBody>
      </p:sp>
      <p:sp>
        <p:nvSpPr>
          <p:cNvPr id="7" name="Shape 3"/>
          <p:cNvSpPr/>
          <p:nvPr/>
        </p:nvSpPr>
        <p:spPr>
          <a:xfrm>
            <a:off x="485775" y="1528763"/>
            <a:ext cx="8172450" cy="842963"/>
          </a:xfrm>
          <a:prstGeom prst="rect">
            <a:avLst/>
          </a:prstGeom>
          <a:solidFill>
            <a:srgbClr val="38BDF8"/>
          </a:solidFill>
          <a:ln/>
        </p:spPr>
      </p:sp>
      <p:sp>
        <p:nvSpPr>
          <p:cNvPr id="8" name="Shape 4"/>
          <p:cNvSpPr/>
          <p:nvPr/>
        </p:nvSpPr>
        <p:spPr>
          <a:xfrm>
            <a:off x="485775" y="1528763"/>
            <a:ext cx="2143125" cy="842963"/>
          </a:xfrm>
          <a:prstGeom prst="rect">
            <a:avLst/>
          </a:prstGeom>
          <a:solidFill>
            <a:srgbClr val="A3E635"/>
          </a:solidFill>
          <a:ln/>
        </p:spPr>
      </p:sp>
      <p:sp>
        <p:nvSpPr>
          <p:cNvPr id="9" name="Text 5"/>
          <p:cNvSpPr/>
          <p:nvPr/>
        </p:nvSpPr>
        <p:spPr>
          <a:xfrm>
            <a:off x="485775" y="1528763"/>
            <a:ext cx="2143125" cy="842963"/>
          </a:xfrm>
          <a:prstGeom prst="rect">
            <a:avLst/>
          </a:prstGeom>
          <a:noFill/>
          <a:ln/>
        </p:spPr>
        <p:txBody>
          <a:bodyPr wrap="square" lIns="195580" tIns="297688" rIns="153035" bIns="0" rtlCol="0" anchor="t">
            <a:spAutoFit/>
          </a:bodyPr>
          <a:lstStyle/>
          <a:p>
            <a:pPr algn="l" indent="0" marL="0">
              <a:lnSpc>
                <a:spcPct val="92000"/>
              </a:lnSpc>
              <a:buNone/>
            </a:pPr>
            <a:r>
              <a:rPr lang="en-US" sz="850" b="1" spc="1" kern="0" dirty="0">
                <a:solidFill>
                  <a:srgbClr val="0B1020"/>
                </a:solidFill>
                <a:latin typeface="Arial" pitchFamily="34" charset="0"/>
                <a:ea typeface="Arial" pitchFamily="34" charset="-122"/>
                <a:cs typeface="Arial" pitchFamily="34" charset="-120"/>
              </a:rPr>
              <a:t>INTERPRET THE REQUEST</a:t>
            </a:r>
            <a:endParaRPr lang="en-US" sz="850" dirty="0"/>
          </a:p>
        </p:txBody>
      </p:sp>
      <p:sp>
        <p:nvSpPr>
          <p:cNvPr id="10" name="Text 6"/>
          <p:cNvSpPr/>
          <p:nvPr/>
        </p:nvSpPr>
        <p:spPr>
          <a:xfrm>
            <a:off x="2628900" y="1528763"/>
            <a:ext cx="6029325" cy="842963"/>
          </a:xfrm>
          <a:prstGeom prst="rect">
            <a:avLst/>
          </a:prstGeom>
          <a:noFill/>
          <a:ln/>
        </p:spPr>
        <p:txBody>
          <a:bodyPr wrap="square" lIns="229616" tIns="238125" rIns="238125" bIns="0" rtlCol="0" anchor="t">
            <a:spAutoFit/>
          </a:bodyPr>
          <a:lstStyle/>
          <a:p>
            <a:pPr algn="l" indent="0" marL="0">
              <a:lnSpc>
                <a:spcPct val="99200"/>
              </a:lnSpc>
              <a:buNone/>
            </a:pPr>
            <a:r>
              <a:rPr lang="en-US" sz="1300" dirty="0">
                <a:solidFill>
                  <a:srgbClr val="0B1020"/>
                </a:solidFill>
                <a:latin typeface="Arial" pitchFamily="34" charset="0"/>
                <a:ea typeface="Arial" pitchFamily="34" charset="-122"/>
                <a:cs typeface="Arial" pitchFamily="34" charset="-120"/>
              </a:rPr>
              <a:t>Treat “onboarding automation” as an operating-system brief—not a request for one isolated test file.</a:t>
            </a:r>
            <a:endParaRPr lang="en-US" sz="1300" dirty="0"/>
          </a:p>
        </p:txBody>
      </p:sp>
      <p:sp>
        <p:nvSpPr>
          <p:cNvPr id="11" name="Shape 7"/>
          <p:cNvSpPr/>
          <p:nvPr/>
        </p:nvSpPr>
        <p:spPr>
          <a:xfrm>
            <a:off x="485775" y="2500313"/>
            <a:ext cx="2676506" cy="900113"/>
          </a:xfrm>
          <a:prstGeom prst="rect">
            <a:avLst/>
          </a:prstGeom>
          <a:solidFill>
            <a:srgbClr val="F8FAFC"/>
          </a:solidFill>
          <a:ln/>
        </p:spPr>
      </p:sp>
      <p:sp>
        <p:nvSpPr>
          <p:cNvPr id="12" name="Shape 8"/>
          <p:cNvSpPr/>
          <p:nvPr/>
        </p:nvSpPr>
        <p:spPr>
          <a:xfrm>
            <a:off x="485775" y="2500313"/>
            <a:ext cx="2676506" cy="42863"/>
          </a:xfrm>
          <a:prstGeom prst="rect">
            <a:avLst/>
          </a:prstGeom>
          <a:solidFill>
            <a:srgbClr val="38BDF8"/>
          </a:solidFill>
          <a:ln/>
        </p:spPr>
      </p:sp>
      <p:sp>
        <p:nvSpPr>
          <p:cNvPr id="13" name="Text 9"/>
          <p:cNvSpPr/>
          <p:nvPr/>
        </p:nvSpPr>
        <p:spPr>
          <a:xfrm>
            <a:off x="621506" y="2636044"/>
            <a:ext cx="2412188" cy="135006"/>
          </a:xfrm>
          <a:prstGeom prst="rect">
            <a:avLst/>
          </a:prstGeom>
          <a:noFill/>
          <a:ln/>
        </p:spPr>
        <p:txBody>
          <a:bodyPr wrap="none" lIns="0" tIns="0" rIns="0" bIns="0" rtlCol="0" anchor="t">
            <a:spAutoFit/>
          </a:bodyPr>
          <a:lstStyle/>
          <a:p>
            <a:pPr algn="l" indent="0" marL="0">
              <a:lnSpc>
                <a:spcPct val="84000"/>
              </a:lnSpc>
              <a:buNone/>
            </a:pPr>
            <a:r>
              <a:rPr lang="en-US" sz="900" b="1" dirty="0">
                <a:solidFill>
                  <a:srgbClr val="0B1020"/>
                </a:solidFill>
                <a:latin typeface="Arial" pitchFamily="34" charset="0"/>
                <a:ea typeface="Arial" pitchFamily="34" charset="-122"/>
                <a:cs typeface="Arial" pitchFamily="34" charset="-120"/>
              </a:rPr>
              <a:t>ANALYZE</a:t>
            </a:r>
            <a:endParaRPr lang="en-US" sz="900" dirty="0"/>
          </a:p>
        </p:txBody>
      </p:sp>
      <p:sp>
        <p:nvSpPr>
          <p:cNvPr id="14" name="Text 10"/>
          <p:cNvSpPr/>
          <p:nvPr/>
        </p:nvSpPr>
        <p:spPr>
          <a:xfrm>
            <a:off x="621506" y="2849631"/>
            <a:ext cx="2412188" cy="133945"/>
          </a:xfrm>
          <a:prstGeom prst="rect">
            <a:avLst/>
          </a:prstGeom>
          <a:noFill/>
          <a:ln/>
        </p:spPr>
        <p:txBody>
          <a:bodyPr wrap="none" lIns="0" tIns="0" rIns="0" bIns="0" rtlCol="0" anchor="t">
            <a:spAutoFit/>
          </a:bodyPr>
          <a:lstStyle/>
          <a:p>
            <a:pPr algn="l" indent="0" marL="0">
              <a:lnSpc>
                <a:spcPct val="100000"/>
              </a:lnSpc>
              <a:buNone/>
            </a:pPr>
            <a:r>
              <a:rPr lang="en-US" sz="800" dirty="0">
                <a:solidFill>
                  <a:srgbClr val="334155"/>
                </a:solidFill>
                <a:latin typeface="Arial" pitchFamily="34" charset="0"/>
                <a:ea typeface="Arial" pitchFamily="34" charset="-122"/>
                <a:cs typeface="Arial" pitchFamily="34" charset="-120"/>
              </a:rPr>
              <a:t>Map activation outcome, UI evidence,</a:t>
            </a:r>
            <a:endParaRPr lang="en-US" sz="800" dirty="0"/>
          </a:p>
        </p:txBody>
      </p:sp>
      <p:sp>
        <p:nvSpPr>
          <p:cNvPr id="15" name="Text 11"/>
          <p:cNvSpPr/>
          <p:nvPr/>
        </p:nvSpPr>
        <p:spPr>
          <a:xfrm>
            <a:off x="621506" y="3062157"/>
            <a:ext cx="2412188" cy="133945"/>
          </a:xfrm>
          <a:prstGeom prst="rect">
            <a:avLst/>
          </a:prstGeom>
          <a:noFill/>
          <a:ln/>
        </p:spPr>
        <p:txBody>
          <a:bodyPr wrap="none" lIns="0" tIns="0" rIns="0" bIns="0" rtlCol="0" anchor="t">
            <a:spAutoFit/>
          </a:bodyPr>
          <a:lstStyle/>
          <a:p>
            <a:pPr algn="l" indent="0" marL="0">
              <a:lnSpc>
                <a:spcPct val="100000"/>
              </a:lnSpc>
              <a:buNone/>
            </a:pPr>
            <a:r>
              <a:rPr lang="en-US" sz="800" dirty="0">
                <a:solidFill>
                  <a:srgbClr val="334155"/>
                </a:solidFill>
                <a:latin typeface="Arial" pitchFamily="34" charset="0"/>
                <a:ea typeface="Arial" pitchFamily="34" charset="-122"/>
                <a:cs typeface="Arial" pitchFamily="34" charset="-120"/>
              </a:rPr>
              <a:t>preconditions, and safe stopping points.</a:t>
            </a:r>
            <a:endParaRPr lang="en-US" sz="800" dirty="0"/>
          </a:p>
        </p:txBody>
      </p:sp>
      <p:sp>
        <p:nvSpPr>
          <p:cNvPr id="16" name="Shape 12"/>
          <p:cNvSpPr/>
          <p:nvPr/>
        </p:nvSpPr>
        <p:spPr>
          <a:xfrm>
            <a:off x="3233719" y="2500313"/>
            <a:ext cx="2676506" cy="900113"/>
          </a:xfrm>
          <a:prstGeom prst="rect">
            <a:avLst/>
          </a:prstGeom>
          <a:solidFill>
            <a:srgbClr val="F8FAFC"/>
          </a:solidFill>
          <a:ln/>
        </p:spPr>
      </p:sp>
      <p:sp>
        <p:nvSpPr>
          <p:cNvPr id="17" name="Shape 13"/>
          <p:cNvSpPr/>
          <p:nvPr/>
        </p:nvSpPr>
        <p:spPr>
          <a:xfrm>
            <a:off x="3233719" y="2500313"/>
            <a:ext cx="2676506" cy="42863"/>
          </a:xfrm>
          <a:prstGeom prst="rect">
            <a:avLst/>
          </a:prstGeom>
          <a:solidFill>
            <a:srgbClr val="A3E635"/>
          </a:solidFill>
          <a:ln/>
        </p:spPr>
      </p:sp>
      <p:sp>
        <p:nvSpPr>
          <p:cNvPr id="18" name="Text 14"/>
          <p:cNvSpPr/>
          <p:nvPr/>
        </p:nvSpPr>
        <p:spPr>
          <a:xfrm>
            <a:off x="3369450" y="2636044"/>
            <a:ext cx="2412188" cy="135006"/>
          </a:xfrm>
          <a:prstGeom prst="rect">
            <a:avLst/>
          </a:prstGeom>
          <a:noFill/>
          <a:ln/>
        </p:spPr>
        <p:txBody>
          <a:bodyPr wrap="none" lIns="0" tIns="0" rIns="0" bIns="0" rtlCol="0" anchor="t">
            <a:spAutoFit/>
          </a:bodyPr>
          <a:lstStyle/>
          <a:p>
            <a:pPr algn="l" indent="0" marL="0">
              <a:lnSpc>
                <a:spcPct val="84000"/>
              </a:lnSpc>
              <a:buNone/>
            </a:pPr>
            <a:r>
              <a:rPr lang="en-US" sz="900" b="1" dirty="0">
                <a:solidFill>
                  <a:srgbClr val="0B1020"/>
                </a:solidFill>
                <a:latin typeface="Arial" pitchFamily="34" charset="0"/>
                <a:ea typeface="Arial" pitchFamily="34" charset="-122"/>
                <a:cs typeface="Arial" pitchFamily="34" charset="-120"/>
              </a:rPr>
              <a:t>DOCUMENT</a:t>
            </a:r>
            <a:endParaRPr lang="en-US" sz="900" dirty="0"/>
          </a:p>
        </p:txBody>
      </p:sp>
      <p:sp>
        <p:nvSpPr>
          <p:cNvPr id="19" name="Text 15"/>
          <p:cNvSpPr/>
          <p:nvPr/>
        </p:nvSpPr>
        <p:spPr>
          <a:xfrm>
            <a:off x="3369450" y="2849631"/>
            <a:ext cx="2412188" cy="133945"/>
          </a:xfrm>
          <a:prstGeom prst="rect">
            <a:avLst/>
          </a:prstGeom>
          <a:noFill/>
          <a:ln/>
        </p:spPr>
        <p:txBody>
          <a:bodyPr wrap="none" lIns="0" tIns="0" rIns="0" bIns="0" rtlCol="0" anchor="t">
            <a:spAutoFit/>
          </a:bodyPr>
          <a:lstStyle/>
          <a:p>
            <a:pPr algn="l" indent="0" marL="0">
              <a:lnSpc>
                <a:spcPct val="100000"/>
              </a:lnSpc>
              <a:buNone/>
            </a:pPr>
            <a:r>
              <a:rPr lang="en-US" sz="800" dirty="0">
                <a:solidFill>
                  <a:srgbClr val="334155"/>
                </a:solidFill>
                <a:latin typeface="Arial" pitchFamily="34" charset="0"/>
                <a:ea typeface="Arial" pitchFamily="34" charset="-122"/>
                <a:cs typeface="Arial" pitchFamily="34" charset="-120"/>
              </a:rPr>
              <a:t>Create a narrated script and annotated</a:t>
            </a:r>
            <a:endParaRPr lang="en-US" sz="800" dirty="0"/>
          </a:p>
        </p:txBody>
      </p:sp>
      <p:sp>
        <p:nvSpPr>
          <p:cNvPr id="20" name="Text 16"/>
          <p:cNvSpPr/>
          <p:nvPr/>
        </p:nvSpPr>
        <p:spPr>
          <a:xfrm>
            <a:off x="3369450" y="3062157"/>
            <a:ext cx="2412188" cy="133945"/>
          </a:xfrm>
          <a:prstGeom prst="rect">
            <a:avLst/>
          </a:prstGeom>
          <a:noFill/>
          <a:ln/>
        </p:spPr>
        <p:txBody>
          <a:bodyPr wrap="none" lIns="0" tIns="0" rIns="0" bIns="0" rtlCol="0" anchor="t">
            <a:spAutoFit/>
          </a:bodyPr>
          <a:lstStyle/>
          <a:p>
            <a:pPr algn="l" indent="0" marL="0">
              <a:lnSpc>
                <a:spcPct val="100000"/>
              </a:lnSpc>
              <a:buNone/>
            </a:pPr>
            <a:r>
              <a:rPr lang="en-US" sz="800" dirty="0">
                <a:solidFill>
                  <a:srgbClr val="334155"/>
                </a:solidFill>
                <a:latin typeface="Arial" pitchFamily="34" charset="0"/>
                <a:ea typeface="Arial" pitchFamily="34" charset="-122"/>
                <a:cs typeface="Arial" pitchFamily="34" charset="-120"/>
              </a:rPr>
              <a:t>screenshot/PDF guide.</a:t>
            </a:r>
            <a:endParaRPr lang="en-US" sz="800" dirty="0"/>
          </a:p>
        </p:txBody>
      </p:sp>
      <p:sp>
        <p:nvSpPr>
          <p:cNvPr id="21" name="Shape 17"/>
          <p:cNvSpPr/>
          <p:nvPr/>
        </p:nvSpPr>
        <p:spPr>
          <a:xfrm>
            <a:off x="5981663" y="2500313"/>
            <a:ext cx="2676506" cy="900113"/>
          </a:xfrm>
          <a:prstGeom prst="rect">
            <a:avLst/>
          </a:prstGeom>
          <a:solidFill>
            <a:srgbClr val="F8FAFC"/>
          </a:solidFill>
          <a:ln/>
        </p:spPr>
      </p:sp>
      <p:sp>
        <p:nvSpPr>
          <p:cNvPr id="22" name="Shape 18"/>
          <p:cNvSpPr/>
          <p:nvPr/>
        </p:nvSpPr>
        <p:spPr>
          <a:xfrm>
            <a:off x="5981663" y="2500313"/>
            <a:ext cx="2676506" cy="42863"/>
          </a:xfrm>
          <a:prstGeom prst="rect">
            <a:avLst/>
          </a:prstGeom>
          <a:solidFill>
            <a:srgbClr val="38BDF8"/>
          </a:solidFill>
          <a:ln/>
        </p:spPr>
      </p:sp>
      <p:sp>
        <p:nvSpPr>
          <p:cNvPr id="23" name="Text 19"/>
          <p:cNvSpPr/>
          <p:nvPr/>
        </p:nvSpPr>
        <p:spPr>
          <a:xfrm>
            <a:off x="6117394" y="2636044"/>
            <a:ext cx="2412188" cy="135006"/>
          </a:xfrm>
          <a:prstGeom prst="rect">
            <a:avLst/>
          </a:prstGeom>
          <a:noFill/>
          <a:ln/>
        </p:spPr>
        <p:txBody>
          <a:bodyPr wrap="none" lIns="0" tIns="0" rIns="0" bIns="0" rtlCol="0" anchor="t">
            <a:spAutoFit/>
          </a:bodyPr>
          <a:lstStyle/>
          <a:p>
            <a:pPr algn="l" indent="0" marL="0">
              <a:lnSpc>
                <a:spcPct val="84000"/>
              </a:lnSpc>
              <a:buNone/>
            </a:pPr>
            <a:r>
              <a:rPr lang="en-US" sz="900" b="1" dirty="0">
                <a:solidFill>
                  <a:srgbClr val="0B1020"/>
                </a:solidFill>
                <a:latin typeface="Arial" pitchFamily="34" charset="0"/>
                <a:ea typeface="Arial" pitchFamily="34" charset="-122"/>
                <a:cs typeface="Arial" pitchFamily="34" charset="-120"/>
              </a:rPr>
              <a:t>VERIFY</a:t>
            </a:r>
            <a:endParaRPr lang="en-US" sz="900" dirty="0"/>
          </a:p>
        </p:txBody>
      </p:sp>
      <p:sp>
        <p:nvSpPr>
          <p:cNvPr id="24" name="Text 20"/>
          <p:cNvSpPr/>
          <p:nvPr/>
        </p:nvSpPr>
        <p:spPr>
          <a:xfrm>
            <a:off x="6117394" y="2849631"/>
            <a:ext cx="2412188" cy="133945"/>
          </a:xfrm>
          <a:prstGeom prst="rect">
            <a:avLst/>
          </a:prstGeom>
          <a:noFill/>
          <a:ln/>
        </p:spPr>
        <p:txBody>
          <a:bodyPr wrap="none" lIns="0" tIns="0" rIns="0" bIns="0" rtlCol="0" anchor="t">
            <a:spAutoFit/>
          </a:bodyPr>
          <a:lstStyle/>
          <a:p>
            <a:pPr algn="l" indent="0" marL="0">
              <a:lnSpc>
                <a:spcPct val="100000"/>
              </a:lnSpc>
              <a:buNone/>
            </a:pPr>
            <a:r>
              <a:rPr lang="en-US" sz="800" dirty="0">
                <a:solidFill>
                  <a:srgbClr val="334155"/>
                </a:solidFill>
                <a:latin typeface="Arial" pitchFamily="34" charset="0"/>
                <a:ea typeface="Arial" pitchFamily="34" charset="-122"/>
                <a:cs typeface="Arial" pitchFamily="34" charset="-120"/>
              </a:rPr>
              <a:t>Build serial and independently shardable</a:t>
            </a:r>
            <a:endParaRPr lang="en-US" sz="800" dirty="0"/>
          </a:p>
        </p:txBody>
      </p:sp>
      <p:sp>
        <p:nvSpPr>
          <p:cNvPr id="25" name="Text 21"/>
          <p:cNvSpPr/>
          <p:nvPr/>
        </p:nvSpPr>
        <p:spPr>
          <a:xfrm>
            <a:off x="6117394" y="3062157"/>
            <a:ext cx="2412188" cy="133945"/>
          </a:xfrm>
          <a:prstGeom prst="rect">
            <a:avLst/>
          </a:prstGeom>
          <a:noFill/>
          <a:ln/>
        </p:spPr>
        <p:txBody>
          <a:bodyPr wrap="none" lIns="0" tIns="0" rIns="0" bIns="0" rtlCol="0" anchor="t">
            <a:spAutoFit/>
          </a:bodyPr>
          <a:lstStyle/>
          <a:p>
            <a:pPr algn="l" indent="0" marL="0">
              <a:lnSpc>
                <a:spcPct val="100000"/>
              </a:lnSpc>
              <a:buNone/>
            </a:pPr>
            <a:r>
              <a:rPr lang="en-US" sz="800" dirty="0">
                <a:solidFill>
                  <a:srgbClr val="334155"/>
                </a:solidFill>
                <a:latin typeface="Arial" pitchFamily="34" charset="0"/>
                <a:ea typeface="Arial" pitchFamily="34" charset="-122"/>
                <a:cs typeface="Arial" pitchFamily="34" charset="-120"/>
              </a:rPr>
              <a:t>Playwright coverage.</a:t>
            </a:r>
            <a:endParaRPr lang="en-US" sz="800" dirty="0"/>
          </a:p>
        </p:txBody>
      </p:sp>
      <p:sp>
        <p:nvSpPr>
          <p:cNvPr id="26" name="Shape 22"/>
          <p:cNvSpPr/>
          <p:nvPr/>
        </p:nvSpPr>
        <p:spPr>
          <a:xfrm>
            <a:off x="485775" y="3471863"/>
            <a:ext cx="2676506" cy="900113"/>
          </a:xfrm>
          <a:prstGeom prst="rect">
            <a:avLst/>
          </a:prstGeom>
          <a:solidFill>
            <a:srgbClr val="F8FAFC"/>
          </a:solidFill>
          <a:ln/>
        </p:spPr>
      </p:sp>
      <p:sp>
        <p:nvSpPr>
          <p:cNvPr id="27" name="Shape 23"/>
          <p:cNvSpPr/>
          <p:nvPr/>
        </p:nvSpPr>
        <p:spPr>
          <a:xfrm>
            <a:off x="485775" y="3471863"/>
            <a:ext cx="2676506" cy="42863"/>
          </a:xfrm>
          <a:prstGeom prst="rect">
            <a:avLst/>
          </a:prstGeom>
          <a:solidFill>
            <a:srgbClr val="38BDF8"/>
          </a:solidFill>
          <a:ln/>
        </p:spPr>
      </p:sp>
      <p:sp>
        <p:nvSpPr>
          <p:cNvPr id="28" name="Text 24"/>
          <p:cNvSpPr/>
          <p:nvPr/>
        </p:nvSpPr>
        <p:spPr>
          <a:xfrm>
            <a:off x="621506" y="3607594"/>
            <a:ext cx="2412188" cy="135006"/>
          </a:xfrm>
          <a:prstGeom prst="rect">
            <a:avLst/>
          </a:prstGeom>
          <a:noFill/>
          <a:ln/>
        </p:spPr>
        <p:txBody>
          <a:bodyPr wrap="none" lIns="0" tIns="0" rIns="0" bIns="0" rtlCol="0" anchor="t">
            <a:spAutoFit/>
          </a:bodyPr>
          <a:lstStyle/>
          <a:p>
            <a:pPr algn="l" indent="0" marL="0">
              <a:lnSpc>
                <a:spcPct val="84000"/>
              </a:lnSpc>
              <a:buNone/>
            </a:pPr>
            <a:r>
              <a:rPr lang="en-US" sz="900" b="1" dirty="0">
                <a:solidFill>
                  <a:srgbClr val="0B1020"/>
                </a:solidFill>
                <a:latin typeface="Arial" pitchFamily="34" charset="0"/>
                <a:ea typeface="Arial" pitchFamily="34" charset="-122"/>
                <a:cs typeface="Arial" pitchFamily="34" charset="-120"/>
              </a:rPr>
              <a:t>OPERATE</a:t>
            </a:r>
            <a:endParaRPr lang="en-US" sz="900" dirty="0"/>
          </a:p>
        </p:txBody>
      </p:sp>
      <p:sp>
        <p:nvSpPr>
          <p:cNvPr id="29" name="Text 25"/>
          <p:cNvSpPr/>
          <p:nvPr/>
        </p:nvSpPr>
        <p:spPr>
          <a:xfrm>
            <a:off x="621506" y="3821181"/>
            <a:ext cx="2412188" cy="133945"/>
          </a:xfrm>
          <a:prstGeom prst="rect">
            <a:avLst/>
          </a:prstGeom>
          <a:noFill/>
          <a:ln/>
        </p:spPr>
        <p:txBody>
          <a:bodyPr wrap="none" lIns="0" tIns="0" rIns="0" bIns="0" rtlCol="0" anchor="t">
            <a:spAutoFit/>
          </a:bodyPr>
          <a:lstStyle/>
          <a:p>
            <a:pPr algn="l" indent="0" marL="0">
              <a:lnSpc>
                <a:spcPct val="100000"/>
              </a:lnSpc>
              <a:buNone/>
            </a:pPr>
            <a:r>
              <a:rPr lang="en-US" sz="800" dirty="0">
                <a:solidFill>
                  <a:srgbClr val="334155"/>
                </a:solidFill>
                <a:latin typeface="Arial" pitchFamily="34" charset="0"/>
                <a:ea typeface="Arial" pitchFamily="34" charset="-122"/>
                <a:cs typeface="Arial" pitchFamily="34" charset="-120"/>
              </a:rPr>
              <a:t>Add session health, recovery boundaries, preflight,</a:t>
            </a:r>
            <a:endParaRPr lang="en-US" sz="800" dirty="0"/>
          </a:p>
        </p:txBody>
      </p:sp>
      <p:sp>
        <p:nvSpPr>
          <p:cNvPr id="30" name="Text 26"/>
          <p:cNvSpPr/>
          <p:nvPr/>
        </p:nvSpPr>
        <p:spPr>
          <a:xfrm>
            <a:off x="621506" y="4033707"/>
            <a:ext cx="2412188" cy="133945"/>
          </a:xfrm>
          <a:prstGeom prst="rect">
            <a:avLst/>
          </a:prstGeom>
          <a:noFill/>
          <a:ln/>
        </p:spPr>
        <p:txBody>
          <a:bodyPr wrap="none" lIns="0" tIns="0" rIns="0" bIns="0" rtlCol="0" anchor="t">
            <a:spAutoFit/>
          </a:bodyPr>
          <a:lstStyle/>
          <a:p>
            <a:pPr algn="l" indent="0" marL="0">
              <a:lnSpc>
                <a:spcPct val="100000"/>
              </a:lnSpc>
              <a:buNone/>
            </a:pPr>
            <a:r>
              <a:rPr lang="en-US" sz="800" dirty="0">
                <a:solidFill>
                  <a:srgbClr val="334155"/>
                </a:solidFill>
                <a:latin typeface="Arial" pitchFamily="34" charset="0"/>
                <a:ea typeface="Arial" pitchFamily="34" charset="-122"/>
                <a:cs typeface="Arial" pitchFamily="34" charset="-120"/>
              </a:rPr>
              <a:t>and retention controls.</a:t>
            </a:r>
            <a:endParaRPr lang="en-US" sz="800" dirty="0"/>
          </a:p>
        </p:txBody>
      </p:sp>
      <p:sp>
        <p:nvSpPr>
          <p:cNvPr id="31" name="Shape 27"/>
          <p:cNvSpPr/>
          <p:nvPr/>
        </p:nvSpPr>
        <p:spPr>
          <a:xfrm>
            <a:off x="3233719" y="3471863"/>
            <a:ext cx="2676506" cy="900113"/>
          </a:xfrm>
          <a:prstGeom prst="rect">
            <a:avLst/>
          </a:prstGeom>
          <a:solidFill>
            <a:srgbClr val="F8FAFC"/>
          </a:solidFill>
          <a:ln/>
        </p:spPr>
      </p:sp>
      <p:sp>
        <p:nvSpPr>
          <p:cNvPr id="32" name="Shape 28"/>
          <p:cNvSpPr/>
          <p:nvPr/>
        </p:nvSpPr>
        <p:spPr>
          <a:xfrm>
            <a:off x="3233719" y="3471863"/>
            <a:ext cx="2676506" cy="42863"/>
          </a:xfrm>
          <a:prstGeom prst="rect">
            <a:avLst/>
          </a:prstGeom>
          <a:solidFill>
            <a:srgbClr val="A3E635"/>
          </a:solidFill>
          <a:ln/>
        </p:spPr>
      </p:sp>
      <p:sp>
        <p:nvSpPr>
          <p:cNvPr id="33" name="Text 29"/>
          <p:cNvSpPr/>
          <p:nvPr/>
        </p:nvSpPr>
        <p:spPr>
          <a:xfrm>
            <a:off x="3369450" y="3607594"/>
            <a:ext cx="2412188" cy="135006"/>
          </a:xfrm>
          <a:prstGeom prst="rect">
            <a:avLst/>
          </a:prstGeom>
          <a:noFill/>
          <a:ln/>
        </p:spPr>
        <p:txBody>
          <a:bodyPr wrap="none" lIns="0" tIns="0" rIns="0" bIns="0" rtlCol="0" anchor="t">
            <a:spAutoFit/>
          </a:bodyPr>
          <a:lstStyle/>
          <a:p>
            <a:pPr algn="l" indent="0" marL="0">
              <a:lnSpc>
                <a:spcPct val="84000"/>
              </a:lnSpc>
              <a:buNone/>
            </a:pPr>
            <a:r>
              <a:rPr lang="en-US" sz="900" b="1" dirty="0">
                <a:solidFill>
                  <a:srgbClr val="0B1020"/>
                </a:solidFill>
                <a:latin typeface="Arial" pitchFamily="34" charset="0"/>
                <a:ea typeface="Arial" pitchFamily="34" charset="-122"/>
                <a:cs typeface="Arial" pitchFamily="34" charset="-120"/>
              </a:rPr>
              <a:t>OBSERVE</a:t>
            </a:r>
            <a:endParaRPr lang="en-US" sz="900" dirty="0"/>
          </a:p>
        </p:txBody>
      </p:sp>
      <p:sp>
        <p:nvSpPr>
          <p:cNvPr id="34" name="Text 30"/>
          <p:cNvSpPr/>
          <p:nvPr/>
        </p:nvSpPr>
        <p:spPr>
          <a:xfrm>
            <a:off x="3369450" y="3821181"/>
            <a:ext cx="2412188" cy="133945"/>
          </a:xfrm>
          <a:prstGeom prst="rect">
            <a:avLst/>
          </a:prstGeom>
          <a:noFill/>
          <a:ln/>
        </p:spPr>
        <p:txBody>
          <a:bodyPr wrap="none" lIns="0" tIns="0" rIns="0" bIns="0" rtlCol="0" anchor="t">
            <a:spAutoFit/>
          </a:bodyPr>
          <a:lstStyle/>
          <a:p>
            <a:pPr algn="l" indent="0" marL="0">
              <a:lnSpc>
                <a:spcPct val="100000"/>
              </a:lnSpc>
              <a:buNone/>
            </a:pPr>
            <a:r>
              <a:rPr lang="en-US" sz="800" dirty="0">
                <a:solidFill>
                  <a:srgbClr val="334155"/>
                </a:solidFill>
                <a:latin typeface="Arial" pitchFamily="34" charset="0"/>
                <a:ea typeface="Arial" pitchFamily="34" charset="-122"/>
                <a:cs typeface="Arial" pitchFamily="34" charset="-120"/>
              </a:rPr>
              <a:t>Export metrics, dashboard history, and regression</a:t>
            </a:r>
            <a:endParaRPr lang="en-US" sz="800" dirty="0"/>
          </a:p>
        </p:txBody>
      </p:sp>
      <p:sp>
        <p:nvSpPr>
          <p:cNvPr id="35" name="Text 31"/>
          <p:cNvSpPr/>
          <p:nvPr/>
        </p:nvSpPr>
        <p:spPr>
          <a:xfrm>
            <a:off x="3369450" y="4033707"/>
            <a:ext cx="2412188" cy="133945"/>
          </a:xfrm>
          <a:prstGeom prst="rect">
            <a:avLst/>
          </a:prstGeom>
          <a:noFill/>
          <a:ln/>
        </p:spPr>
        <p:txBody>
          <a:bodyPr wrap="none" lIns="0" tIns="0" rIns="0" bIns="0" rtlCol="0" anchor="t">
            <a:spAutoFit/>
          </a:bodyPr>
          <a:lstStyle/>
          <a:p>
            <a:pPr algn="l" indent="0" marL="0">
              <a:lnSpc>
                <a:spcPct val="100000"/>
              </a:lnSpc>
              <a:buNone/>
            </a:pPr>
            <a:r>
              <a:rPr lang="en-US" sz="800" dirty="0">
                <a:solidFill>
                  <a:srgbClr val="334155"/>
                </a:solidFill>
                <a:latin typeface="Arial" pitchFamily="34" charset="0"/>
                <a:ea typeface="Arial" pitchFamily="34" charset="-122"/>
                <a:cs typeface="Arial" pitchFamily="34" charset="-120"/>
              </a:rPr>
              <a:t>signals.</a:t>
            </a:r>
            <a:endParaRPr lang="en-US" sz="800" dirty="0"/>
          </a:p>
        </p:txBody>
      </p:sp>
      <p:sp>
        <p:nvSpPr>
          <p:cNvPr id="36" name="Shape 32"/>
          <p:cNvSpPr/>
          <p:nvPr/>
        </p:nvSpPr>
        <p:spPr>
          <a:xfrm>
            <a:off x="5981663" y="3471863"/>
            <a:ext cx="2676506" cy="900113"/>
          </a:xfrm>
          <a:prstGeom prst="rect">
            <a:avLst/>
          </a:prstGeom>
          <a:solidFill>
            <a:srgbClr val="F8FAFC"/>
          </a:solidFill>
          <a:ln/>
        </p:spPr>
      </p:sp>
      <p:sp>
        <p:nvSpPr>
          <p:cNvPr id="37" name="Shape 33"/>
          <p:cNvSpPr/>
          <p:nvPr/>
        </p:nvSpPr>
        <p:spPr>
          <a:xfrm>
            <a:off x="5981663" y="3471863"/>
            <a:ext cx="2676506" cy="42863"/>
          </a:xfrm>
          <a:prstGeom prst="rect">
            <a:avLst/>
          </a:prstGeom>
          <a:solidFill>
            <a:srgbClr val="38BDF8"/>
          </a:solidFill>
          <a:ln/>
        </p:spPr>
      </p:sp>
      <p:sp>
        <p:nvSpPr>
          <p:cNvPr id="38" name="Text 34"/>
          <p:cNvSpPr/>
          <p:nvPr/>
        </p:nvSpPr>
        <p:spPr>
          <a:xfrm>
            <a:off x="6117394" y="3607594"/>
            <a:ext cx="2412188" cy="135006"/>
          </a:xfrm>
          <a:prstGeom prst="rect">
            <a:avLst/>
          </a:prstGeom>
          <a:noFill/>
          <a:ln/>
        </p:spPr>
        <p:txBody>
          <a:bodyPr wrap="none" lIns="0" tIns="0" rIns="0" bIns="0" rtlCol="0" anchor="t">
            <a:spAutoFit/>
          </a:bodyPr>
          <a:lstStyle/>
          <a:p>
            <a:pPr algn="l" indent="0" marL="0">
              <a:lnSpc>
                <a:spcPct val="84000"/>
              </a:lnSpc>
              <a:buNone/>
            </a:pPr>
            <a:r>
              <a:rPr lang="en-US" sz="900" b="1" dirty="0">
                <a:solidFill>
                  <a:srgbClr val="0B1020"/>
                </a:solidFill>
                <a:latin typeface="Arial" pitchFamily="34" charset="0"/>
                <a:ea typeface="Arial" pitchFamily="34" charset="-122"/>
                <a:cs typeface="Arial" pitchFamily="34" charset="-120"/>
              </a:rPr>
              <a:t>EXPLAIN</a:t>
            </a:r>
            <a:endParaRPr lang="en-US" sz="900" dirty="0"/>
          </a:p>
        </p:txBody>
      </p:sp>
      <p:sp>
        <p:nvSpPr>
          <p:cNvPr id="39" name="Text 35"/>
          <p:cNvSpPr/>
          <p:nvPr/>
        </p:nvSpPr>
        <p:spPr>
          <a:xfrm>
            <a:off x="6117394" y="3821181"/>
            <a:ext cx="2412188" cy="133945"/>
          </a:xfrm>
          <a:prstGeom prst="rect">
            <a:avLst/>
          </a:prstGeom>
          <a:noFill/>
          <a:ln/>
        </p:spPr>
        <p:txBody>
          <a:bodyPr wrap="none" lIns="0" tIns="0" rIns="0" bIns="0" rtlCol="0" anchor="t">
            <a:spAutoFit/>
          </a:bodyPr>
          <a:lstStyle/>
          <a:p>
            <a:pPr algn="l" indent="0" marL="0">
              <a:lnSpc>
                <a:spcPct val="100000"/>
              </a:lnSpc>
              <a:buNone/>
            </a:pPr>
            <a:r>
              <a:rPr lang="en-US" sz="800" dirty="0">
                <a:solidFill>
                  <a:srgbClr val="334155"/>
                </a:solidFill>
                <a:latin typeface="Arial" pitchFamily="34" charset="0"/>
                <a:ea typeface="Arial" pitchFamily="34" charset="-122"/>
                <a:cs typeface="Arial" pitchFamily="34" charset="-120"/>
              </a:rPr>
              <a:t>Deliver deployment guidance and an architecture</a:t>
            </a:r>
            <a:endParaRPr lang="en-US" sz="800" dirty="0"/>
          </a:p>
        </p:txBody>
      </p:sp>
      <p:sp>
        <p:nvSpPr>
          <p:cNvPr id="40" name="Text 36"/>
          <p:cNvSpPr/>
          <p:nvPr/>
        </p:nvSpPr>
        <p:spPr>
          <a:xfrm>
            <a:off x="6117394" y="4033707"/>
            <a:ext cx="2412188" cy="133945"/>
          </a:xfrm>
          <a:prstGeom prst="rect">
            <a:avLst/>
          </a:prstGeom>
          <a:noFill/>
          <a:ln/>
        </p:spPr>
        <p:txBody>
          <a:bodyPr wrap="none" lIns="0" tIns="0" rIns="0" bIns="0" rtlCol="0" anchor="t">
            <a:spAutoFit/>
          </a:bodyPr>
          <a:lstStyle/>
          <a:p>
            <a:pPr algn="l" indent="0" marL="0">
              <a:lnSpc>
                <a:spcPct val="100000"/>
              </a:lnSpc>
              <a:buNone/>
            </a:pPr>
            <a:r>
              <a:rPr lang="en-US" sz="800" dirty="0">
                <a:solidFill>
                  <a:srgbClr val="334155"/>
                </a:solidFill>
                <a:latin typeface="Arial" pitchFamily="34" charset="0"/>
                <a:ea typeface="Arial" pitchFamily="34" charset="-122"/>
                <a:cs typeface="Arial" pitchFamily="34" charset="-120"/>
              </a:rPr>
              <a:t>presentation when requested.</a:t>
            </a:r>
            <a:endParaRPr lang="en-US" sz="800" dirty="0"/>
          </a:p>
        </p:txBody>
      </p:sp>
      <p:sp>
        <p:nvSpPr>
          <p:cNvPr id="41" name="Text 37"/>
          <p:cNvSpPr/>
          <p:nvPr/>
        </p:nvSpPr>
        <p:spPr>
          <a:xfrm>
            <a:off x="485775" y="4564856"/>
            <a:ext cx="8172450" cy="528638"/>
          </a:xfrm>
          <a:prstGeom prst="rect">
            <a:avLst/>
          </a:prstGeom>
          <a:noFill/>
          <a:ln/>
        </p:spPr>
        <p:txBody>
          <a:bodyPr wrap="square" lIns="0" tIns="153035" rIns="0" bIns="0" rtlCol="0" anchor="t">
            <a:spAutoFit/>
          </a:bodyPr>
          <a:lstStyle/>
          <a:p>
            <a:pPr algn="l" indent="0" marL="0">
              <a:lnSpc>
                <a:spcPct val="100000"/>
              </a:lnSpc>
              <a:buNone/>
            </a:pPr>
            <a:r>
              <a:rPr lang="en-US" sz="1050" b="1" dirty="0">
                <a:solidFill>
                  <a:srgbClr val="A3E635"/>
                </a:solidFill>
                <a:latin typeface="Arial" pitchFamily="34" charset="0"/>
                <a:ea typeface="Arial" pitchFamily="34" charset="-122"/>
                <a:cs typeface="Arial" pitchFamily="34" charset="-120"/>
              </a:rPr>
              <a:t>Default delivery posture:</a:t>
            </a:r>
            <a:r>
              <a:rPr lang="en-US" sz="1100" dirty="0">
                <a:solidFill>
                  <a:srgbClr val="CBD5E1"/>
                </a:solidFill>
                <a:latin typeface="Arial" pitchFamily="34" charset="0"/>
                <a:ea typeface="Arial" pitchFamily="34" charset="-122"/>
                <a:cs typeface="Arial" pitchFamily="34" charset="-120"/>
              </a:rPr>
              <a:t> build the coordinated suite in one pass unless the user explicitly limits the scope.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85775" y="357188"/>
            <a:ext cx="8172450" cy="100013"/>
          </a:xfrm>
          <a:prstGeom prst="rect">
            <a:avLst/>
          </a:prstGeom>
          <a:noFill/>
          <a:ln/>
        </p:spPr>
        <p:txBody>
          <a:bodyPr wrap="none" lIns="0" tIns="0" rIns="0" bIns="0" rtlCol="0" anchor="t">
            <a:spAutoFit/>
          </a:bodyPr>
          <a:lstStyle/>
          <a:p>
            <a:pPr algn="l" indent="0" marL="0">
              <a:lnSpc>
                <a:spcPct val="80000"/>
              </a:lnSpc>
              <a:buNone/>
            </a:pPr>
            <a:r>
              <a:rPr lang="en-US" sz="700" b="1" spc="2" kern="0" dirty="0">
                <a:solidFill>
                  <a:srgbClr val="A3E635"/>
                </a:solidFill>
                <a:latin typeface="Arial" pitchFamily="34" charset="0"/>
                <a:ea typeface="Arial" pitchFamily="34" charset="-122"/>
                <a:cs typeface="Arial" pitchFamily="34" charset="-120"/>
              </a:rPr>
              <a:t>DELIVERY ARCHITECTURE</a:t>
            </a:r>
            <a:endParaRPr lang="en-US" sz="700" dirty="0"/>
          </a:p>
        </p:txBody>
      </p:sp>
      <p:sp>
        <p:nvSpPr>
          <p:cNvPr id="5" name="Text 1"/>
          <p:cNvSpPr/>
          <p:nvPr/>
        </p:nvSpPr>
        <p:spPr>
          <a:xfrm>
            <a:off x="485775" y="528638"/>
            <a:ext cx="8172450" cy="300038"/>
          </a:xfrm>
          <a:prstGeom prst="rect">
            <a:avLst/>
          </a:prstGeom>
          <a:noFill/>
          <a:ln/>
        </p:spPr>
        <p:txBody>
          <a:bodyPr wrap="none" lIns="0" tIns="0" rIns="0" bIns="0" rtlCol="0" anchor="t">
            <a:spAutoFit/>
          </a:bodyPr>
          <a:lstStyle/>
          <a:p>
            <a:pPr algn="l" indent="0" marL="0">
              <a:lnSpc>
                <a:spcPct val="80000"/>
              </a:lnSpc>
              <a:buNone/>
            </a:pPr>
            <a:r>
              <a:rPr lang="en-US" sz="2100" b="1" spc="-1" kern="0" dirty="0">
                <a:solidFill>
                  <a:srgbClr val="F8FAFC"/>
                </a:solidFill>
                <a:latin typeface="Arial" pitchFamily="34" charset="0"/>
                <a:ea typeface="Arial" pitchFamily="34" charset="-122"/>
                <a:cs typeface="Arial" pitchFamily="34" charset="-120"/>
              </a:rPr>
              <a:t>FOUR CONNECTED LAYERS</a:t>
            </a:r>
            <a:endParaRPr lang="en-US" sz="2100" dirty="0"/>
          </a:p>
        </p:txBody>
      </p:sp>
      <p:sp>
        <p:nvSpPr>
          <p:cNvPr id="6" name="Text 2"/>
          <p:cNvSpPr/>
          <p:nvPr/>
        </p:nvSpPr>
        <p:spPr>
          <a:xfrm>
            <a:off x="485775" y="914400"/>
            <a:ext cx="8172450" cy="185738"/>
          </a:xfrm>
          <a:prstGeom prst="rect">
            <a:avLst/>
          </a:prstGeom>
          <a:noFill/>
          <a:ln/>
        </p:spPr>
        <p:txBody>
          <a:bodyPr wrap="none" lIns="0" tIns="0" rIns="0" bIns="0" rtlCol="0" anchor="t">
            <a:spAutoFit/>
          </a:bodyPr>
          <a:lstStyle/>
          <a:p>
            <a:pPr algn="l" indent="0" marL="0">
              <a:lnSpc>
                <a:spcPct val="104000"/>
              </a:lnSpc>
              <a:buNone/>
            </a:pPr>
            <a:r>
              <a:rPr lang="en-US" sz="1050" dirty="0">
                <a:solidFill>
                  <a:srgbClr val="CBD5E1"/>
                </a:solidFill>
                <a:latin typeface="Arial" pitchFamily="34" charset="0"/>
                <a:ea typeface="Arial" pitchFamily="34" charset="-122"/>
                <a:cs typeface="Arial" pitchFamily="34" charset="-120"/>
              </a:rPr>
              <a:t>The skill assembles the user-facing journey and its operational guardrails as one deliberately connected system.</a:t>
            </a:r>
            <a:endParaRPr lang="en-US" sz="1050" dirty="0"/>
          </a:p>
        </p:txBody>
      </p:sp>
      <p:sp>
        <p:nvSpPr>
          <p:cNvPr id="7" name="Shape 3"/>
          <p:cNvSpPr/>
          <p:nvPr/>
        </p:nvSpPr>
        <p:spPr>
          <a:xfrm>
            <a:off x="485775" y="1407319"/>
            <a:ext cx="1984177" cy="2143125"/>
          </a:xfrm>
          <a:prstGeom prst="rect">
            <a:avLst/>
          </a:prstGeom>
          <a:solidFill>
            <a:srgbClr val="F8FAFC"/>
          </a:solidFill>
          <a:ln/>
        </p:spPr>
      </p:sp>
      <p:sp>
        <p:nvSpPr>
          <p:cNvPr id="8" name="Shape 4"/>
          <p:cNvSpPr/>
          <p:nvPr/>
        </p:nvSpPr>
        <p:spPr>
          <a:xfrm>
            <a:off x="485775" y="1407319"/>
            <a:ext cx="1984177" cy="50006"/>
          </a:xfrm>
          <a:prstGeom prst="rect">
            <a:avLst/>
          </a:prstGeom>
          <a:solidFill>
            <a:srgbClr val="38BDF8"/>
          </a:solidFill>
          <a:ln/>
        </p:spPr>
      </p:sp>
      <p:sp>
        <p:nvSpPr>
          <p:cNvPr id="9" name="Text 5"/>
          <p:cNvSpPr/>
          <p:nvPr/>
        </p:nvSpPr>
        <p:spPr>
          <a:xfrm>
            <a:off x="628650" y="1571625"/>
            <a:ext cx="1698427" cy="107156"/>
          </a:xfrm>
          <a:prstGeom prst="rect">
            <a:avLst/>
          </a:prstGeom>
          <a:noFill/>
          <a:ln/>
        </p:spPr>
        <p:txBody>
          <a:bodyPr wrap="none" lIns="0" tIns="0" rIns="0" bIns="0" rtlCol="0" anchor="t">
            <a:spAutoFit/>
          </a:bodyPr>
          <a:lstStyle/>
          <a:p>
            <a:pPr algn="l" indent="0" marL="0">
              <a:lnSpc>
                <a:spcPct val="80000"/>
              </a:lnSpc>
              <a:buNone/>
            </a:pPr>
            <a:r>
              <a:rPr lang="en-US" sz="750" b="1" spc="1" kern="0" dirty="0">
                <a:solidFill>
                  <a:srgbClr val="38BDF8"/>
                </a:solidFill>
                <a:latin typeface="Arial" pitchFamily="34" charset="0"/>
                <a:ea typeface="Arial" pitchFamily="34" charset="-122"/>
                <a:cs typeface="Arial" pitchFamily="34" charset="-120"/>
              </a:rPr>
              <a:t>01 / EXPERIENCE</a:t>
            </a:r>
            <a:endParaRPr lang="en-US" sz="750" dirty="0"/>
          </a:p>
        </p:txBody>
      </p:sp>
      <p:sp>
        <p:nvSpPr>
          <p:cNvPr id="10" name="Text 6"/>
          <p:cNvSpPr/>
          <p:nvPr/>
        </p:nvSpPr>
        <p:spPr>
          <a:xfrm>
            <a:off x="628650" y="1895717"/>
            <a:ext cx="1698427" cy="407975"/>
          </a:xfrm>
          <a:prstGeom prst="rect">
            <a:avLst/>
          </a:prstGeom>
          <a:noFill/>
          <a:ln/>
        </p:spPr>
        <p:txBody>
          <a:bodyPr wrap="square" lIns="0" tIns="0" rIns="0" bIns="0" rtlCol="0" anchor="t">
            <a:spAutoFit/>
          </a:bodyPr>
          <a:lstStyle/>
          <a:p>
            <a:pPr algn="l" indent="0" marL="0">
              <a:lnSpc>
                <a:spcPct val="81600"/>
              </a:lnSpc>
              <a:buNone/>
            </a:pPr>
            <a:r>
              <a:rPr lang="en-US" sz="1400" b="1" dirty="0">
                <a:solidFill>
                  <a:srgbClr val="0B1020"/>
                </a:solidFill>
                <a:latin typeface="Arial" pitchFamily="34" charset="0"/>
                <a:ea typeface="Arial" pitchFamily="34" charset="-122"/>
                <a:cs typeface="Arial" pitchFamily="34" charset="-120"/>
              </a:rPr>
              <a:t>JOURNEY ASSETS</a:t>
            </a:r>
            <a:endParaRPr lang="en-US" sz="1400" dirty="0"/>
          </a:p>
        </p:txBody>
      </p:sp>
      <p:sp>
        <p:nvSpPr>
          <p:cNvPr id="11" name="Text 7"/>
          <p:cNvSpPr/>
          <p:nvPr/>
        </p:nvSpPr>
        <p:spPr>
          <a:xfrm>
            <a:off x="628650" y="2520628"/>
            <a:ext cx="1698427" cy="466297"/>
          </a:xfrm>
          <a:prstGeom prst="rect">
            <a:avLst/>
          </a:prstGeom>
          <a:noFill/>
          <a:ln/>
        </p:spPr>
        <p:txBody>
          <a:bodyPr wrap="square" lIns="0" tIns="0" rIns="0" bIns="0" rtlCol="0" anchor="t">
            <a:spAutoFit/>
          </a:bodyPr>
          <a:lstStyle/>
          <a:p>
            <a:pPr algn="l" indent="0" marL="0">
              <a:lnSpc>
                <a:spcPct val="102400"/>
              </a:lnSpc>
              <a:buNone/>
            </a:pPr>
            <a:r>
              <a:rPr lang="en-US" sz="900" dirty="0">
                <a:solidFill>
                  <a:srgbClr val="334155"/>
                </a:solidFill>
                <a:latin typeface="Arial" pitchFamily="34" charset="0"/>
                <a:ea typeface="Arial" pitchFamily="34" charset="-122"/>
                <a:cs typeface="Arial" pitchFamily="34" charset="-120"/>
              </a:rPr>
              <a:t>Activation map, time-boxed narration, screenshots, annotations, and a PDF guide.</a:t>
            </a:r>
            <a:endParaRPr lang="en-US" sz="900" dirty="0"/>
          </a:p>
        </p:txBody>
      </p:sp>
      <p:sp>
        <p:nvSpPr>
          <p:cNvPr id="12" name="Text 8"/>
          <p:cNvSpPr/>
          <p:nvPr/>
        </p:nvSpPr>
        <p:spPr>
          <a:xfrm>
            <a:off x="628650" y="3203860"/>
            <a:ext cx="1698427" cy="346472"/>
          </a:xfrm>
          <a:prstGeom prst="rect">
            <a:avLst/>
          </a:prstGeom>
          <a:noFill/>
          <a:ln/>
        </p:spPr>
        <p:txBody>
          <a:bodyPr wrap="square" lIns="0" tIns="127508" rIns="0" bIns="0" rtlCol="0" anchor="t">
            <a:spAutoFit/>
          </a:bodyPr>
          <a:lstStyle/>
          <a:p>
            <a:pPr algn="l" indent="0" marL="0">
              <a:lnSpc>
                <a:spcPct val="100000"/>
              </a:lnSpc>
              <a:buNone/>
            </a:pPr>
            <a:r>
              <a:rPr lang="en-US" sz="650" b="1" spc="1" kern="0" dirty="0">
                <a:solidFill>
                  <a:srgbClr val="334155"/>
                </a:solidFill>
                <a:latin typeface="Arial" pitchFamily="34" charset="0"/>
                <a:ea typeface="Arial" pitchFamily="34" charset="-122"/>
                <a:cs typeface="Arial" pitchFamily="34" charset="-120"/>
              </a:rPr>
              <a:t>OUTCOME · EVIDENCE · CONFIGURATION</a:t>
            </a:r>
            <a:endParaRPr lang="en-US" sz="650" dirty="0"/>
          </a:p>
        </p:txBody>
      </p:sp>
      <p:sp>
        <p:nvSpPr>
          <p:cNvPr id="13" name="Shape 9"/>
          <p:cNvSpPr/>
          <p:nvPr/>
        </p:nvSpPr>
        <p:spPr>
          <a:xfrm>
            <a:off x="2548533" y="1407319"/>
            <a:ext cx="1984177" cy="2143125"/>
          </a:xfrm>
          <a:prstGeom prst="rect">
            <a:avLst/>
          </a:prstGeom>
          <a:solidFill>
            <a:srgbClr val="F8FAFC"/>
          </a:solidFill>
          <a:ln/>
        </p:spPr>
      </p:sp>
      <p:sp>
        <p:nvSpPr>
          <p:cNvPr id="14" name="Shape 10"/>
          <p:cNvSpPr/>
          <p:nvPr/>
        </p:nvSpPr>
        <p:spPr>
          <a:xfrm>
            <a:off x="2548533" y="1407319"/>
            <a:ext cx="1984177" cy="50006"/>
          </a:xfrm>
          <a:prstGeom prst="rect">
            <a:avLst/>
          </a:prstGeom>
          <a:solidFill>
            <a:srgbClr val="A3E635"/>
          </a:solidFill>
          <a:ln/>
        </p:spPr>
      </p:sp>
      <p:sp>
        <p:nvSpPr>
          <p:cNvPr id="15" name="Text 11"/>
          <p:cNvSpPr/>
          <p:nvPr/>
        </p:nvSpPr>
        <p:spPr>
          <a:xfrm>
            <a:off x="2691408" y="1571625"/>
            <a:ext cx="1698427" cy="107156"/>
          </a:xfrm>
          <a:prstGeom prst="rect">
            <a:avLst/>
          </a:prstGeom>
          <a:noFill/>
          <a:ln/>
        </p:spPr>
        <p:txBody>
          <a:bodyPr wrap="none" lIns="0" tIns="0" rIns="0" bIns="0" rtlCol="0" anchor="t">
            <a:spAutoFit/>
          </a:bodyPr>
          <a:lstStyle/>
          <a:p>
            <a:pPr algn="l" indent="0" marL="0">
              <a:lnSpc>
                <a:spcPct val="80000"/>
              </a:lnSpc>
              <a:buNone/>
            </a:pPr>
            <a:r>
              <a:rPr lang="en-US" sz="750" b="1" spc="1" kern="0" dirty="0">
                <a:solidFill>
                  <a:srgbClr val="65A30D"/>
                </a:solidFill>
                <a:latin typeface="Arial" pitchFamily="34" charset="0"/>
                <a:ea typeface="Arial" pitchFamily="34" charset="-122"/>
                <a:cs typeface="Arial" pitchFamily="34" charset="-120"/>
              </a:rPr>
              <a:t>02 / VERIFICATION</a:t>
            </a:r>
            <a:endParaRPr lang="en-US" sz="750" dirty="0"/>
          </a:p>
        </p:txBody>
      </p:sp>
      <p:sp>
        <p:nvSpPr>
          <p:cNvPr id="16" name="Text 12"/>
          <p:cNvSpPr/>
          <p:nvPr/>
        </p:nvSpPr>
        <p:spPr>
          <a:xfrm>
            <a:off x="2691408" y="1963750"/>
            <a:ext cx="1698427" cy="203988"/>
          </a:xfrm>
          <a:prstGeom prst="rect">
            <a:avLst/>
          </a:prstGeom>
          <a:noFill/>
          <a:ln/>
        </p:spPr>
        <p:txBody>
          <a:bodyPr wrap="none" lIns="0" tIns="0" rIns="0" bIns="0" rtlCol="0" anchor="t">
            <a:spAutoFit/>
          </a:bodyPr>
          <a:lstStyle/>
          <a:p>
            <a:pPr algn="l" indent="0" marL="0">
              <a:lnSpc>
                <a:spcPct val="81600"/>
              </a:lnSpc>
              <a:buNone/>
            </a:pPr>
            <a:r>
              <a:rPr lang="en-US" sz="1400" b="1" dirty="0">
                <a:solidFill>
                  <a:srgbClr val="0B1020"/>
                </a:solidFill>
                <a:latin typeface="Arial" pitchFamily="34" charset="0"/>
                <a:ea typeface="Arial" pitchFamily="34" charset="-122"/>
                <a:cs typeface="Arial" pitchFamily="34" charset="-120"/>
              </a:rPr>
              <a:t>UI CHECKS</a:t>
            </a:r>
            <a:endParaRPr lang="en-US" sz="1400" dirty="0"/>
          </a:p>
        </p:txBody>
      </p:sp>
      <p:sp>
        <p:nvSpPr>
          <p:cNvPr id="17" name="Text 13"/>
          <p:cNvSpPr/>
          <p:nvPr/>
        </p:nvSpPr>
        <p:spPr>
          <a:xfrm>
            <a:off x="2691408" y="2452706"/>
            <a:ext cx="1698427" cy="466297"/>
          </a:xfrm>
          <a:prstGeom prst="rect">
            <a:avLst/>
          </a:prstGeom>
          <a:noFill/>
          <a:ln/>
        </p:spPr>
        <p:txBody>
          <a:bodyPr wrap="square" lIns="0" tIns="0" rIns="0" bIns="0" rtlCol="0" anchor="t">
            <a:spAutoFit/>
          </a:bodyPr>
          <a:lstStyle/>
          <a:p>
            <a:pPr algn="l" indent="0" marL="0">
              <a:lnSpc>
                <a:spcPct val="102400"/>
              </a:lnSpc>
              <a:buNone/>
            </a:pPr>
            <a:r>
              <a:rPr lang="en-US" sz="900" dirty="0">
                <a:solidFill>
                  <a:srgbClr val="334155"/>
                </a:solidFill>
                <a:latin typeface="Arial" pitchFamily="34" charset="0"/>
                <a:ea typeface="Arial" pitchFamily="34" charset="-122"/>
                <a:cs typeface="Arial" pitchFamily="34" charset="-120"/>
              </a:rPr>
              <a:t>Serial narrative coverage plus independent, safely shardable Playwright checks.</a:t>
            </a:r>
            <a:endParaRPr lang="en-US" sz="900" dirty="0"/>
          </a:p>
        </p:txBody>
      </p:sp>
      <p:sp>
        <p:nvSpPr>
          <p:cNvPr id="18" name="Text 14"/>
          <p:cNvSpPr/>
          <p:nvPr/>
        </p:nvSpPr>
        <p:spPr>
          <a:xfrm>
            <a:off x="2691408" y="3203972"/>
            <a:ext cx="1698427" cy="346472"/>
          </a:xfrm>
          <a:prstGeom prst="rect">
            <a:avLst/>
          </a:prstGeom>
          <a:noFill/>
          <a:ln/>
        </p:spPr>
        <p:txBody>
          <a:bodyPr wrap="square" lIns="0" tIns="127508" rIns="0" bIns="0" rtlCol="0" anchor="t">
            <a:spAutoFit/>
          </a:bodyPr>
          <a:lstStyle/>
          <a:p>
            <a:pPr algn="l" indent="0" marL="0">
              <a:lnSpc>
                <a:spcPct val="100000"/>
              </a:lnSpc>
              <a:buNone/>
            </a:pPr>
            <a:r>
              <a:rPr lang="en-US" sz="650" b="1" spc="1" kern="0" dirty="0">
                <a:solidFill>
                  <a:srgbClr val="334155"/>
                </a:solidFill>
                <a:latin typeface="Arial" pitchFamily="34" charset="0"/>
                <a:ea typeface="Arial" pitchFamily="34" charset="-122"/>
                <a:cs typeface="Arial" pitchFamily="34" charset="-120"/>
              </a:rPr>
              <a:t>TESTS · SELECTORS · ISOLATED DATA</a:t>
            </a:r>
            <a:endParaRPr lang="en-US" sz="650" dirty="0"/>
          </a:p>
        </p:txBody>
      </p:sp>
      <p:sp>
        <p:nvSpPr>
          <p:cNvPr id="19" name="Shape 15"/>
          <p:cNvSpPr/>
          <p:nvPr/>
        </p:nvSpPr>
        <p:spPr>
          <a:xfrm>
            <a:off x="4611291" y="1407319"/>
            <a:ext cx="1984177" cy="2143125"/>
          </a:xfrm>
          <a:prstGeom prst="rect">
            <a:avLst/>
          </a:prstGeom>
          <a:solidFill>
            <a:srgbClr val="F8FAFC"/>
          </a:solidFill>
          <a:ln/>
        </p:spPr>
      </p:sp>
      <p:sp>
        <p:nvSpPr>
          <p:cNvPr id="20" name="Shape 16"/>
          <p:cNvSpPr/>
          <p:nvPr/>
        </p:nvSpPr>
        <p:spPr>
          <a:xfrm>
            <a:off x="4611291" y="1407319"/>
            <a:ext cx="1984177" cy="50006"/>
          </a:xfrm>
          <a:prstGeom prst="rect">
            <a:avLst/>
          </a:prstGeom>
          <a:solidFill>
            <a:srgbClr val="38BDF8"/>
          </a:solidFill>
          <a:ln/>
        </p:spPr>
      </p:sp>
      <p:sp>
        <p:nvSpPr>
          <p:cNvPr id="21" name="Text 17"/>
          <p:cNvSpPr/>
          <p:nvPr/>
        </p:nvSpPr>
        <p:spPr>
          <a:xfrm>
            <a:off x="4754166" y="1571625"/>
            <a:ext cx="1698427" cy="107156"/>
          </a:xfrm>
          <a:prstGeom prst="rect">
            <a:avLst/>
          </a:prstGeom>
          <a:noFill/>
          <a:ln/>
        </p:spPr>
        <p:txBody>
          <a:bodyPr wrap="none" lIns="0" tIns="0" rIns="0" bIns="0" rtlCol="0" anchor="t">
            <a:spAutoFit/>
          </a:bodyPr>
          <a:lstStyle/>
          <a:p>
            <a:pPr algn="l" indent="0" marL="0">
              <a:lnSpc>
                <a:spcPct val="80000"/>
              </a:lnSpc>
              <a:buNone/>
            </a:pPr>
            <a:r>
              <a:rPr lang="en-US" sz="750" b="1" spc="1" kern="0" dirty="0">
                <a:solidFill>
                  <a:srgbClr val="38BDF8"/>
                </a:solidFill>
                <a:latin typeface="Arial" pitchFamily="34" charset="0"/>
                <a:ea typeface="Arial" pitchFamily="34" charset="-122"/>
                <a:cs typeface="Arial" pitchFamily="34" charset="-120"/>
              </a:rPr>
              <a:t>03 / OPERATIONS</a:t>
            </a:r>
            <a:endParaRPr lang="en-US" sz="750" dirty="0"/>
          </a:p>
        </p:txBody>
      </p:sp>
      <p:sp>
        <p:nvSpPr>
          <p:cNvPr id="22" name="Text 18"/>
          <p:cNvSpPr/>
          <p:nvPr/>
        </p:nvSpPr>
        <p:spPr>
          <a:xfrm>
            <a:off x="4754166" y="2002427"/>
            <a:ext cx="1698427" cy="203988"/>
          </a:xfrm>
          <a:prstGeom prst="rect">
            <a:avLst/>
          </a:prstGeom>
          <a:noFill/>
          <a:ln/>
        </p:spPr>
        <p:txBody>
          <a:bodyPr wrap="none" lIns="0" tIns="0" rIns="0" bIns="0" rtlCol="0" anchor="t">
            <a:spAutoFit/>
          </a:bodyPr>
          <a:lstStyle/>
          <a:p>
            <a:pPr algn="l" indent="0" marL="0">
              <a:lnSpc>
                <a:spcPct val="81600"/>
              </a:lnSpc>
              <a:buNone/>
            </a:pPr>
            <a:r>
              <a:rPr lang="en-US" sz="1400" b="1" dirty="0">
                <a:solidFill>
                  <a:srgbClr val="0B1020"/>
                </a:solidFill>
                <a:latin typeface="Arial" pitchFamily="34" charset="0"/>
                <a:ea typeface="Arial" pitchFamily="34" charset="-122"/>
                <a:cs typeface="Arial" pitchFamily="34" charset="-120"/>
              </a:rPr>
              <a:t>GUARDRAILS</a:t>
            </a:r>
            <a:endParaRPr lang="en-US" sz="1400" dirty="0"/>
          </a:p>
        </p:txBody>
      </p:sp>
      <p:sp>
        <p:nvSpPr>
          <p:cNvPr id="23" name="Text 19"/>
          <p:cNvSpPr/>
          <p:nvPr/>
        </p:nvSpPr>
        <p:spPr>
          <a:xfrm>
            <a:off x="4754166" y="2530060"/>
            <a:ext cx="1698427" cy="466297"/>
          </a:xfrm>
          <a:prstGeom prst="rect">
            <a:avLst/>
          </a:prstGeom>
          <a:noFill/>
          <a:ln/>
        </p:spPr>
        <p:txBody>
          <a:bodyPr wrap="square" lIns="0" tIns="0" rIns="0" bIns="0" rtlCol="0" anchor="t">
            <a:spAutoFit/>
          </a:bodyPr>
          <a:lstStyle/>
          <a:p>
            <a:pPr algn="l" indent="0" marL="0">
              <a:lnSpc>
                <a:spcPct val="102400"/>
              </a:lnSpc>
              <a:buNone/>
            </a:pPr>
            <a:r>
              <a:rPr lang="en-US" sz="900" dirty="0">
                <a:solidFill>
                  <a:srgbClr val="334155"/>
                </a:solidFill>
                <a:latin typeface="Arial" pitchFamily="34" charset="0"/>
                <a:ea typeface="Arial" pitchFamily="34" charset="-122"/>
                <a:cs typeface="Arial" pitchFamily="34" charset="-120"/>
              </a:rPr>
              <a:t>Session health, recovery boundary, preflight, retention, and optional notifications.</a:t>
            </a:r>
            <a:endParaRPr lang="en-US" sz="900" dirty="0"/>
          </a:p>
        </p:txBody>
      </p:sp>
      <p:sp>
        <p:nvSpPr>
          <p:cNvPr id="24" name="Text 20"/>
          <p:cNvSpPr/>
          <p:nvPr/>
        </p:nvSpPr>
        <p:spPr>
          <a:xfrm>
            <a:off x="4754166" y="3320002"/>
            <a:ext cx="1698427" cy="230386"/>
          </a:xfrm>
          <a:prstGeom prst="rect">
            <a:avLst/>
          </a:prstGeom>
          <a:noFill/>
          <a:ln/>
        </p:spPr>
        <p:txBody>
          <a:bodyPr wrap="square" lIns="0" tIns="127508" rIns="0" bIns="0" rtlCol="0" anchor="t">
            <a:spAutoFit/>
          </a:bodyPr>
          <a:lstStyle/>
          <a:p>
            <a:pPr algn="l" indent="0" marL="0">
              <a:lnSpc>
                <a:spcPct val="100000"/>
              </a:lnSpc>
              <a:buNone/>
            </a:pPr>
            <a:r>
              <a:rPr lang="en-US" sz="650" b="1" spc="1" kern="0" dirty="0">
                <a:solidFill>
                  <a:srgbClr val="334155"/>
                </a:solidFill>
                <a:latin typeface="Arial" pitchFamily="34" charset="0"/>
                <a:ea typeface="Arial" pitchFamily="34" charset="-122"/>
                <a:cs typeface="Arial" pitchFamily="34" charset="-120"/>
              </a:rPr>
              <a:t>TRUST · RETRY · MAINTENANCE</a:t>
            </a:r>
            <a:endParaRPr lang="en-US" sz="650" dirty="0"/>
          </a:p>
        </p:txBody>
      </p:sp>
      <p:sp>
        <p:nvSpPr>
          <p:cNvPr id="25" name="Shape 21"/>
          <p:cNvSpPr/>
          <p:nvPr/>
        </p:nvSpPr>
        <p:spPr>
          <a:xfrm>
            <a:off x="6674048" y="1407319"/>
            <a:ext cx="1984177" cy="2143125"/>
          </a:xfrm>
          <a:prstGeom prst="rect">
            <a:avLst/>
          </a:prstGeom>
          <a:solidFill>
            <a:srgbClr val="F8FAFC"/>
          </a:solidFill>
          <a:ln/>
        </p:spPr>
      </p:sp>
      <p:sp>
        <p:nvSpPr>
          <p:cNvPr id="26" name="Shape 22"/>
          <p:cNvSpPr/>
          <p:nvPr/>
        </p:nvSpPr>
        <p:spPr>
          <a:xfrm>
            <a:off x="6674048" y="1407319"/>
            <a:ext cx="1984177" cy="50006"/>
          </a:xfrm>
          <a:prstGeom prst="rect">
            <a:avLst/>
          </a:prstGeom>
          <a:solidFill>
            <a:srgbClr val="A3E635"/>
          </a:solidFill>
          <a:ln/>
        </p:spPr>
      </p:sp>
      <p:sp>
        <p:nvSpPr>
          <p:cNvPr id="27" name="Text 23"/>
          <p:cNvSpPr/>
          <p:nvPr/>
        </p:nvSpPr>
        <p:spPr>
          <a:xfrm>
            <a:off x="6816923" y="1571625"/>
            <a:ext cx="1698427" cy="107156"/>
          </a:xfrm>
          <a:prstGeom prst="rect">
            <a:avLst/>
          </a:prstGeom>
          <a:noFill/>
          <a:ln/>
        </p:spPr>
        <p:txBody>
          <a:bodyPr wrap="none" lIns="0" tIns="0" rIns="0" bIns="0" rtlCol="0" anchor="t">
            <a:spAutoFit/>
          </a:bodyPr>
          <a:lstStyle/>
          <a:p>
            <a:pPr algn="l" indent="0" marL="0">
              <a:lnSpc>
                <a:spcPct val="80000"/>
              </a:lnSpc>
              <a:buNone/>
            </a:pPr>
            <a:r>
              <a:rPr lang="en-US" sz="750" b="1" spc="1" kern="0" dirty="0">
                <a:solidFill>
                  <a:srgbClr val="65A30D"/>
                </a:solidFill>
                <a:latin typeface="Arial" pitchFamily="34" charset="0"/>
                <a:ea typeface="Arial" pitchFamily="34" charset="-122"/>
                <a:cs typeface="Arial" pitchFamily="34" charset="-120"/>
              </a:rPr>
              <a:t>04 / INSIGHT</a:t>
            </a:r>
            <a:endParaRPr lang="en-US" sz="750" dirty="0"/>
          </a:p>
        </p:txBody>
      </p:sp>
      <p:sp>
        <p:nvSpPr>
          <p:cNvPr id="28" name="Text 24"/>
          <p:cNvSpPr/>
          <p:nvPr/>
        </p:nvSpPr>
        <p:spPr>
          <a:xfrm>
            <a:off x="6816923" y="2002427"/>
            <a:ext cx="1698427" cy="203988"/>
          </a:xfrm>
          <a:prstGeom prst="rect">
            <a:avLst/>
          </a:prstGeom>
          <a:noFill/>
          <a:ln/>
        </p:spPr>
        <p:txBody>
          <a:bodyPr wrap="none" lIns="0" tIns="0" rIns="0" bIns="0" rtlCol="0" anchor="t">
            <a:spAutoFit/>
          </a:bodyPr>
          <a:lstStyle/>
          <a:p>
            <a:pPr algn="l" indent="0" marL="0">
              <a:lnSpc>
                <a:spcPct val="81600"/>
              </a:lnSpc>
              <a:buNone/>
            </a:pPr>
            <a:r>
              <a:rPr lang="en-US" sz="1400" b="1" dirty="0">
                <a:solidFill>
                  <a:srgbClr val="0B1020"/>
                </a:solidFill>
                <a:latin typeface="Arial" pitchFamily="34" charset="0"/>
                <a:ea typeface="Arial" pitchFamily="34" charset="-122"/>
                <a:cs typeface="Arial" pitchFamily="34" charset="-120"/>
              </a:rPr>
              <a:t>EVIDENCE LOOP</a:t>
            </a:r>
            <a:endParaRPr lang="en-US" sz="1400" dirty="0"/>
          </a:p>
        </p:txBody>
      </p:sp>
      <p:sp>
        <p:nvSpPr>
          <p:cNvPr id="29" name="Text 25"/>
          <p:cNvSpPr/>
          <p:nvPr/>
        </p:nvSpPr>
        <p:spPr>
          <a:xfrm>
            <a:off x="6816923" y="2530060"/>
            <a:ext cx="1698427" cy="466297"/>
          </a:xfrm>
          <a:prstGeom prst="rect">
            <a:avLst/>
          </a:prstGeom>
          <a:noFill/>
          <a:ln/>
        </p:spPr>
        <p:txBody>
          <a:bodyPr wrap="square" lIns="0" tIns="0" rIns="0" bIns="0" rtlCol="0" anchor="t">
            <a:spAutoFit/>
          </a:bodyPr>
          <a:lstStyle/>
          <a:p>
            <a:pPr algn="l" indent="0" marL="0">
              <a:lnSpc>
                <a:spcPct val="102400"/>
              </a:lnSpc>
              <a:buNone/>
            </a:pPr>
            <a:r>
              <a:rPr lang="en-US" sz="900" dirty="0">
                <a:solidFill>
                  <a:srgbClr val="334155"/>
                </a:solidFill>
                <a:latin typeface="Arial" pitchFamily="34" charset="0"/>
                <a:ea typeface="Arial" pitchFamily="34" charset="-122"/>
                <a:cs typeface="Arial" pitchFamily="34" charset="-120"/>
              </a:rPr>
              <a:t>Metrics, dashboard, retained history, thresholds, and regression response.</a:t>
            </a:r>
            <a:endParaRPr lang="en-US" sz="900" dirty="0"/>
          </a:p>
        </p:txBody>
      </p:sp>
      <p:sp>
        <p:nvSpPr>
          <p:cNvPr id="30" name="Text 26"/>
          <p:cNvSpPr/>
          <p:nvPr/>
        </p:nvSpPr>
        <p:spPr>
          <a:xfrm>
            <a:off x="6816923" y="3320002"/>
            <a:ext cx="1698427" cy="230386"/>
          </a:xfrm>
          <a:prstGeom prst="rect">
            <a:avLst/>
          </a:prstGeom>
          <a:noFill/>
          <a:ln/>
        </p:spPr>
        <p:txBody>
          <a:bodyPr wrap="square" lIns="0" tIns="127508" rIns="0" bIns="0" rtlCol="0" anchor="t">
            <a:spAutoFit/>
          </a:bodyPr>
          <a:lstStyle/>
          <a:p>
            <a:pPr algn="l" indent="0" marL="0">
              <a:lnSpc>
                <a:spcPct val="100000"/>
              </a:lnSpc>
              <a:buNone/>
            </a:pPr>
            <a:r>
              <a:rPr lang="en-US" sz="650" b="1" spc="1" kern="0" dirty="0">
                <a:solidFill>
                  <a:srgbClr val="334155"/>
                </a:solidFill>
                <a:latin typeface="Arial" pitchFamily="34" charset="0"/>
                <a:ea typeface="Arial" pitchFamily="34" charset="-122"/>
                <a:cs typeface="Arial" pitchFamily="34" charset="-120"/>
              </a:rPr>
              <a:t>FACTS · TRENDS · DECISIONS</a:t>
            </a:r>
            <a:endParaRPr lang="en-US" sz="650" dirty="0"/>
          </a:p>
        </p:txBody>
      </p:sp>
      <p:sp>
        <p:nvSpPr>
          <p:cNvPr id="31" name="Text 27"/>
          <p:cNvSpPr/>
          <p:nvPr/>
        </p:nvSpPr>
        <p:spPr>
          <a:xfrm>
            <a:off x="485775" y="3679031"/>
            <a:ext cx="1984177" cy="185738"/>
          </a:xfrm>
          <a:prstGeom prst="rect">
            <a:avLst/>
          </a:prstGeom>
          <a:noFill/>
          <a:ln/>
        </p:spPr>
        <p:txBody>
          <a:bodyPr wrap="none" lIns="0" tIns="0" rIns="0" bIns="0" rtlCol="0" anchor="t">
            <a:spAutoFit/>
          </a:bodyPr>
          <a:lstStyle/>
          <a:p>
            <a:pPr algn="r" indent="0" marL="0">
              <a:lnSpc>
                <a:spcPct val="80000"/>
              </a:lnSpc>
              <a:buNone/>
            </a:pPr>
            <a:r>
              <a:rPr lang="en-US" sz="1300" b="1" dirty="0">
                <a:solidFill>
                  <a:srgbClr val="A3E635"/>
                </a:solidFill>
                <a:latin typeface="Arial" pitchFamily="34" charset="0"/>
                <a:ea typeface="Arial" pitchFamily="34" charset="-122"/>
                <a:cs typeface="Arial" pitchFamily="34" charset="-120"/>
              </a:rPr>
              <a:t>→</a:t>
            </a:r>
            <a:endParaRPr lang="en-US" sz="1300" dirty="0"/>
          </a:p>
        </p:txBody>
      </p:sp>
      <p:sp>
        <p:nvSpPr>
          <p:cNvPr id="32" name="Text 28"/>
          <p:cNvSpPr/>
          <p:nvPr/>
        </p:nvSpPr>
        <p:spPr>
          <a:xfrm>
            <a:off x="2548533" y="3679031"/>
            <a:ext cx="1984177" cy="185738"/>
          </a:xfrm>
          <a:prstGeom prst="rect">
            <a:avLst/>
          </a:prstGeom>
          <a:noFill/>
          <a:ln/>
        </p:spPr>
        <p:txBody>
          <a:bodyPr wrap="none" lIns="0" tIns="0" rIns="0" bIns="0" rtlCol="0" anchor="t">
            <a:spAutoFit/>
          </a:bodyPr>
          <a:lstStyle/>
          <a:p>
            <a:pPr algn="r" indent="0" marL="0">
              <a:lnSpc>
                <a:spcPct val="80000"/>
              </a:lnSpc>
              <a:buNone/>
            </a:pPr>
            <a:r>
              <a:rPr lang="en-US" sz="1300" b="1" dirty="0">
                <a:solidFill>
                  <a:srgbClr val="A3E635"/>
                </a:solidFill>
                <a:latin typeface="Arial" pitchFamily="34" charset="0"/>
                <a:ea typeface="Arial" pitchFamily="34" charset="-122"/>
                <a:cs typeface="Arial" pitchFamily="34" charset="-120"/>
              </a:rPr>
              <a:t>→</a:t>
            </a:r>
            <a:endParaRPr lang="en-US" sz="1300" dirty="0"/>
          </a:p>
        </p:txBody>
      </p:sp>
      <p:sp>
        <p:nvSpPr>
          <p:cNvPr id="33" name="Text 29"/>
          <p:cNvSpPr/>
          <p:nvPr/>
        </p:nvSpPr>
        <p:spPr>
          <a:xfrm>
            <a:off x="4611291" y="3679031"/>
            <a:ext cx="1984177" cy="185738"/>
          </a:xfrm>
          <a:prstGeom prst="rect">
            <a:avLst/>
          </a:prstGeom>
          <a:noFill/>
          <a:ln/>
        </p:spPr>
        <p:txBody>
          <a:bodyPr wrap="none" lIns="0" tIns="0" rIns="0" bIns="0" rtlCol="0" anchor="t">
            <a:spAutoFit/>
          </a:bodyPr>
          <a:lstStyle/>
          <a:p>
            <a:pPr algn="r" indent="0" marL="0">
              <a:lnSpc>
                <a:spcPct val="80000"/>
              </a:lnSpc>
              <a:buNone/>
            </a:pPr>
            <a:r>
              <a:rPr lang="en-US" sz="1300" b="1" dirty="0">
                <a:solidFill>
                  <a:srgbClr val="A3E635"/>
                </a:solidFill>
                <a:latin typeface="Arial" pitchFamily="34" charset="0"/>
                <a:ea typeface="Arial" pitchFamily="34" charset="-122"/>
                <a:cs typeface="Arial" pitchFamily="34" charset="-120"/>
              </a:rPr>
              <a:t>→</a:t>
            </a:r>
            <a:endParaRPr lang="en-US" sz="1300" dirty="0"/>
          </a:p>
        </p:txBody>
      </p:sp>
      <p:sp>
        <p:nvSpPr>
          <p:cNvPr id="34" name="Text 30"/>
          <p:cNvSpPr/>
          <p:nvPr/>
        </p:nvSpPr>
        <p:spPr>
          <a:xfrm>
            <a:off x="6674048" y="3679031"/>
            <a:ext cx="1984177" cy="185738"/>
          </a:xfrm>
          <a:prstGeom prst="rect">
            <a:avLst/>
          </a:prstGeom>
          <a:noFill/>
          <a:ln/>
        </p:spPr>
        <p:txBody>
          <a:bodyPr wrap="none" lIns="0" tIns="0" rIns="0" bIns="0" rtlCol="0" anchor="t">
            <a:spAutoFit/>
          </a:bodyPr>
          <a:lstStyle/>
          <a:p>
            <a:pPr algn="r" indent="0" marL="0">
              <a:lnSpc>
                <a:spcPct val="80000"/>
              </a:lnSpc>
              <a:buNone/>
            </a:pPr>
            <a:r>
              <a:rPr lang="en-US" sz="1300" b="1" dirty="0">
                <a:solidFill>
                  <a:srgbClr val="A3E635"/>
                </a:solidFill>
                <a:latin typeface="Arial" pitchFamily="34" charset="0"/>
                <a:ea typeface="Arial" pitchFamily="34" charset="-122"/>
                <a:cs typeface="Arial" pitchFamily="34" charset="-120"/>
              </a:rPr>
              <a:t>↺</a:t>
            </a:r>
            <a:endParaRPr lang="en-US" sz="1300" dirty="0"/>
          </a:p>
        </p:txBody>
      </p:sp>
      <p:sp>
        <p:nvSpPr>
          <p:cNvPr id="35" name="Shape 31"/>
          <p:cNvSpPr/>
          <p:nvPr/>
        </p:nvSpPr>
        <p:spPr>
          <a:xfrm>
            <a:off x="485775" y="4064794"/>
            <a:ext cx="8172450" cy="671513"/>
          </a:xfrm>
          <a:prstGeom prst="rect">
            <a:avLst/>
          </a:prstGeom>
          <a:solidFill>
            <a:srgbClr val="38BDF8"/>
          </a:solidFill>
          <a:ln/>
        </p:spPr>
      </p:sp>
      <p:sp>
        <p:nvSpPr>
          <p:cNvPr id="36" name="Shape 32"/>
          <p:cNvSpPr/>
          <p:nvPr/>
        </p:nvSpPr>
        <p:spPr>
          <a:xfrm>
            <a:off x="485775" y="4064794"/>
            <a:ext cx="2214563" cy="671513"/>
          </a:xfrm>
          <a:prstGeom prst="rect">
            <a:avLst/>
          </a:prstGeom>
          <a:solidFill>
            <a:srgbClr val="A3E635"/>
          </a:solidFill>
          <a:ln/>
        </p:spPr>
      </p:sp>
      <p:sp>
        <p:nvSpPr>
          <p:cNvPr id="37" name="Text 33"/>
          <p:cNvSpPr/>
          <p:nvPr/>
        </p:nvSpPr>
        <p:spPr>
          <a:xfrm>
            <a:off x="485775" y="4064794"/>
            <a:ext cx="2214563" cy="671513"/>
          </a:xfrm>
          <a:prstGeom prst="rect">
            <a:avLst/>
          </a:prstGeom>
          <a:noFill/>
          <a:ln/>
        </p:spPr>
        <p:txBody>
          <a:bodyPr wrap="square" lIns="187071" tIns="246634" rIns="153035" bIns="0" rtlCol="0" anchor="t">
            <a:spAutoFit/>
          </a:bodyPr>
          <a:lstStyle/>
          <a:p>
            <a:pPr algn="l" indent="0" marL="0">
              <a:lnSpc>
                <a:spcPct val="88000"/>
              </a:lnSpc>
              <a:buNone/>
            </a:pPr>
            <a:r>
              <a:rPr lang="en-US" sz="800" b="1" spc="1" kern="0" dirty="0">
                <a:solidFill>
                  <a:srgbClr val="0B1020"/>
                </a:solidFill>
                <a:latin typeface="Arial" pitchFamily="34" charset="0"/>
                <a:ea typeface="Arial" pitchFamily="34" charset="-122"/>
                <a:cs typeface="Arial" pitchFamily="34" charset="-120"/>
              </a:rPr>
              <a:t>UNIFIED OUTCOME</a:t>
            </a:r>
            <a:endParaRPr lang="en-US" sz="800" dirty="0"/>
          </a:p>
        </p:txBody>
      </p:sp>
      <p:sp>
        <p:nvSpPr>
          <p:cNvPr id="38" name="Text 34"/>
          <p:cNvSpPr/>
          <p:nvPr/>
        </p:nvSpPr>
        <p:spPr>
          <a:xfrm>
            <a:off x="2700338" y="4064794"/>
            <a:ext cx="5957888" cy="671513"/>
          </a:xfrm>
          <a:prstGeom prst="rect">
            <a:avLst/>
          </a:prstGeom>
          <a:noFill/>
          <a:ln/>
        </p:spPr>
        <p:txBody>
          <a:bodyPr wrap="square" lIns="221107" tIns="204089" rIns="212598" bIns="0" rtlCol="0" anchor="t">
            <a:spAutoFit/>
          </a:bodyPr>
          <a:lstStyle/>
          <a:p>
            <a:pPr algn="l" indent="0" marL="0">
              <a:lnSpc>
                <a:spcPct val="99200"/>
              </a:lnSpc>
              <a:buNone/>
            </a:pPr>
            <a:r>
              <a:rPr lang="en-US" sz="1150" dirty="0">
                <a:solidFill>
                  <a:srgbClr val="0B1020"/>
                </a:solidFill>
                <a:latin typeface="Arial" pitchFamily="34" charset="0"/>
                <a:ea typeface="Arial" pitchFamily="34" charset="-122"/>
                <a:cs typeface="Arial" pitchFamily="34" charset="-120"/>
              </a:rPr>
              <a:t>Reliable onboarding verification that is safe to operate, easy to inspect, and hard to degrade silently.</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85775" y="342900"/>
            <a:ext cx="8172450" cy="100013"/>
          </a:xfrm>
          <a:prstGeom prst="rect">
            <a:avLst/>
          </a:prstGeom>
          <a:noFill/>
          <a:ln/>
        </p:spPr>
        <p:txBody>
          <a:bodyPr wrap="none" lIns="0" tIns="0" rIns="0" bIns="0" rtlCol="0" anchor="t">
            <a:spAutoFit/>
          </a:bodyPr>
          <a:lstStyle/>
          <a:p>
            <a:pPr algn="l" indent="0" marL="0">
              <a:lnSpc>
                <a:spcPct val="80000"/>
              </a:lnSpc>
              <a:buNone/>
            </a:pPr>
            <a:r>
              <a:rPr lang="en-US" sz="700" b="1" spc="2" kern="0" dirty="0">
                <a:solidFill>
                  <a:srgbClr val="A3E635"/>
                </a:solidFill>
                <a:latin typeface="Arial" pitchFamily="34" charset="0"/>
                <a:ea typeface="Arial" pitchFamily="34" charset="-122"/>
                <a:cs typeface="Arial" pitchFamily="34" charset="-120"/>
              </a:rPr>
              <a:t>PLANNING DISCIPLINE</a:t>
            </a:r>
            <a:endParaRPr lang="en-US" sz="700" dirty="0"/>
          </a:p>
        </p:txBody>
      </p:sp>
      <p:sp>
        <p:nvSpPr>
          <p:cNvPr id="5" name="Text 1"/>
          <p:cNvSpPr/>
          <p:nvPr/>
        </p:nvSpPr>
        <p:spPr>
          <a:xfrm>
            <a:off x="485775" y="514350"/>
            <a:ext cx="8172450" cy="300038"/>
          </a:xfrm>
          <a:prstGeom prst="rect">
            <a:avLst/>
          </a:prstGeom>
          <a:noFill/>
          <a:ln/>
        </p:spPr>
        <p:txBody>
          <a:bodyPr wrap="none" lIns="0" tIns="0" rIns="0" bIns="0" rtlCol="0" anchor="t">
            <a:spAutoFit/>
          </a:bodyPr>
          <a:lstStyle/>
          <a:p>
            <a:pPr algn="l" indent="0" marL="0">
              <a:lnSpc>
                <a:spcPct val="80000"/>
              </a:lnSpc>
              <a:buNone/>
            </a:pPr>
            <a:r>
              <a:rPr lang="en-US" sz="2100" b="1" spc="-1" kern="0" dirty="0">
                <a:solidFill>
                  <a:srgbClr val="F8FAFC"/>
                </a:solidFill>
                <a:latin typeface="Arial" pitchFamily="34" charset="0"/>
                <a:ea typeface="Arial" pitchFamily="34" charset="-122"/>
                <a:cs typeface="Arial" pitchFamily="34" charset="-120"/>
              </a:rPr>
              <a:t>BOUND THE JOURNEY BEFORE CODING</a:t>
            </a:r>
            <a:endParaRPr lang="en-US" sz="2100" dirty="0"/>
          </a:p>
        </p:txBody>
      </p:sp>
      <p:sp>
        <p:nvSpPr>
          <p:cNvPr id="6" name="Text 2"/>
          <p:cNvSpPr/>
          <p:nvPr/>
        </p:nvSpPr>
        <p:spPr>
          <a:xfrm>
            <a:off x="485775" y="900113"/>
            <a:ext cx="6858000" cy="371475"/>
          </a:xfrm>
          <a:prstGeom prst="rect">
            <a:avLst/>
          </a:prstGeom>
          <a:noFill/>
          <a:ln/>
        </p:spPr>
        <p:txBody>
          <a:bodyPr wrap="square" lIns="0" tIns="0" rIns="0" bIns="0" rtlCol="0" anchor="t">
            <a:spAutoFit/>
          </a:bodyPr>
          <a:lstStyle/>
          <a:p>
            <a:pPr algn="l" indent="0" marL="0">
              <a:lnSpc>
                <a:spcPct val="104000"/>
              </a:lnSpc>
              <a:buNone/>
            </a:pPr>
            <a:r>
              <a:rPr lang="en-US" sz="1050" dirty="0">
                <a:solidFill>
                  <a:srgbClr val="CBD5E1"/>
                </a:solidFill>
                <a:latin typeface="Arial" pitchFamily="34" charset="0"/>
                <a:ea typeface="Arial" pitchFamily="34" charset="-122"/>
                <a:cs typeface="Arial" pitchFamily="34" charset="-120"/>
              </a:rPr>
              <a:t>The skill requires four decisions before stateful automation begins: what success means, what proves it, where it runs, and how it remains configurable.</a:t>
            </a:r>
            <a:endParaRPr lang="en-US" sz="1050" dirty="0"/>
          </a:p>
        </p:txBody>
      </p:sp>
      <p:sp>
        <p:nvSpPr>
          <p:cNvPr id="7" name="Shape 3"/>
          <p:cNvSpPr/>
          <p:nvPr/>
        </p:nvSpPr>
        <p:spPr>
          <a:xfrm>
            <a:off x="485775" y="1521619"/>
            <a:ext cx="1984177" cy="2057400"/>
          </a:xfrm>
          <a:prstGeom prst="rect">
            <a:avLst/>
          </a:prstGeom>
          <a:solidFill>
            <a:srgbClr val="F8FAFC"/>
          </a:solidFill>
          <a:ln/>
        </p:spPr>
      </p:sp>
      <p:sp>
        <p:nvSpPr>
          <p:cNvPr id="8" name="Shape 4"/>
          <p:cNvSpPr/>
          <p:nvPr/>
        </p:nvSpPr>
        <p:spPr>
          <a:xfrm>
            <a:off x="485775" y="1521619"/>
            <a:ext cx="1984177" cy="50006"/>
          </a:xfrm>
          <a:prstGeom prst="rect">
            <a:avLst/>
          </a:prstGeom>
          <a:solidFill>
            <a:srgbClr val="38BDF8"/>
          </a:solidFill>
          <a:ln/>
        </p:spPr>
      </p:sp>
      <p:sp>
        <p:nvSpPr>
          <p:cNvPr id="9" name="Text 5"/>
          <p:cNvSpPr/>
          <p:nvPr/>
        </p:nvSpPr>
        <p:spPr>
          <a:xfrm>
            <a:off x="628650" y="1678781"/>
            <a:ext cx="1705570" cy="228600"/>
          </a:xfrm>
          <a:prstGeom prst="rect">
            <a:avLst/>
          </a:prstGeom>
          <a:noFill/>
          <a:ln/>
        </p:spPr>
        <p:txBody>
          <a:bodyPr wrap="none" lIns="0" tIns="0" rIns="0" bIns="0" rtlCol="0" anchor="t">
            <a:spAutoFit/>
          </a:bodyPr>
          <a:lstStyle/>
          <a:p>
            <a:pPr algn="l" indent="0" marL="0">
              <a:lnSpc>
                <a:spcPct val="80000"/>
              </a:lnSpc>
              <a:buNone/>
            </a:pPr>
            <a:r>
              <a:rPr lang="en-US" sz="1600" b="1" dirty="0">
                <a:solidFill>
                  <a:srgbClr val="38BDF8"/>
                </a:solidFill>
                <a:latin typeface="Arial" pitchFamily="34" charset="0"/>
                <a:ea typeface="Arial" pitchFamily="34" charset="-122"/>
                <a:cs typeface="Arial" pitchFamily="34" charset="-120"/>
              </a:rPr>
              <a:t>01</a:t>
            </a:r>
            <a:endParaRPr lang="en-US" sz="1600" dirty="0"/>
          </a:p>
        </p:txBody>
      </p:sp>
      <p:sp>
        <p:nvSpPr>
          <p:cNvPr id="10" name="Text 6"/>
          <p:cNvSpPr/>
          <p:nvPr/>
        </p:nvSpPr>
        <p:spPr>
          <a:xfrm>
            <a:off x="628650" y="2053772"/>
            <a:ext cx="1705570" cy="338435"/>
          </a:xfrm>
          <a:prstGeom prst="rect">
            <a:avLst/>
          </a:prstGeom>
          <a:noFill/>
          <a:ln/>
        </p:spPr>
        <p:txBody>
          <a:bodyPr wrap="square" lIns="0" tIns="0" rIns="0" bIns="0" rtlCol="0" anchor="t">
            <a:spAutoFit/>
          </a:bodyPr>
          <a:lstStyle/>
          <a:p>
            <a:pPr algn="l" indent="0" marL="0">
              <a:lnSpc>
                <a:spcPct val="82400"/>
              </a:lnSpc>
              <a:buNone/>
            </a:pPr>
            <a:r>
              <a:rPr lang="en-US" sz="1150" b="1" dirty="0">
                <a:solidFill>
                  <a:srgbClr val="0B1020"/>
                </a:solidFill>
                <a:latin typeface="Arial" pitchFamily="34" charset="0"/>
                <a:ea typeface="Arial" pitchFamily="34" charset="-122"/>
                <a:cs typeface="Arial" pitchFamily="34" charset="-120"/>
              </a:rPr>
              <a:t>ACTIVATION OUTCOME</a:t>
            </a:r>
            <a:endParaRPr lang="en-US" sz="1150" dirty="0"/>
          </a:p>
        </p:txBody>
      </p:sp>
      <p:sp>
        <p:nvSpPr>
          <p:cNvPr id="11" name="Text 7"/>
          <p:cNvSpPr/>
          <p:nvPr/>
        </p:nvSpPr>
        <p:spPr>
          <a:xfrm>
            <a:off x="628650" y="2538599"/>
            <a:ext cx="1705570" cy="580430"/>
          </a:xfrm>
          <a:prstGeom prst="rect">
            <a:avLst/>
          </a:prstGeom>
          <a:noFill/>
          <a:ln/>
        </p:spPr>
        <p:txBody>
          <a:bodyPr wrap="square" lIns="0" tIns="0" rIns="0" bIns="0" rtlCol="0" anchor="t">
            <a:spAutoFit/>
          </a:bodyPr>
          <a:lstStyle/>
          <a:p>
            <a:pPr algn="l" indent="0" marL="0">
              <a:lnSpc>
                <a:spcPct val="101600"/>
              </a:lnSpc>
              <a:buNone/>
            </a:pPr>
            <a:r>
              <a:rPr lang="en-US" sz="850" dirty="0">
                <a:solidFill>
                  <a:srgbClr val="334155"/>
                </a:solidFill>
                <a:latin typeface="Arial" pitchFamily="34" charset="0"/>
                <a:ea typeface="Arial" pitchFamily="34" charset="-122"/>
                <a:cs typeface="Arial" pitchFamily="34" charset="-120"/>
              </a:rPr>
              <a:t>Choose one concrete new-user win: create a project, import a record, invite a teammate, or complete a first workflow.</a:t>
            </a:r>
            <a:endParaRPr lang="en-US" sz="850" dirty="0"/>
          </a:p>
        </p:txBody>
      </p:sp>
      <p:sp>
        <p:nvSpPr>
          <p:cNvPr id="12" name="Text 8"/>
          <p:cNvSpPr/>
          <p:nvPr/>
        </p:nvSpPr>
        <p:spPr>
          <a:xfrm>
            <a:off x="628650" y="3265419"/>
            <a:ext cx="1705570" cy="313544"/>
          </a:xfrm>
          <a:prstGeom prst="rect">
            <a:avLst/>
          </a:prstGeom>
          <a:noFill/>
          <a:ln/>
        </p:spPr>
        <p:txBody>
          <a:bodyPr wrap="square" lIns="0" tIns="110617" rIns="0" bIns="0" rtlCol="0" anchor="t">
            <a:spAutoFit/>
          </a:bodyPr>
          <a:lstStyle/>
          <a:p>
            <a:pPr algn="l" indent="0" marL="0">
              <a:lnSpc>
                <a:spcPct val="92000"/>
              </a:lnSpc>
              <a:buNone/>
            </a:pPr>
            <a:r>
              <a:rPr lang="en-US" sz="650" b="1" spc="1" kern="0" dirty="0">
                <a:solidFill>
                  <a:srgbClr val="334155"/>
                </a:solidFill>
                <a:latin typeface="Arial" pitchFamily="34" charset="0"/>
                <a:ea typeface="Arial" pitchFamily="34" charset="-122"/>
                <a:cs typeface="Arial" pitchFamily="34" charset="-120"/>
              </a:rPr>
              <a:t>QUESTION: WHAT SHOULD THE USER ACHIEVE?</a:t>
            </a:r>
            <a:endParaRPr lang="en-US" sz="650" dirty="0"/>
          </a:p>
        </p:txBody>
      </p:sp>
      <p:sp>
        <p:nvSpPr>
          <p:cNvPr id="13" name="Shape 9"/>
          <p:cNvSpPr/>
          <p:nvPr/>
        </p:nvSpPr>
        <p:spPr>
          <a:xfrm>
            <a:off x="2548533" y="1521619"/>
            <a:ext cx="1984177" cy="2057400"/>
          </a:xfrm>
          <a:prstGeom prst="rect">
            <a:avLst/>
          </a:prstGeom>
          <a:solidFill>
            <a:srgbClr val="F8FAFC"/>
          </a:solidFill>
          <a:ln/>
        </p:spPr>
      </p:sp>
      <p:sp>
        <p:nvSpPr>
          <p:cNvPr id="14" name="Shape 10"/>
          <p:cNvSpPr/>
          <p:nvPr/>
        </p:nvSpPr>
        <p:spPr>
          <a:xfrm>
            <a:off x="2548533" y="1521619"/>
            <a:ext cx="1984177" cy="50006"/>
          </a:xfrm>
          <a:prstGeom prst="rect">
            <a:avLst/>
          </a:prstGeom>
          <a:solidFill>
            <a:srgbClr val="A3E635"/>
          </a:solidFill>
          <a:ln/>
        </p:spPr>
      </p:sp>
      <p:sp>
        <p:nvSpPr>
          <p:cNvPr id="15" name="Text 11"/>
          <p:cNvSpPr/>
          <p:nvPr/>
        </p:nvSpPr>
        <p:spPr>
          <a:xfrm>
            <a:off x="2691408" y="1678781"/>
            <a:ext cx="1705570" cy="228600"/>
          </a:xfrm>
          <a:prstGeom prst="rect">
            <a:avLst/>
          </a:prstGeom>
          <a:noFill/>
          <a:ln/>
        </p:spPr>
        <p:txBody>
          <a:bodyPr wrap="none" lIns="0" tIns="0" rIns="0" bIns="0" rtlCol="0" anchor="t">
            <a:spAutoFit/>
          </a:bodyPr>
          <a:lstStyle/>
          <a:p>
            <a:pPr algn="l" indent="0" marL="0">
              <a:lnSpc>
                <a:spcPct val="80000"/>
              </a:lnSpc>
              <a:buNone/>
            </a:pPr>
            <a:r>
              <a:rPr lang="en-US" sz="1600" b="1" dirty="0">
                <a:solidFill>
                  <a:srgbClr val="65A30D"/>
                </a:solidFill>
                <a:latin typeface="Arial" pitchFamily="34" charset="0"/>
                <a:ea typeface="Arial" pitchFamily="34" charset="-122"/>
                <a:cs typeface="Arial" pitchFamily="34" charset="-120"/>
              </a:rPr>
              <a:t>02</a:t>
            </a:r>
            <a:endParaRPr lang="en-US" sz="1600" dirty="0"/>
          </a:p>
        </p:txBody>
      </p:sp>
      <p:sp>
        <p:nvSpPr>
          <p:cNvPr id="16" name="Text 12"/>
          <p:cNvSpPr/>
          <p:nvPr/>
        </p:nvSpPr>
        <p:spPr>
          <a:xfrm>
            <a:off x="2691408" y="2110197"/>
            <a:ext cx="1705570" cy="169218"/>
          </a:xfrm>
          <a:prstGeom prst="rect">
            <a:avLst/>
          </a:prstGeom>
          <a:noFill/>
          <a:ln/>
        </p:spPr>
        <p:txBody>
          <a:bodyPr wrap="none" lIns="0" tIns="0" rIns="0" bIns="0" rtlCol="0" anchor="t">
            <a:spAutoFit/>
          </a:bodyPr>
          <a:lstStyle/>
          <a:p>
            <a:pPr algn="l" indent="0" marL="0">
              <a:lnSpc>
                <a:spcPct val="82400"/>
              </a:lnSpc>
              <a:buNone/>
            </a:pPr>
            <a:r>
              <a:rPr lang="en-US" sz="1150" b="1" dirty="0">
                <a:solidFill>
                  <a:srgbClr val="0B1020"/>
                </a:solidFill>
                <a:latin typeface="Arial" pitchFamily="34" charset="0"/>
                <a:ea typeface="Arial" pitchFamily="34" charset="-122"/>
                <a:cs typeface="Arial" pitchFamily="34" charset="-120"/>
              </a:rPr>
              <a:t>UI EVIDENCE</a:t>
            </a:r>
            <a:endParaRPr lang="en-US" sz="1150" dirty="0"/>
          </a:p>
        </p:txBody>
      </p:sp>
      <p:sp>
        <p:nvSpPr>
          <p:cNvPr id="17" name="Text 13"/>
          <p:cNvSpPr/>
          <p:nvPr/>
        </p:nvSpPr>
        <p:spPr>
          <a:xfrm>
            <a:off x="2691408" y="2482230"/>
            <a:ext cx="1705570" cy="580430"/>
          </a:xfrm>
          <a:prstGeom prst="rect">
            <a:avLst/>
          </a:prstGeom>
          <a:noFill/>
          <a:ln/>
        </p:spPr>
        <p:txBody>
          <a:bodyPr wrap="square" lIns="0" tIns="0" rIns="0" bIns="0" rtlCol="0" anchor="t">
            <a:spAutoFit/>
          </a:bodyPr>
          <a:lstStyle/>
          <a:p>
            <a:pPr algn="l" indent="0" marL="0">
              <a:lnSpc>
                <a:spcPct val="101600"/>
              </a:lnSpc>
              <a:buNone/>
            </a:pPr>
            <a:r>
              <a:rPr lang="en-US" sz="850" dirty="0">
                <a:solidFill>
                  <a:srgbClr val="334155"/>
                </a:solidFill>
                <a:latin typeface="Arial" pitchFamily="34" charset="0"/>
                <a:ea typeface="Arial" pitchFamily="34" charset="-122"/>
                <a:cs typeface="Arial" pitchFamily="34" charset="-120"/>
              </a:rPr>
              <a:t>Define observable confirmation at each stop: visible state, selected view, created record, or success message.</a:t>
            </a:r>
            <a:endParaRPr lang="en-US" sz="850" dirty="0"/>
          </a:p>
        </p:txBody>
      </p:sp>
      <p:sp>
        <p:nvSpPr>
          <p:cNvPr id="18" name="Text 14"/>
          <p:cNvSpPr/>
          <p:nvPr/>
        </p:nvSpPr>
        <p:spPr>
          <a:xfrm>
            <a:off x="2691408" y="3265475"/>
            <a:ext cx="1705570" cy="313544"/>
          </a:xfrm>
          <a:prstGeom prst="rect">
            <a:avLst/>
          </a:prstGeom>
          <a:noFill/>
          <a:ln/>
        </p:spPr>
        <p:txBody>
          <a:bodyPr wrap="square" lIns="0" tIns="110617" rIns="0" bIns="0" rtlCol="0" anchor="t">
            <a:spAutoFit/>
          </a:bodyPr>
          <a:lstStyle/>
          <a:p>
            <a:pPr algn="l" indent="0" marL="0">
              <a:lnSpc>
                <a:spcPct val="92000"/>
              </a:lnSpc>
              <a:buNone/>
            </a:pPr>
            <a:r>
              <a:rPr lang="en-US" sz="650" b="1" spc="1" kern="0" dirty="0">
                <a:solidFill>
                  <a:srgbClr val="334155"/>
                </a:solidFill>
                <a:latin typeface="Arial" pitchFamily="34" charset="0"/>
                <a:ea typeface="Arial" pitchFamily="34" charset="-122"/>
                <a:cs typeface="Arial" pitchFamily="34" charset="-120"/>
              </a:rPr>
              <a:t>QUESTION: WHAT PROVES SUCCESS?</a:t>
            </a:r>
            <a:endParaRPr lang="en-US" sz="650" dirty="0"/>
          </a:p>
        </p:txBody>
      </p:sp>
      <p:sp>
        <p:nvSpPr>
          <p:cNvPr id="19" name="Shape 15"/>
          <p:cNvSpPr/>
          <p:nvPr/>
        </p:nvSpPr>
        <p:spPr>
          <a:xfrm>
            <a:off x="4611291" y="1521619"/>
            <a:ext cx="1984177" cy="2057400"/>
          </a:xfrm>
          <a:prstGeom prst="rect">
            <a:avLst/>
          </a:prstGeom>
          <a:solidFill>
            <a:srgbClr val="F8FAFC"/>
          </a:solidFill>
          <a:ln/>
        </p:spPr>
      </p:sp>
      <p:sp>
        <p:nvSpPr>
          <p:cNvPr id="20" name="Shape 16"/>
          <p:cNvSpPr/>
          <p:nvPr/>
        </p:nvSpPr>
        <p:spPr>
          <a:xfrm>
            <a:off x="4611291" y="1521619"/>
            <a:ext cx="1984177" cy="50006"/>
          </a:xfrm>
          <a:prstGeom prst="rect">
            <a:avLst/>
          </a:prstGeom>
          <a:solidFill>
            <a:srgbClr val="38BDF8"/>
          </a:solidFill>
          <a:ln/>
        </p:spPr>
      </p:sp>
      <p:sp>
        <p:nvSpPr>
          <p:cNvPr id="21" name="Text 17"/>
          <p:cNvSpPr/>
          <p:nvPr/>
        </p:nvSpPr>
        <p:spPr>
          <a:xfrm>
            <a:off x="4754166" y="1678781"/>
            <a:ext cx="1705570" cy="228600"/>
          </a:xfrm>
          <a:prstGeom prst="rect">
            <a:avLst/>
          </a:prstGeom>
          <a:noFill/>
          <a:ln/>
        </p:spPr>
        <p:txBody>
          <a:bodyPr wrap="none" lIns="0" tIns="0" rIns="0" bIns="0" rtlCol="0" anchor="t">
            <a:spAutoFit/>
          </a:bodyPr>
          <a:lstStyle/>
          <a:p>
            <a:pPr algn="l" indent="0" marL="0">
              <a:lnSpc>
                <a:spcPct val="80000"/>
              </a:lnSpc>
              <a:buNone/>
            </a:pPr>
            <a:r>
              <a:rPr lang="en-US" sz="1600" b="1" dirty="0">
                <a:solidFill>
                  <a:srgbClr val="38BDF8"/>
                </a:solidFill>
                <a:latin typeface="Arial" pitchFamily="34" charset="0"/>
                <a:ea typeface="Arial" pitchFamily="34" charset="-122"/>
                <a:cs typeface="Arial" pitchFamily="34" charset="-120"/>
              </a:rPr>
              <a:t>03</a:t>
            </a:r>
            <a:endParaRPr lang="en-US" sz="1600" dirty="0"/>
          </a:p>
        </p:txBody>
      </p:sp>
      <p:sp>
        <p:nvSpPr>
          <p:cNvPr id="22" name="Text 18"/>
          <p:cNvSpPr/>
          <p:nvPr/>
        </p:nvSpPr>
        <p:spPr>
          <a:xfrm>
            <a:off x="4754166" y="2110197"/>
            <a:ext cx="1705570" cy="169218"/>
          </a:xfrm>
          <a:prstGeom prst="rect">
            <a:avLst/>
          </a:prstGeom>
          <a:noFill/>
          <a:ln/>
        </p:spPr>
        <p:txBody>
          <a:bodyPr wrap="none" lIns="0" tIns="0" rIns="0" bIns="0" rtlCol="0" anchor="t">
            <a:spAutoFit/>
          </a:bodyPr>
          <a:lstStyle/>
          <a:p>
            <a:pPr algn="l" indent="0" marL="0">
              <a:lnSpc>
                <a:spcPct val="82400"/>
              </a:lnSpc>
              <a:buNone/>
            </a:pPr>
            <a:r>
              <a:rPr lang="en-US" sz="1150" b="1" dirty="0">
                <a:solidFill>
                  <a:srgbClr val="0B1020"/>
                </a:solidFill>
                <a:latin typeface="Arial" pitchFamily="34" charset="0"/>
                <a:ea typeface="Arial" pitchFamily="34" charset="-122"/>
                <a:cs typeface="Arial" pitchFamily="34" charset="-120"/>
              </a:rPr>
              <a:t>TEST BOUNDARY</a:t>
            </a:r>
            <a:endParaRPr lang="en-US" sz="1150" dirty="0"/>
          </a:p>
        </p:txBody>
      </p:sp>
      <p:sp>
        <p:nvSpPr>
          <p:cNvPr id="23" name="Text 19"/>
          <p:cNvSpPr/>
          <p:nvPr/>
        </p:nvSpPr>
        <p:spPr>
          <a:xfrm>
            <a:off x="4754166" y="2482230"/>
            <a:ext cx="1705570" cy="580430"/>
          </a:xfrm>
          <a:prstGeom prst="rect">
            <a:avLst/>
          </a:prstGeom>
          <a:noFill/>
          <a:ln/>
        </p:spPr>
        <p:txBody>
          <a:bodyPr wrap="square" lIns="0" tIns="0" rIns="0" bIns="0" rtlCol="0" anchor="t">
            <a:spAutoFit/>
          </a:bodyPr>
          <a:lstStyle/>
          <a:p>
            <a:pPr algn="l" indent="0" marL="0">
              <a:lnSpc>
                <a:spcPct val="101600"/>
              </a:lnSpc>
              <a:buNone/>
            </a:pPr>
            <a:r>
              <a:rPr lang="en-US" sz="850" dirty="0">
                <a:solidFill>
                  <a:srgbClr val="334155"/>
                </a:solidFill>
                <a:latin typeface="Arial" pitchFamily="34" charset="0"/>
                <a:ea typeface="Arial" pitchFamily="34" charset="-122"/>
                <a:cs typeface="Arial" pitchFamily="34" charset="-120"/>
              </a:rPr>
              <a:t>Use public pages for discovery; reserve authenticated stateful actions for a dedicated test account and workspace.</a:t>
            </a:r>
            <a:endParaRPr lang="en-US" sz="850" dirty="0"/>
          </a:p>
        </p:txBody>
      </p:sp>
      <p:sp>
        <p:nvSpPr>
          <p:cNvPr id="24" name="Text 20"/>
          <p:cNvSpPr/>
          <p:nvPr/>
        </p:nvSpPr>
        <p:spPr>
          <a:xfrm>
            <a:off x="4754166" y="3265475"/>
            <a:ext cx="1705570" cy="313544"/>
          </a:xfrm>
          <a:prstGeom prst="rect">
            <a:avLst/>
          </a:prstGeom>
          <a:noFill/>
          <a:ln/>
        </p:spPr>
        <p:txBody>
          <a:bodyPr wrap="square" lIns="0" tIns="110617" rIns="0" bIns="0" rtlCol="0" anchor="t">
            <a:spAutoFit/>
          </a:bodyPr>
          <a:lstStyle/>
          <a:p>
            <a:pPr algn="l" indent="0" marL="0">
              <a:lnSpc>
                <a:spcPct val="92000"/>
              </a:lnSpc>
              <a:buNone/>
            </a:pPr>
            <a:r>
              <a:rPr lang="en-US" sz="650" b="1" spc="1" kern="0" dirty="0">
                <a:solidFill>
                  <a:srgbClr val="334155"/>
                </a:solidFill>
                <a:latin typeface="Arial" pitchFamily="34" charset="0"/>
                <a:ea typeface="Arial" pitchFamily="34" charset="-122"/>
                <a:cs typeface="Arial" pitchFamily="34" charset="-120"/>
              </a:rPr>
              <a:t>QUESTION: WHERE IS IT SAFE TO RUN?</a:t>
            </a:r>
            <a:endParaRPr lang="en-US" sz="650" dirty="0"/>
          </a:p>
        </p:txBody>
      </p:sp>
      <p:sp>
        <p:nvSpPr>
          <p:cNvPr id="25" name="Shape 21"/>
          <p:cNvSpPr/>
          <p:nvPr/>
        </p:nvSpPr>
        <p:spPr>
          <a:xfrm>
            <a:off x="6674048" y="1521619"/>
            <a:ext cx="1984177" cy="2057400"/>
          </a:xfrm>
          <a:prstGeom prst="rect">
            <a:avLst/>
          </a:prstGeom>
          <a:solidFill>
            <a:srgbClr val="F8FAFC"/>
          </a:solidFill>
          <a:ln/>
        </p:spPr>
      </p:sp>
      <p:sp>
        <p:nvSpPr>
          <p:cNvPr id="26" name="Shape 22"/>
          <p:cNvSpPr/>
          <p:nvPr/>
        </p:nvSpPr>
        <p:spPr>
          <a:xfrm>
            <a:off x="6674048" y="1521619"/>
            <a:ext cx="1984177" cy="50006"/>
          </a:xfrm>
          <a:prstGeom prst="rect">
            <a:avLst/>
          </a:prstGeom>
          <a:solidFill>
            <a:srgbClr val="A3E635"/>
          </a:solidFill>
          <a:ln/>
        </p:spPr>
      </p:sp>
      <p:sp>
        <p:nvSpPr>
          <p:cNvPr id="27" name="Text 23"/>
          <p:cNvSpPr/>
          <p:nvPr/>
        </p:nvSpPr>
        <p:spPr>
          <a:xfrm>
            <a:off x="6816923" y="1678781"/>
            <a:ext cx="1705570" cy="228600"/>
          </a:xfrm>
          <a:prstGeom prst="rect">
            <a:avLst/>
          </a:prstGeom>
          <a:noFill/>
          <a:ln/>
        </p:spPr>
        <p:txBody>
          <a:bodyPr wrap="none" lIns="0" tIns="0" rIns="0" bIns="0" rtlCol="0" anchor="t">
            <a:spAutoFit/>
          </a:bodyPr>
          <a:lstStyle/>
          <a:p>
            <a:pPr algn="l" indent="0" marL="0">
              <a:lnSpc>
                <a:spcPct val="80000"/>
              </a:lnSpc>
              <a:buNone/>
            </a:pPr>
            <a:r>
              <a:rPr lang="en-US" sz="1600" b="1" dirty="0">
                <a:solidFill>
                  <a:srgbClr val="65A30D"/>
                </a:solidFill>
                <a:latin typeface="Arial" pitchFamily="34" charset="0"/>
                <a:ea typeface="Arial" pitchFamily="34" charset="-122"/>
                <a:cs typeface="Arial" pitchFamily="34" charset="-120"/>
              </a:rPr>
              <a:t>04</a:t>
            </a:r>
            <a:endParaRPr lang="en-US" sz="1600" dirty="0"/>
          </a:p>
        </p:txBody>
      </p:sp>
      <p:sp>
        <p:nvSpPr>
          <p:cNvPr id="28" name="Text 24"/>
          <p:cNvSpPr/>
          <p:nvPr/>
        </p:nvSpPr>
        <p:spPr>
          <a:xfrm>
            <a:off x="6816923" y="2110197"/>
            <a:ext cx="1705570" cy="169218"/>
          </a:xfrm>
          <a:prstGeom prst="rect">
            <a:avLst/>
          </a:prstGeom>
          <a:noFill/>
          <a:ln/>
        </p:spPr>
        <p:txBody>
          <a:bodyPr wrap="none" lIns="0" tIns="0" rIns="0" bIns="0" rtlCol="0" anchor="t">
            <a:spAutoFit/>
          </a:bodyPr>
          <a:lstStyle/>
          <a:p>
            <a:pPr algn="l" indent="0" marL="0">
              <a:lnSpc>
                <a:spcPct val="82400"/>
              </a:lnSpc>
              <a:buNone/>
            </a:pPr>
            <a:r>
              <a:rPr lang="en-US" sz="1150" b="1" dirty="0">
                <a:solidFill>
                  <a:srgbClr val="0B1020"/>
                </a:solidFill>
                <a:latin typeface="Arial" pitchFamily="34" charset="0"/>
                <a:ea typeface="Arial" pitchFamily="34" charset="-122"/>
                <a:cs typeface="Arial" pitchFamily="34" charset="-120"/>
              </a:rPr>
              <a:t>CONFIGURATION</a:t>
            </a:r>
            <a:endParaRPr lang="en-US" sz="1150" dirty="0"/>
          </a:p>
        </p:txBody>
      </p:sp>
      <p:sp>
        <p:nvSpPr>
          <p:cNvPr id="29" name="Text 25"/>
          <p:cNvSpPr/>
          <p:nvPr/>
        </p:nvSpPr>
        <p:spPr>
          <a:xfrm>
            <a:off x="6816923" y="2482230"/>
            <a:ext cx="1705570" cy="580430"/>
          </a:xfrm>
          <a:prstGeom prst="rect">
            <a:avLst/>
          </a:prstGeom>
          <a:noFill/>
          <a:ln/>
        </p:spPr>
        <p:txBody>
          <a:bodyPr wrap="square" lIns="0" tIns="0" rIns="0" bIns="0" rtlCol="0" anchor="t">
            <a:spAutoFit/>
          </a:bodyPr>
          <a:lstStyle/>
          <a:p>
            <a:pPr algn="l" indent="0" marL="0">
              <a:lnSpc>
                <a:spcPct val="101600"/>
              </a:lnSpc>
              <a:buNone/>
            </a:pPr>
            <a:r>
              <a:rPr lang="en-US" sz="850" dirty="0">
                <a:solidFill>
                  <a:srgbClr val="334155"/>
                </a:solidFill>
                <a:latin typeface="Arial" pitchFamily="34" charset="0"/>
                <a:ea typeface="Arial" pitchFamily="34" charset="-122"/>
                <a:cs typeface="Arial" pitchFamily="34" charset="-120"/>
              </a:rPr>
              <a:t>Externalize selectors, visual annotations, and journey steps so product changes are not hidden inside one runner.</a:t>
            </a:r>
            <a:endParaRPr lang="en-US" sz="850" dirty="0"/>
          </a:p>
        </p:txBody>
      </p:sp>
      <p:sp>
        <p:nvSpPr>
          <p:cNvPr id="30" name="Text 26"/>
          <p:cNvSpPr/>
          <p:nvPr/>
        </p:nvSpPr>
        <p:spPr>
          <a:xfrm>
            <a:off x="6816923" y="3265475"/>
            <a:ext cx="1705570" cy="313544"/>
          </a:xfrm>
          <a:prstGeom prst="rect">
            <a:avLst/>
          </a:prstGeom>
          <a:noFill/>
          <a:ln/>
        </p:spPr>
        <p:txBody>
          <a:bodyPr wrap="square" lIns="0" tIns="110617" rIns="0" bIns="0" rtlCol="0" anchor="t">
            <a:spAutoFit/>
          </a:bodyPr>
          <a:lstStyle/>
          <a:p>
            <a:pPr algn="l" indent="0" marL="0">
              <a:lnSpc>
                <a:spcPct val="92000"/>
              </a:lnSpc>
              <a:buNone/>
            </a:pPr>
            <a:r>
              <a:rPr lang="en-US" sz="650" b="1" spc="1" kern="0" dirty="0">
                <a:solidFill>
                  <a:srgbClr val="334155"/>
                </a:solidFill>
                <a:latin typeface="Arial" pitchFamily="34" charset="0"/>
                <a:ea typeface="Arial" pitchFamily="34" charset="-122"/>
                <a:cs typeface="Arial" pitchFamily="34" charset="-120"/>
              </a:rPr>
              <a:t>QUESTION: WHAT CHANGES OVER TIME?</a:t>
            </a:r>
            <a:endParaRPr lang="en-US" sz="650" dirty="0"/>
          </a:p>
        </p:txBody>
      </p:sp>
      <p:sp>
        <p:nvSpPr>
          <p:cNvPr id="31" name="Text 27"/>
          <p:cNvSpPr/>
          <p:nvPr/>
        </p:nvSpPr>
        <p:spPr>
          <a:xfrm>
            <a:off x="485775" y="3664744"/>
            <a:ext cx="1984177" cy="185738"/>
          </a:xfrm>
          <a:prstGeom prst="rect">
            <a:avLst/>
          </a:prstGeom>
          <a:noFill/>
          <a:ln/>
        </p:spPr>
        <p:txBody>
          <a:bodyPr wrap="none" lIns="0" tIns="0" rIns="0" bIns="0" rtlCol="0" anchor="t">
            <a:spAutoFit/>
          </a:bodyPr>
          <a:lstStyle/>
          <a:p>
            <a:pPr algn="r" indent="0" marL="0">
              <a:lnSpc>
                <a:spcPct val="80000"/>
              </a:lnSpc>
              <a:buNone/>
            </a:pPr>
            <a:r>
              <a:rPr lang="en-US" sz="1300" b="1" dirty="0">
                <a:solidFill>
                  <a:srgbClr val="A3E635"/>
                </a:solidFill>
                <a:latin typeface="Arial" pitchFamily="34" charset="0"/>
                <a:ea typeface="Arial" pitchFamily="34" charset="-122"/>
                <a:cs typeface="Arial" pitchFamily="34" charset="-120"/>
              </a:rPr>
              <a:t>→</a:t>
            </a:r>
            <a:endParaRPr lang="en-US" sz="1300" dirty="0"/>
          </a:p>
        </p:txBody>
      </p:sp>
      <p:sp>
        <p:nvSpPr>
          <p:cNvPr id="32" name="Text 28"/>
          <p:cNvSpPr/>
          <p:nvPr/>
        </p:nvSpPr>
        <p:spPr>
          <a:xfrm>
            <a:off x="2548533" y="3664744"/>
            <a:ext cx="1984177" cy="185738"/>
          </a:xfrm>
          <a:prstGeom prst="rect">
            <a:avLst/>
          </a:prstGeom>
          <a:noFill/>
          <a:ln/>
        </p:spPr>
        <p:txBody>
          <a:bodyPr wrap="none" lIns="0" tIns="0" rIns="0" bIns="0" rtlCol="0" anchor="t">
            <a:spAutoFit/>
          </a:bodyPr>
          <a:lstStyle/>
          <a:p>
            <a:pPr algn="r" indent="0" marL="0">
              <a:lnSpc>
                <a:spcPct val="80000"/>
              </a:lnSpc>
              <a:buNone/>
            </a:pPr>
            <a:r>
              <a:rPr lang="en-US" sz="1300" b="1" dirty="0">
                <a:solidFill>
                  <a:srgbClr val="A3E635"/>
                </a:solidFill>
                <a:latin typeface="Arial" pitchFamily="34" charset="0"/>
                <a:ea typeface="Arial" pitchFamily="34" charset="-122"/>
                <a:cs typeface="Arial" pitchFamily="34" charset="-120"/>
              </a:rPr>
              <a:t>→</a:t>
            </a:r>
            <a:endParaRPr lang="en-US" sz="1300" dirty="0"/>
          </a:p>
        </p:txBody>
      </p:sp>
      <p:sp>
        <p:nvSpPr>
          <p:cNvPr id="33" name="Text 29"/>
          <p:cNvSpPr/>
          <p:nvPr/>
        </p:nvSpPr>
        <p:spPr>
          <a:xfrm>
            <a:off x="4611291" y="3664744"/>
            <a:ext cx="1984177" cy="185738"/>
          </a:xfrm>
          <a:prstGeom prst="rect">
            <a:avLst/>
          </a:prstGeom>
          <a:noFill/>
          <a:ln/>
        </p:spPr>
        <p:txBody>
          <a:bodyPr wrap="none" lIns="0" tIns="0" rIns="0" bIns="0" rtlCol="0" anchor="t">
            <a:spAutoFit/>
          </a:bodyPr>
          <a:lstStyle/>
          <a:p>
            <a:pPr algn="r" indent="0" marL="0">
              <a:lnSpc>
                <a:spcPct val="80000"/>
              </a:lnSpc>
              <a:buNone/>
            </a:pPr>
            <a:r>
              <a:rPr lang="en-US" sz="1300" b="1" dirty="0">
                <a:solidFill>
                  <a:srgbClr val="A3E635"/>
                </a:solidFill>
                <a:latin typeface="Arial" pitchFamily="34" charset="0"/>
                <a:ea typeface="Arial" pitchFamily="34" charset="-122"/>
                <a:cs typeface="Arial" pitchFamily="34" charset="-120"/>
              </a:rPr>
              <a:t>→</a:t>
            </a:r>
            <a:endParaRPr lang="en-US" sz="1300" dirty="0"/>
          </a:p>
        </p:txBody>
      </p:sp>
      <p:sp>
        <p:nvSpPr>
          <p:cNvPr id="34" name="Text 30"/>
          <p:cNvSpPr/>
          <p:nvPr/>
        </p:nvSpPr>
        <p:spPr>
          <a:xfrm>
            <a:off x="6674048" y="3664744"/>
            <a:ext cx="1984177" cy="185738"/>
          </a:xfrm>
          <a:prstGeom prst="rect">
            <a:avLst/>
          </a:prstGeom>
          <a:noFill/>
          <a:ln/>
        </p:spPr>
        <p:txBody>
          <a:bodyPr wrap="none" lIns="0" tIns="0" rIns="0" bIns="0" rtlCol="0" anchor="t">
            <a:spAutoFit/>
          </a:bodyPr>
          <a:lstStyle/>
          <a:p>
            <a:pPr algn="r" indent="0" marL="0">
              <a:lnSpc>
                <a:spcPct val="80000"/>
              </a:lnSpc>
              <a:buNone/>
            </a:pPr>
            <a:r>
              <a:rPr lang="en-US" sz="1300" b="1" dirty="0">
                <a:solidFill>
                  <a:srgbClr val="A3E635"/>
                </a:solidFill>
                <a:latin typeface="Arial" pitchFamily="34" charset="0"/>
                <a:ea typeface="Arial" pitchFamily="34" charset="-122"/>
                <a:cs typeface="Arial" pitchFamily="34" charset="-120"/>
              </a:rPr>
              <a:t>↓</a:t>
            </a:r>
            <a:endParaRPr lang="en-US" sz="1300" dirty="0"/>
          </a:p>
        </p:txBody>
      </p:sp>
      <p:sp>
        <p:nvSpPr>
          <p:cNvPr id="35" name="Shape 31"/>
          <p:cNvSpPr/>
          <p:nvPr/>
        </p:nvSpPr>
        <p:spPr>
          <a:xfrm>
            <a:off x="485775" y="4043363"/>
            <a:ext cx="8172450" cy="800100"/>
          </a:xfrm>
          <a:prstGeom prst="rect">
            <a:avLst/>
          </a:prstGeom>
          <a:solidFill>
            <a:srgbClr val="38BDF8"/>
          </a:solidFill>
          <a:ln/>
        </p:spPr>
      </p:sp>
      <p:sp>
        <p:nvSpPr>
          <p:cNvPr id="36" name="Shape 32"/>
          <p:cNvSpPr/>
          <p:nvPr/>
        </p:nvSpPr>
        <p:spPr>
          <a:xfrm>
            <a:off x="485775" y="4043363"/>
            <a:ext cx="2214563" cy="800100"/>
          </a:xfrm>
          <a:prstGeom prst="rect">
            <a:avLst/>
          </a:prstGeom>
          <a:solidFill>
            <a:srgbClr val="A3E635"/>
          </a:solidFill>
          <a:ln/>
        </p:spPr>
      </p:sp>
      <p:sp>
        <p:nvSpPr>
          <p:cNvPr id="37" name="Text 33"/>
          <p:cNvSpPr/>
          <p:nvPr/>
        </p:nvSpPr>
        <p:spPr>
          <a:xfrm>
            <a:off x="485775" y="4043363"/>
            <a:ext cx="2214563" cy="800100"/>
          </a:xfrm>
          <a:prstGeom prst="rect">
            <a:avLst/>
          </a:prstGeom>
          <a:noFill/>
          <a:ln/>
        </p:spPr>
        <p:txBody>
          <a:bodyPr wrap="square" lIns="195580" tIns="289179" rIns="153035" bIns="0" rtlCol="0" anchor="t">
            <a:spAutoFit/>
          </a:bodyPr>
          <a:lstStyle/>
          <a:p>
            <a:pPr algn="l" indent="0" marL="0">
              <a:lnSpc>
                <a:spcPct val="89600"/>
              </a:lnSpc>
              <a:buNone/>
            </a:pPr>
            <a:r>
              <a:rPr lang="en-US" sz="800" b="1" spc="1" kern="0" dirty="0">
                <a:solidFill>
                  <a:srgbClr val="0B1020"/>
                </a:solidFill>
                <a:latin typeface="Arial" pitchFamily="34" charset="0"/>
                <a:ea typeface="Arial" pitchFamily="34" charset="-122"/>
                <a:cs typeface="Arial" pitchFamily="34" charset="-120"/>
              </a:rPr>
              <a:t>IMPLEMENTATION READY</a:t>
            </a:r>
            <a:endParaRPr lang="en-US" sz="800" dirty="0"/>
          </a:p>
        </p:txBody>
      </p:sp>
      <p:sp>
        <p:nvSpPr>
          <p:cNvPr id="38" name="Text 34"/>
          <p:cNvSpPr/>
          <p:nvPr/>
        </p:nvSpPr>
        <p:spPr>
          <a:xfrm>
            <a:off x="2700338" y="4043363"/>
            <a:ext cx="5957888" cy="800100"/>
          </a:xfrm>
          <a:prstGeom prst="rect">
            <a:avLst/>
          </a:prstGeom>
          <a:noFill/>
          <a:ln/>
        </p:spPr>
        <p:txBody>
          <a:bodyPr wrap="square" lIns="229616" tIns="221107" rIns="221107" bIns="0" rtlCol="0" anchor="t">
            <a:spAutoFit/>
          </a:bodyPr>
          <a:lstStyle/>
          <a:p>
            <a:pPr algn="l" indent="0" marL="0">
              <a:lnSpc>
                <a:spcPct val="100800"/>
              </a:lnSpc>
              <a:buNone/>
            </a:pPr>
            <a:r>
              <a:rPr lang="en-US" sz="1100" dirty="0">
                <a:solidFill>
                  <a:srgbClr val="0B1020"/>
                </a:solidFill>
                <a:latin typeface="Arial" pitchFamily="34" charset="0"/>
                <a:ea typeface="Arial" pitchFamily="34" charset="-122"/>
                <a:cs typeface="Arial" pitchFamily="34" charset="-120"/>
              </a:rPr>
              <a:t>Only after all four gates are explicit should the skill generate tests, guide assets, CI workflows, and operational controls.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85775" y="342900"/>
            <a:ext cx="8172450" cy="100013"/>
          </a:xfrm>
          <a:prstGeom prst="rect">
            <a:avLst/>
          </a:prstGeom>
          <a:noFill/>
          <a:ln/>
        </p:spPr>
        <p:txBody>
          <a:bodyPr wrap="none" lIns="0" tIns="0" rIns="0" bIns="0" rtlCol="0" anchor="t">
            <a:spAutoFit/>
          </a:bodyPr>
          <a:lstStyle/>
          <a:p>
            <a:pPr algn="l" indent="0" marL="0">
              <a:lnSpc>
                <a:spcPct val="80000"/>
              </a:lnSpc>
              <a:buNone/>
            </a:pPr>
            <a:r>
              <a:rPr lang="en-US" sz="700" b="1" spc="2" kern="0" dirty="0">
                <a:solidFill>
                  <a:srgbClr val="A3E635"/>
                </a:solidFill>
                <a:latin typeface="Arial" pitchFamily="34" charset="0"/>
                <a:ea typeface="Arial" pitchFamily="34" charset="-122"/>
                <a:cs typeface="Arial" pitchFamily="34" charset="-120"/>
              </a:rPr>
              <a:t>SECURITY BOUNDARY</a:t>
            </a:r>
            <a:endParaRPr lang="en-US" sz="700" dirty="0"/>
          </a:p>
        </p:txBody>
      </p:sp>
      <p:sp>
        <p:nvSpPr>
          <p:cNvPr id="5" name="Text 1"/>
          <p:cNvSpPr/>
          <p:nvPr/>
        </p:nvSpPr>
        <p:spPr>
          <a:xfrm>
            <a:off x="485775" y="514350"/>
            <a:ext cx="8172450" cy="300038"/>
          </a:xfrm>
          <a:prstGeom prst="rect">
            <a:avLst/>
          </a:prstGeom>
          <a:noFill/>
          <a:ln/>
        </p:spPr>
        <p:txBody>
          <a:bodyPr wrap="none" lIns="0" tIns="0" rIns="0" bIns="0" rtlCol="0" anchor="t">
            <a:spAutoFit/>
          </a:bodyPr>
          <a:lstStyle/>
          <a:p>
            <a:pPr algn="l" indent="0" marL="0">
              <a:lnSpc>
                <a:spcPct val="80000"/>
              </a:lnSpc>
              <a:buNone/>
            </a:pPr>
            <a:r>
              <a:rPr lang="en-US" sz="2100" b="1" spc="-1" kern="0" dirty="0">
                <a:solidFill>
                  <a:srgbClr val="F8FAFC"/>
                </a:solidFill>
                <a:latin typeface="Arial" pitchFamily="34" charset="0"/>
                <a:ea typeface="Arial" pitchFamily="34" charset="-122"/>
                <a:cs typeface="Arial" pitchFamily="34" charset="-120"/>
              </a:rPr>
              <a:t>SECURITY RULES ARE BUILT IN</a:t>
            </a:r>
            <a:endParaRPr lang="en-US" sz="2100" dirty="0"/>
          </a:p>
        </p:txBody>
      </p:sp>
      <p:sp>
        <p:nvSpPr>
          <p:cNvPr id="6" name="Text 2"/>
          <p:cNvSpPr/>
          <p:nvPr/>
        </p:nvSpPr>
        <p:spPr>
          <a:xfrm>
            <a:off x="485775" y="900113"/>
            <a:ext cx="6786563" cy="371475"/>
          </a:xfrm>
          <a:prstGeom prst="rect">
            <a:avLst/>
          </a:prstGeom>
          <a:noFill/>
          <a:ln/>
        </p:spPr>
        <p:txBody>
          <a:bodyPr wrap="square" lIns="0" tIns="0" rIns="0" bIns="0" rtlCol="0" anchor="t">
            <a:spAutoFit/>
          </a:bodyPr>
          <a:lstStyle/>
          <a:p>
            <a:pPr algn="l" indent="0" marL="0">
              <a:lnSpc>
                <a:spcPct val="104000"/>
              </a:lnSpc>
              <a:buNone/>
            </a:pPr>
            <a:r>
              <a:rPr lang="en-US" sz="1050" dirty="0">
                <a:solidFill>
                  <a:srgbClr val="CBD5E1"/>
                </a:solidFill>
                <a:latin typeface="Arial" pitchFamily="34" charset="0"/>
                <a:ea typeface="Arial" pitchFamily="34" charset="-122"/>
                <a:cs typeface="Arial" pitchFamily="34" charset="-120"/>
              </a:rPr>
              <a:t>The skill uses persistent test state to reduce friction without weakening identity controls or exposing credentials through ordinary CI outputs.</a:t>
            </a:r>
            <a:endParaRPr lang="en-US" sz="1050" dirty="0"/>
          </a:p>
        </p:txBody>
      </p:sp>
      <p:sp>
        <p:nvSpPr>
          <p:cNvPr id="7" name="Shape 3"/>
          <p:cNvSpPr/>
          <p:nvPr/>
        </p:nvSpPr>
        <p:spPr>
          <a:xfrm>
            <a:off x="485775" y="1493044"/>
            <a:ext cx="1984177" cy="1443038"/>
          </a:xfrm>
          <a:prstGeom prst="rect">
            <a:avLst/>
          </a:prstGeom>
          <a:solidFill>
            <a:srgbClr val="F8FAFC"/>
          </a:solidFill>
          <a:ln/>
        </p:spPr>
      </p:sp>
      <p:sp>
        <p:nvSpPr>
          <p:cNvPr id="8" name="Shape 4"/>
          <p:cNvSpPr/>
          <p:nvPr/>
        </p:nvSpPr>
        <p:spPr>
          <a:xfrm>
            <a:off x="485775" y="1493044"/>
            <a:ext cx="1984177" cy="42863"/>
          </a:xfrm>
          <a:prstGeom prst="rect">
            <a:avLst/>
          </a:prstGeom>
          <a:solidFill>
            <a:srgbClr val="38BDF8"/>
          </a:solidFill>
          <a:ln/>
        </p:spPr>
      </p:sp>
      <p:sp>
        <p:nvSpPr>
          <p:cNvPr id="9" name="Text 5"/>
          <p:cNvSpPr/>
          <p:nvPr/>
        </p:nvSpPr>
        <p:spPr>
          <a:xfrm>
            <a:off x="621506" y="1628775"/>
            <a:ext cx="1719858" cy="92869"/>
          </a:xfrm>
          <a:prstGeom prst="rect">
            <a:avLst/>
          </a:prstGeom>
          <a:noFill/>
          <a:ln/>
        </p:spPr>
        <p:txBody>
          <a:bodyPr wrap="none" lIns="0" tIns="0" rIns="0" bIns="0" rtlCol="0" anchor="t">
            <a:spAutoFit/>
          </a:bodyPr>
          <a:lstStyle/>
          <a:p>
            <a:pPr algn="l" indent="0" marL="0">
              <a:lnSpc>
                <a:spcPct val="80000"/>
              </a:lnSpc>
              <a:buNone/>
            </a:pPr>
            <a:r>
              <a:rPr lang="en-US" sz="650" b="1" spc="1" kern="0" dirty="0">
                <a:solidFill>
                  <a:srgbClr val="38BDF8"/>
                </a:solidFill>
                <a:latin typeface="Arial" pitchFamily="34" charset="0"/>
                <a:ea typeface="Arial" pitchFamily="34" charset="-122"/>
                <a:cs typeface="Arial" pitchFamily="34" charset="-120"/>
              </a:rPr>
              <a:t>01 / PROTECT</a:t>
            </a:r>
            <a:endParaRPr lang="en-US" sz="650" dirty="0"/>
          </a:p>
        </p:txBody>
      </p:sp>
      <p:sp>
        <p:nvSpPr>
          <p:cNvPr id="10" name="Text 6"/>
          <p:cNvSpPr/>
          <p:nvPr/>
        </p:nvSpPr>
        <p:spPr>
          <a:xfrm>
            <a:off x="621506" y="1878471"/>
            <a:ext cx="1719858" cy="163413"/>
          </a:xfrm>
          <a:prstGeom prst="rect">
            <a:avLst/>
          </a:prstGeom>
          <a:noFill/>
          <a:ln/>
        </p:spPr>
        <p:txBody>
          <a:bodyPr wrap="none" lIns="0" tIns="0" rIns="0" bIns="0" rtlCol="0" anchor="t">
            <a:spAutoFit/>
          </a:bodyPr>
          <a:lstStyle/>
          <a:p>
            <a:pPr algn="l" indent="0" marL="0">
              <a:lnSpc>
                <a:spcPct val="83200"/>
              </a:lnSpc>
              <a:buNone/>
            </a:pPr>
            <a:r>
              <a:rPr lang="en-US" sz="1100" b="1" dirty="0">
                <a:solidFill>
                  <a:srgbClr val="0B1020"/>
                </a:solidFill>
                <a:latin typeface="Arial" pitchFamily="34" charset="0"/>
                <a:ea typeface="Arial" pitchFamily="34" charset="-122"/>
                <a:cs typeface="Arial" pitchFamily="34" charset="-120"/>
              </a:rPr>
              <a:t>BROWSER STATE</a:t>
            </a:r>
            <a:endParaRPr lang="en-US" sz="1100" dirty="0"/>
          </a:p>
        </p:txBody>
      </p:sp>
      <p:sp>
        <p:nvSpPr>
          <p:cNvPr id="11" name="Text 7"/>
          <p:cNvSpPr/>
          <p:nvPr/>
        </p:nvSpPr>
        <p:spPr>
          <a:xfrm>
            <a:off x="621506" y="2198712"/>
            <a:ext cx="1719858" cy="401836"/>
          </a:xfrm>
          <a:prstGeom prst="rect">
            <a:avLst/>
          </a:prstGeom>
          <a:noFill/>
          <a:ln/>
        </p:spPr>
        <p:txBody>
          <a:bodyPr wrap="square" lIns="0" tIns="0" rIns="0" bIns="0" rtlCol="0" anchor="t">
            <a:spAutoFit/>
          </a:bodyPr>
          <a:lstStyle/>
          <a:p>
            <a:pPr algn="l" indent="0" marL="0">
              <a:lnSpc>
                <a:spcPct val="100000"/>
              </a:lnSpc>
              <a:buNone/>
            </a:pPr>
            <a:r>
              <a:rPr lang="en-US" sz="800" dirty="0">
                <a:solidFill>
                  <a:srgbClr val="334155"/>
                </a:solidFill>
                <a:latin typeface="Arial" pitchFamily="34" charset="0"/>
                <a:ea typeface="Arial" pitchFamily="34" charset="-122"/>
                <a:cs typeface="Arial" pitchFamily="34" charset="-120"/>
              </a:rPr>
              <a:t>Use only a dedicated test account and keep storage state in a protected environment secret.</a:t>
            </a:r>
            <a:endParaRPr lang="en-US" sz="800" dirty="0"/>
          </a:p>
        </p:txBody>
      </p:sp>
      <p:sp>
        <p:nvSpPr>
          <p:cNvPr id="12" name="Text 8"/>
          <p:cNvSpPr/>
          <p:nvPr/>
        </p:nvSpPr>
        <p:spPr>
          <a:xfrm>
            <a:off x="621506" y="2757376"/>
            <a:ext cx="1719858" cy="178594"/>
          </a:xfrm>
          <a:prstGeom prst="rect">
            <a:avLst/>
          </a:prstGeom>
          <a:noFill/>
          <a:ln/>
        </p:spPr>
        <p:txBody>
          <a:bodyPr wrap="none" lIns="0" tIns="0" rIns="0" bIns="0" rtlCol="0" anchor="t">
            <a:spAutoFit/>
          </a:bodyPr>
          <a:lstStyle/>
          <a:p>
            <a:pPr algn="r" indent="0" marL="0">
              <a:lnSpc>
                <a:spcPct val="80000"/>
              </a:lnSpc>
              <a:buNone/>
            </a:pPr>
            <a:r>
              <a:rPr lang="en-US" sz="1250" b="1" dirty="0">
                <a:solidFill>
                  <a:srgbClr val="A3E635"/>
                </a:solidFill>
                <a:latin typeface="Arial" pitchFamily="34" charset="0"/>
                <a:ea typeface="Arial" pitchFamily="34" charset="-122"/>
                <a:cs typeface="Arial" pitchFamily="34" charset="-120"/>
              </a:rPr>
              <a:t>→</a:t>
            </a:r>
            <a:endParaRPr lang="en-US" sz="1250" dirty="0"/>
          </a:p>
        </p:txBody>
      </p:sp>
      <p:sp>
        <p:nvSpPr>
          <p:cNvPr id="13" name="Shape 9"/>
          <p:cNvSpPr/>
          <p:nvPr/>
        </p:nvSpPr>
        <p:spPr>
          <a:xfrm>
            <a:off x="2548533" y="1493044"/>
            <a:ext cx="1984177" cy="1443038"/>
          </a:xfrm>
          <a:prstGeom prst="rect">
            <a:avLst/>
          </a:prstGeom>
          <a:solidFill>
            <a:srgbClr val="F8FAFC"/>
          </a:solidFill>
          <a:ln/>
        </p:spPr>
      </p:sp>
      <p:sp>
        <p:nvSpPr>
          <p:cNvPr id="14" name="Shape 10"/>
          <p:cNvSpPr/>
          <p:nvPr/>
        </p:nvSpPr>
        <p:spPr>
          <a:xfrm>
            <a:off x="2548533" y="1493044"/>
            <a:ext cx="1984177" cy="42863"/>
          </a:xfrm>
          <a:prstGeom prst="rect">
            <a:avLst/>
          </a:prstGeom>
          <a:solidFill>
            <a:srgbClr val="38BDF8"/>
          </a:solidFill>
          <a:ln/>
        </p:spPr>
      </p:sp>
      <p:sp>
        <p:nvSpPr>
          <p:cNvPr id="15" name="Text 11"/>
          <p:cNvSpPr/>
          <p:nvPr/>
        </p:nvSpPr>
        <p:spPr>
          <a:xfrm>
            <a:off x="2684264" y="1628775"/>
            <a:ext cx="1719858" cy="92869"/>
          </a:xfrm>
          <a:prstGeom prst="rect">
            <a:avLst/>
          </a:prstGeom>
          <a:noFill/>
          <a:ln/>
        </p:spPr>
        <p:txBody>
          <a:bodyPr wrap="none" lIns="0" tIns="0" rIns="0" bIns="0" rtlCol="0" anchor="t">
            <a:spAutoFit/>
          </a:bodyPr>
          <a:lstStyle/>
          <a:p>
            <a:pPr algn="l" indent="0" marL="0">
              <a:lnSpc>
                <a:spcPct val="80000"/>
              </a:lnSpc>
              <a:buNone/>
            </a:pPr>
            <a:r>
              <a:rPr lang="en-US" sz="650" b="1" spc="1" kern="0" dirty="0">
                <a:solidFill>
                  <a:srgbClr val="38BDF8"/>
                </a:solidFill>
                <a:latin typeface="Arial" pitchFamily="34" charset="0"/>
                <a:ea typeface="Arial" pitchFamily="34" charset="-122"/>
                <a:cs typeface="Arial" pitchFamily="34" charset="-120"/>
              </a:rPr>
              <a:t>02 / ISOLATE</a:t>
            </a:r>
            <a:endParaRPr lang="en-US" sz="650" dirty="0"/>
          </a:p>
        </p:txBody>
      </p:sp>
      <p:sp>
        <p:nvSpPr>
          <p:cNvPr id="16" name="Text 12"/>
          <p:cNvSpPr/>
          <p:nvPr/>
        </p:nvSpPr>
        <p:spPr>
          <a:xfrm>
            <a:off x="2684264" y="1878471"/>
            <a:ext cx="1719858" cy="163413"/>
          </a:xfrm>
          <a:prstGeom prst="rect">
            <a:avLst/>
          </a:prstGeom>
          <a:noFill/>
          <a:ln/>
        </p:spPr>
        <p:txBody>
          <a:bodyPr wrap="none" lIns="0" tIns="0" rIns="0" bIns="0" rtlCol="0" anchor="t">
            <a:spAutoFit/>
          </a:bodyPr>
          <a:lstStyle/>
          <a:p>
            <a:pPr algn="l" indent="0" marL="0">
              <a:lnSpc>
                <a:spcPct val="83200"/>
              </a:lnSpc>
              <a:buNone/>
            </a:pPr>
            <a:r>
              <a:rPr lang="en-US" sz="1100" b="1" dirty="0">
                <a:solidFill>
                  <a:srgbClr val="0B1020"/>
                </a:solidFill>
                <a:latin typeface="Arial" pitchFamily="34" charset="0"/>
                <a:ea typeface="Arial" pitchFamily="34" charset="-122"/>
                <a:cs typeface="Arial" pitchFamily="34" charset="-120"/>
              </a:rPr>
              <a:t>SECRET-FREE PRS</a:t>
            </a:r>
            <a:endParaRPr lang="en-US" sz="1100" dirty="0"/>
          </a:p>
        </p:txBody>
      </p:sp>
      <p:sp>
        <p:nvSpPr>
          <p:cNvPr id="17" name="Text 13"/>
          <p:cNvSpPr/>
          <p:nvPr/>
        </p:nvSpPr>
        <p:spPr>
          <a:xfrm>
            <a:off x="2684264" y="2198712"/>
            <a:ext cx="1719858" cy="401836"/>
          </a:xfrm>
          <a:prstGeom prst="rect">
            <a:avLst/>
          </a:prstGeom>
          <a:noFill/>
          <a:ln/>
        </p:spPr>
        <p:txBody>
          <a:bodyPr wrap="square" lIns="0" tIns="0" rIns="0" bIns="0" rtlCol="0" anchor="t">
            <a:spAutoFit/>
          </a:bodyPr>
          <a:lstStyle/>
          <a:p>
            <a:pPr algn="l" indent="0" marL="0">
              <a:lnSpc>
                <a:spcPct val="100000"/>
              </a:lnSpc>
              <a:buNone/>
            </a:pPr>
            <a:r>
              <a:rPr lang="en-US" sz="800" dirty="0">
                <a:solidFill>
                  <a:srgbClr val="334155"/>
                </a:solidFill>
                <a:latin typeface="Arial" pitchFamily="34" charset="0"/>
                <a:ea typeface="Arial" pitchFamily="34" charset="-122"/>
                <a:cs typeface="Arial" pitchFamily="34" charset="-120"/>
              </a:rPr>
              <a:t>Run pull-request validation without trusted state; release it only to protected branches and jobs.</a:t>
            </a:r>
            <a:endParaRPr lang="en-US" sz="800" dirty="0"/>
          </a:p>
        </p:txBody>
      </p:sp>
      <p:sp>
        <p:nvSpPr>
          <p:cNvPr id="18" name="Text 14"/>
          <p:cNvSpPr/>
          <p:nvPr/>
        </p:nvSpPr>
        <p:spPr>
          <a:xfrm>
            <a:off x="2684264" y="2757376"/>
            <a:ext cx="1719858" cy="178594"/>
          </a:xfrm>
          <a:prstGeom prst="rect">
            <a:avLst/>
          </a:prstGeom>
          <a:noFill/>
          <a:ln/>
        </p:spPr>
        <p:txBody>
          <a:bodyPr wrap="none" lIns="0" tIns="0" rIns="0" bIns="0" rtlCol="0" anchor="t">
            <a:spAutoFit/>
          </a:bodyPr>
          <a:lstStyle/>
          <a:p>
            <a:pPr algn="r" indent="0" marL="0">
              <a:lnSpc>
                <a:spcPct val="80000"/>
              </a:lnSpc>
              <a:buNone/>
            </a:pPr>
            <a:r>
              <a:rPr lang="en-US" sz="1250" b="1" dirty="0">
                <a:solidFill>
                  <a:srgbClr val="A3E635"/>
                </a:solidFill>
                <a:latin typeface="Arial" pitchFamily="34" charset="0"/>
                <a:ea typeface="Arial" pitchFamily="34" charset="-122"/>
                <a:cs typeface="Arial" pitchFamily="34" charset="-120"/>
              </a:rPr>
              <a:t>→</a:t>
            </a:r>
            <a:endParaRPr lang="en-US" sz="1250" dirty="0"/>
          </a:p>
        </p:txBody>
      </p:sp>
      <p:sp>
        <p:nvSpPr>
          <p:cNvPr id="19" name="Shape 15"/>
          <p:cNvSpPr/>
          <p:nvPr/>
        </p:nvSpPr>
        <p:spPr>
          <a:xfrm>
            <a:off x="4611291" y="1493044"/>
            <a:ext cx="1984177" cy="1443038"/>
          </a:xfrm>
          <a:prstGeom prst="rect">
            <a:avLst/>
          </a:prstGeom>
          <a:solidFill>
            <a:srgbClr val="F8FAFC"/>
          </a:solidFill>
          <a:ln/>
        </p:spPr>
      </p:sp>
      <p:sp>
        <p:nvSpPr>
          <p:cNvPr id="20" name="Shape 16"/>
          <p:cNvSpPr/>
          <p:nvPr/>
        </p:nvSpPr>
        <p:spPr>
          <a:xfrm>
            <a:off x="4611291" y="1493044"/>
            <a:ext cx="1984177" cy="42863"/>
          </a:xfrm>
          <a:prstGeom prst="rect">
            <a:avLst/>
          </a:prstGeom>
          <a:solidFill>
            <a:srgbClr val="A3E635"/>
          </a:solidFill>
          <a:ln/>
        </p:spPr>
      </p:sp>
      <p:sp>
        <p:nvSpPr>
          <p:cNvPr id="21" name="Text 17"/>
          <p:cNvSpPr/>
          <p:nvPr/>
        </p:nvSpPr>
        <p:spPr>
          <a:xfrm>
            <a:off x="4747022" y="1628775"/>
            <a:ext cx="1719858" cy="92869"/>
          </a:xfrm>
          <a:prstGeom prst="rect">
            <a:avLst/>
          </a:prstGeom>
          <a:noFill/>
          <a:ln/>
        </p:spPr>
        <p:txBody>
          <a:bodyPr wrap="none" lIns="0" tIns="0" rIns="0" bIns="0" rtlCol="0" anchor="t">
            <a:spAutoFit/>
          </a:bodyPr>
          <a:lstStyle/>
          <a:p>
            <a:pPr algn="l" indent="0" marL="0">
              <a:lnSpc>
                <a:spcPct val="80000"/>
              </a:lnSpc>
              <a:buNone/>
            </a:pPr>
            <a:r>
              <a:rPr lang="en-US" sz="650" b="1" spc="1" kern="0" dirty="0">
                <a:solidFill>
                  <a:srgbClr val="65A30D"/>
                </a:solidFill>
                <a:latin typeface="Arial" pitchFamily="34" charset="0"/>
                <a:ea typeface="Arial" pitchFamily="34" charset="-122"/>
                <a:cs typeface="Arial" pitchFamily="34" charset="-120"/>
              </a:rPr>
              <a:t>03 / FAIL CLOSED</a:t>
            </a:r>
            <a:endParaRPr lang="en-US" sz="650" dirty="0"/>
          </a:p>
        </p:txBody>
      </p:sp>
      <p:sp>
        <p:nvSpPr>
          <p:cNvPr id="22" name="Text 18"/>
          <p:cNvSpPr/>
          <p:nvPr/>
        </p:nvSpPr>
        <p:spPr>
          <a:xfrm>
            <a:off x="4747022" y="1878471"/>
            <a:ext cx="1719858" cy="163413"/>
          </a:xfrm>
          <a:prstGeom prst="rect">
            <a:avLst/>
          </a:prstGeom>
          <a:noFill/>
          <a:ln/>
        </p:spPr>
        <p:txBody>
          <a:bodyPr wrap="none" lIns="0" tIns="0" rIns="0" bIns="0" rtlCol="0" anchor="t">
            <a:spAutoFit/>
          </a:bodyPr>
          <a:lstStyle/>
          <a:p>
            <a:pPr algn="l" indent="0" marL="0">
              <a:lnSpc>
                <a:spcPct val="83200"/>
              </a:lnSpc>
              <a:buNone/>
            </a:pPr>
            <a:r>
              <a:rPr lang="en-US" sz="1100" b="1" dirty="0">
                <a:solidFill>
                  <a:srgbClr val="0B1020"/>
                </a:solidFill>
                <a:latin typeface="Arial" pitchFamily="34" charset="0"/>
                <a:ea typeface="Arial" pitchFamily="34" charset="-122"/>
                <a:cs typeface="Arial" pitchFamily="34" charset="-120"/>
              </a:rPr>
              <a:t>HEALTH GATE</a:t>
            </a:r>
            <a:endParaRPr lang="en-US" sz="1100" dirty="0"/>
          </a:p>
        </p:txBody>
      </p:sp>
      <p:sp>
        <p:nvSpPr>
          <p:cNvPr id="23" name="Text 19"/>
          <p:cNvSpPr/>
          <p:nvPr/>
        </p:nvSpPr>
        <p:spPr>
          <a:xfrm>
            <a:off x="4747022" y="2198712"/>
            <a:ext cx="1719858" cy="401836"/>
          </a:xfrm>
          <a:prstGeom prst="rect">
            <a:avLst/>
          </a:prstGeom>
          <a:noFill/>
          <a:ln/>
        </p:spPr>
        <p:txBody>
          <a:bodyPr wrap="square" lIns="0" tIns="0" rIns="0" bIns="0" rtlCol="0" anchor="t">
            <a:spAutoFit/>
          </a:bodyPr>
          <a:lstStyle/>
          <a:p>
            <a:pPr algn="l" indent="0" marL="0">
              <a:lnSpc>
                <a:spcPct val="100000"/>
              </a:lnSpc>
              <a:buNone/>
            </a:pPr>
            <a:r>
              <a:rPr lang="en-US" sz="800" dirty="0">
                <a:solidFill>
                  <a:srgbClr val="334155"/>
                </a:solidFill>
                <a:latin typeface="Arial" pitchFamily="34" charset="0"/>
                <a:ea typeface="Arial" pitchFamily="34" charset="-122"/>
                <a:cs typeface="Arial" pitchFamily="34" charset="-120"/>
              </a:rPr>
              <a:t>Stop immediately on login or SSO redirects; retry only ambiguous, transient failures.</a:t>
            </a:r>
            <a:endParaRPr lang="en-US" sz="800" dirty="0"/>
          </a:p>
        </p:txBody>
      </p:sp>
      <p:sp>
        <p:nvSpPr>
          <p:cNvPr id="24" name="Text 20"/>
          <p:cNvSpPr/>
          <p:nvPr/>
        </p:nvSpPr>
        <p:spPr>
          <a:xfrm>
            <a:off x="4747022" y="2757376"/>
            <a:ext cx="1719858" cy="178594"/>
          </a:xfrm>
          <a:prstGeom prst="rect">
            <a:avLst/>
          </a:prstGeom>
          <a:noFill/>
          <a:ln/>
        </p:spPr>
        <p:txBody>
          <a:bodyPr wrap="none" lIns="0" tIns="0" rIns="0" bIns="0" rtlCol="0" anchor="t">
            <a:spAutoFit/>
          </a:bodyPr>
          <a:lstStyle/>
          <a:p>
            <a:pPr algn="r" indent="0" marL="0">
              <a:lnSpc>
                <a:spcPct val="80000"/>
              </a:lnSpc>
              <a:buNone/>
            </a:pPr>
            <a:r>
              <a:rPr lang="en-US" sz="1250" b="1" dirty="0">
                <a:solidFill>
                  <a:srgbClr val="A3E635"/>
                </a:solidFill>
                <a:latin typeface="Arial" pitchFamily="34" charset="0"/>
                <a:ea typeface="Arial" pitchFamily="34" charset="-122"/>
                <a:cs typeface="Arial" pitchFamily="34" charset="-120"/>
              </a:rPr>
              <a:t>→</a:t>
            </a:r>
            <a:endParaRPr lang="en-US" sz="1250" dirty="0"/>
          </a:p>
        </p:txBody>
      </p:sp>
      <p:sp>
        <p:nvSpPr>
          <p:cNvPr id="25" name="Shape 21"/>
          <p:cNvSpPr/>
          <p:nvPr/>
        </p:nvSpPr>
        <p:spPr>
          <a:xfrm>
            <a:off x="6674048" y="1493044"/>
            <a:ext cx="1984177" cy="1443038"/>
          </a:xfrm>
          <a:prstGeom prst="rect">
            <a:avLst/>
          </a:prstGeom>
          <a:solidFill>
            <a:srgbClr val="F8FAFC"/>
          </a:solidFill>
          <a:ln/>
        </p:spPr>
      </p:sp>
      <p:sp>
        <p:nvSpPr>
          <p:cNvPr id="26" name="Shape 22"/>
          <p:cNvSpPr/>
          <p:nvPr/>
        </p:nvSpPr>
        <p:spPr>
          <a:xfrm>
            <a:off x="6674048" y="1493044"/>
            <a:ext cx="1984177" cy="42863"/>
          </a:xfrm>
          <a:prstGeom prst="rect">
            <a:avLst/>
          </a:prstGeom>
          <a:solidFill>
            <a:srgbClr val="38BDF8"/>
          </a:solidFill>
          <a:ln/>
        </p:spPr>
      </p:sp>
      <p:sp>
        <p:nvSpPr>
          <p:cNvPr id="27" name="Text 23"/>
          <p:cNvSpPr/>
          <p:nvPr/>
        </p:nvSpPr>
        <p:spPr>
          <a:xfrm>
            <a:off x="6809780" y="1628775"/>
            <a:ext cx="1719858" cy="92869"/>
          </a:xfrm>
          <a:prstGeom prst="rect">
            <a:avLst/>
          </a:prstGeom>
          <a:noFill/>
          <a:ln/>
        </p:spPr>
        <p:txBody>
          <a:bodyPr wrap="none" lIns="0" tIns="0" rIns="0" bIns="0" rtlCol="0" anchor="t">
            <a:spAutoFit/>
          </a:bodyPr>
          <a:lstStyle/>
          <a:p>
            <a:pPr algn="l" indent="0" marL="0">
              <a:lnSpc>
                <a:spcPct val="80000"/>
              </a:lnSpc>
              <a:buNone/>
            </a:pPr>
            <a:r>
              <a:rPr lang="en-US" sz="650" b="1" spc="1" kern="0" dirty="0">
                <a:solidFill>
                  <a:srgbClr val="38BDF8"/>
                </a:solidFill>
                <a:latin typeface="Arial" pitchFamily="34" charset="0"/>
                <a:ea typeface="Arial" pitchFamily="34" charset="-122"/>
                <a:cs typeface="Arial" pitchFamily="34" charset="-120"/>
              </a:rPr>
              <a:t>04 / RECOVER</a:t>
            </a:r>
            <a:endParaRPr lang="en-US" sz="650" dirty="0"/>
          </a:p>
        </p:txBody>
      </p:sp>
      <p:sp>
        <p:nvSpPr>
          <p:cNvPr id="28" name="Text 24"/>
          <p:cNvSpPr/>
          <p:nvPr/>
        </p:nvSpPr>
        <p:spPr>
          <a:xfrm>
            <a:off x="6809780" y="1878471"/>
            <a:ext cx="1719858" cy="163413"/>
          </a:xfrm>
          <a:prstGeom prst="rect">
            <a:avLst/>
          </a:prstGeom>
          <a:noFill/>
          <a:ln/>
        </p:spPr>
        <p:txBody>
          <a:bodyPr wrap="none" lIns="0" tIns="0" rIns="0" bIns="0" rtlCol="0" anchor="t">
            <a:spAutoFit/>
          </a:bodyPr>
          <a:lstStyle/>
          <a:p>
            <a:pPr algn="l" indent="0" marL="0">
              <a:lnSpc>
                <a:spcPct val="83200"/>
              </a:lnSpc>
              <a:buNone/>
            </a:pPr>
            <a:r>
              <a:rPr lang="en-US" sz="1100" b="1" dirty="0">
                <a:solidFill>
                  <a:srgbClr val="0B1020"/>
                </a:solidFill>
                <a:latin typeface="Arial" pitchFamily="34" charset="0"/>
                <a:ea typeface="Arial" pitchFamily="34" charset="-122"/>
                <a:cs typeface="Arial" pitchFamily="34" charset="-120"/>
              </a:rPr>
              <a:t>APPROVED RENEWAL</a:t>
            </a:r>
            <a:endParaRPr lang="en-US" sz="1100" dirty="0"/>
          </a:p>
        </p:txBody>
      </p:sp>
      <p:sp>
        <p:nvSpPr>
          <p:cNvPr id="29" name="Text 25"/>
          <p:cNvSpPr/>
          <p:nvPr/>
        </p:nvSpPr>
        <p:spPr>
          <a:xfrm>
            <a:off x="6809780" y="2198712"/>
            <a:ext cx="1719858" cy="401836"/>
          </a:xfrm>
          <a:prstGeom prst="rect">
            <a:avLst/>
          </a:prstGeom>
          <a:noFill/>
          <a:ln/>
        </p:spPr>
        <p:txBody>
          <a:bodyPr wrap="square" lIns="0" tIns="0" rIns="0" bIns="0" rtlCol="0" anchor="t">
            <a:spAutoFit/>
          </a:bodyPr>
          <a:lstStyle/>
          <a:p>
            <a:pPr algn="l" indent="0" marL="0">
              <a:lnSpc>
                <a:spcPct val="100000"/>
              </a:lnSpc>
              <a:buNone/>
            </a:pPr>
            <a:r>
              <a:rPr lang="en-US" sz="800" dirty="0">
                <a:solidFill>
                  <a:srgbClr val="334155"/>
                </a:solidFill>
                <a:latin typeface="Arial" pitchFamily="34" charset="0"/>
                <a:ea typeface="Arial" pitchFamily="34" charset="-122"/>
                <a:cs typeface="Arial" pitchFamily="34" charset="-120"/>
              </a:rPr>
              <a:t>Validate a manually refreshed session before encrypting and returning it to the secret handoff.</a:t>
            </a:r>
            <a:endParaRPr lang="en-US" sz="800" dirty="0"/>
          </a:p>
        </p:txBody>
      </p:sp>
      <p:sp>
        <p:nvSpPr>
          <p:cNvPr id="30" name="Text 26"/>
          <p:cNvSpPr/>
          <p:nvPr/>
        </p:nvSpPr>
        <p:spPr>
          <a:xfrm>
            <a:off x="6809780" y="2757376"/>
            <a:ext cx="1719858" cy="178594"/>
          </a:xfrm>
          <a:prstGeom prst="rect">
            <a:avLst/>
          </a:prstGeom>
          <a:noFill/>
          <a:ln/>
        </p:spPr>
        <p:txBody>
          <a:bodyPr wrap="none" lIns="0" tIns="0" rIns="0" bIns="0" rtlCol="0" anchor="t">
            <a:spAutoFit/>
          </a:bodyPr>
          <a:lstStyle/>
          <a:p>
            <a:pPr algn="r" indent="0" marL="0">
              <a:lnSpc>
                <a:spcPct val="80000"/>
              </a:lnSpc>
              <a:buNone/>
            </a:pPr>
            <a:r>
              <a:rPr lang="en-US" sz="1250" b="1" dirty="0">
                <a:solidFill>
                  <a:srgbClr val="A3E635"/>
                </a:solidFill>
                <a:latin typeface="Arial" pitchFamily="34" charset="0"/>
                <a:ea typeface="Arial" pitchFamily="34" charset="-122"/>
                <a:cs typeface="Arial" pitchFamily="34" charset="-120"/>
              </a:rPr>
              <a:t>↺</a:t>
            </a:r>
            <a:endParaRPr lang="en-US" sz="1250" dirty="0"/>
          </a:p>
        </p:txBody>
      </p:sp>
      <p:sp>
        <p:nvSpPr>
          <p:cNvPr id="31" name="Shape 27"/>
          <p:cNvSpPr/>
          <p:nvPr/>
        </p:nvSpPr>
        <p:spPr>
          <a:xfrm>
            <a:off x="485775" y="3107531"/>
            <a:ext cx="4682003" cy="1171575"/>
          </a:xfrm>
          <a:prstGeom prst="rect">
            <a:avLst/>
          </a:prstGeom>
          <a:solidFill>
            <a:srgbClr val="38BDF8"/>
          </a:solidFill>
          <a:ln/>
        </p:spPr>
      </p:sp>
      <p:sp>
        <p:nvSpPr>
          <p:cNvPr id="32" name="Text 28"/>
          <p:cNvSpPr/>
          <p:nvPr/>
        </p:nvSpPr>
        <p:spPr>
          <a:xfrm>
            <a:off x="657225" y="3264694"/>
            <a:ext cx="4331959" cy="117872"/>
          </a:xfrm>
          <a:prstGeom prst="rect">
            <a:avLst/>
          </a:prstGeom>
          <a:noFill/>
          <a:ln/>
        </p:spPr>
        <p:txBody>
          <a:bodyPr wrap="none" lIns="0" tIns="0" rIns="0" bIns="0" rtlCol="0" anchor="t">
            <a:spAutoFit/>
          </a:bodyPr>
          <a:lstStyle/>
          <a:p>
            <a:pPr algn="l" indent="0" marL="0">
              <a:lnSpc>
                <a:spcPct val="88000"/>
              </a:lnSpc>
              <a:buNone/>
            </a:pPr>
            <a:r>
              <a:rPr lang="en-US" sz="750" b="1" spc="1" kern="0" dirty="0">
                <a:solidFill>
                  <a:srgbClr val="0B1020"/>
                </a:solidFill>
                <a:latin typeface="Arial" pitchFamily="34" charset="0"/>
                <a:ea typeface="Arial" pitchFamily="34" charset="-122"/>
                <a:cs typeface="Arial" pitchFamily="34" charset="-120"/>
              </a:rPr>
              <a:t>APPROVED OPERATING MODEL</a:t>
            </a:r>
            <a:endParaRPr lang="en-US" sz="750" dirty="0"/>
          </a:p>
        </p:txBody>
      </p:sp>
      <p:sp>
        <p:nvSpPr>
          <p:cNvPr id="33" name="Text 29"/>
          <p:cNvSpPr/>
          <p:nvPr/>
        </p:nvSpPr>
        <p:spPr>
          <a:xfrm>
            <a:off x="657225" y="3504009"/>
            <a:ext cx="4331959" cy="375047"/>
          </a:xfrm>
          <a:prstGeom prst="rect">
            <a:avLst/>
          </a:prstGeom>
          <a:noFill/>
          <a:ln/>
        </p:spPr>
        <p:txBody>
          <a:bodyPr wrap="square" lIns="0" tIns="0" rIns="0" bIns="0" rtlCol="0" anchor="t">
            <a:spAutoFit/>
          </a:bodyPr>
          <a:lstStyle/>
          <a:p>
            <a:pPr algn="l" indent="0" marL="0">
              <a:lnSpc>
                <a:spcPct val="100000"/>
              </a:lnSpc>
              <a:buNone/>
            </a:pPr>
            <a:r>
              <a:rPr lang="en-US" sz="1100" dirty="0">
                <a:solidFill>
                  <a:srgbClr val="0B1020"/>
                </a:solidFill>
                <a:latin typeface="Arial" pitchFamily="34" charset="0"/>
                <a:ea typeface="Arial" pitchFamily="34" charset="-122"/>
                <a:cs typeface="Arial" pitchFamily="34" charset="-120"/>
              </a:rPr>
              <a:t>Use normal sign-in and MFA on a secured workstation, then validate the renewed state without printing or exporting it.</a:t>
            </a:r>
            <a:endParaRPr lang="en-US" sz="1100" dirty="0"/>
          </a:p>
        </p:txBody>
      </p:sp>
      <p:sp>
        <p:nvSpPr>
          <p:cNvPr id="34" name="Shape 30"/>
          <p:cNvSpPr/>
          <p:nvPr/>
        </p:nvSpPr>
        <p:spPr>
          <a:xfrm>
            <a:off x="5267790" y="3107531"/>
            <a:ext cx="3390379" cy="1171575"/>
          </a:xfrm>
          <a:prstGeom prst="rect">
            <a:avLst/>
          </a:prstGeom>
          <a:solidFill>
            <a:srgbClr val="F8FAFC"/>
          </a:solidFill>
          <a:ln w="18288">
            <a:solidFill>
              <a:srgbClr val="A3E635"/>
            </a:solidFill>
            <a:prstDash val="solid"/>
          </a:ln>
        </p:spPr>
      </p:sp>
      <p:sp>
        <p:nvSpPr>
          <p:cNvPr id="35" name="Text 31"/>
          <p:cNvSpPr/>
          <p:nvPr/>
        </p:nvSpPr>
        <p:spPr>
          <a:xfrm>
            <a:off x="5432096" y="3257550"/>
            <a:ext cx="3068910" cy="117872"/>
          </a:xfrm>
          <a:prstGeom prst="rect">
            <a:avLst/>
          </a:prstGeom>
          <a:noFill/>
          <a:ln/>
        </p:spPr>
        <p:txBody>
          <a:bodyPr wrap="none" lIns="0" tIns="0" rIns="0" bIns="0" rtlCol="0" anchor="t">
            <a:spAutoFit/>
          </a:bodyPr>
          <a:lstStyle/>
          <a:p>
            <a:pPr algn="l" indent="0" marL="0">
              <a:lnSpc>
                <a:spcPct val="88000"/>
              </a:lnSpc>
              <a:buNone/>
            </a:pPr>
            <a:r>
              <a:rPr lang="en-US" sz="750" b="1" spc="1" kern="0" dirty="0">
                <a:solidFill>
                  <a:srgbClr val="65A30D"/>
                </a:solidFill>
                <a:latin typeface="Arial" pitchFamily="34" charset="0"/>
                <a:ea typeface="Arial" pitchFamily="34" charset="-122"/>
                <a:cs typeface="Arial" pitchFamily="34" charset="-120"/>
              </a:rPr>
              <a:t>NEVER AUTOMATE</a:t>
            </a:r>
            <a:endParaRPr lang="en-US" sz="750" dirty="0"/>
          </a:p>
        </p:txBody>
      </p:sp>
      <p:sp>
        <p:nvSpPr>
          <p:cNvPr id="36" name="Text 32"/>
          <p:cNvSpPr/>
          <p:nvPr/>
        </p:nvSpPr>
        <p:spPr>
          <a:xfrm>
            <a:off x="5553540" y="3461147"/>
            <a:ext cx="2947467" cy="141982"/>
          </a:xfrm>
          <a:prstGeom prst="rect">
            <a:avLst/>
          </a:prstGeom>
          <a:noFill/>
          <a:ln/>
        </p:spPr>
        <p:txBody>
          <a:bodyPr wrap="none" lIns="0" tIns="0" rIns="0" bIns="0" rtlCol="0" anchor="t">
            <a:spAutoFit/>
          </a:bodyPr>
          <a:lstStyle/>
          <a:p>
            <a:pPr algn="l" marL="127000" indent="-127000">
              <a:lnSpc>
                <a:spcPct val="113600"/>
              </a:lnSpc>
              <a:buSzPct val="100000"/>
              <a:buChar char="•"/>
            </a:pPr>
            <a:r>
              <a:rPr lang="en-US" sz="700" b="1" dirty="0">
                <a:solidFill>
                  <a:srgbClr val="334155"/>
                </a:solidFill>
                <a:latin typeface="Arial" pitchFamily="34" charset="0"/>
                <a:ea typeface="Arial" pitchFamily="34" charset="-122"/>
                <a:cs typeface="Arial" pitchFamily="34" charset="-120"/>
              </a:rPr>
              <a:t>Passwords or headless sign-in flows</a:t>
            </a:r>
            <a:endParaRPr lang="en-US" sz="700" dirty="0"/>
          </a:p>
        </p:txBody>
      </p:sp>
      <p:sp>
        <p:nvSpPr>
          <p:cNvPr id="37" name="Text 33"/>
          <p:cNvSpPr/>
          <p:nvPr/>
        </p:nvSpPr>
        <p:spPr>
          <a:xfrm>
            <a:off x="5553540" y="3603129"/>
            <a:ext cx="2947467" cy="141982"/>
          </a:xfrm>
          <a:prstGeom prst="rect">
            <a:avLst/>
          </a:prstGeom>
          <a:noFill/>
          <a:ln/>
        </p:spPr>
        <p:txBody>
          <a:bodyPr wrap="none" lIns="0" tIns="0" rIns="0" bIns="0" rtlCol="0" anchor="t">
            <a:spAutoFit/>
          </a:bodyPr>
          <a:lstStyle/>
          <a:p>
            <a:pPr algn="l" marL="127000" indent="-127000">
              <a:lnSpc>
                <a:spcPct val="113600"/>
              </a:lnSpc>
              <a:buSzPct val="100000"/>
              <a:buChar char="•"/>
            </a:pPr>
            <a:r>
              <a:rPr lang="en-US" sz="700" b="1" dirty="0">
                <a:solidFill>
                  <a:srgbClr val="334155"/>
                </a:solidFill>
                <a:latin typeface="Arial" pitchFamily="34" charset="0"/>
                <a:ea typeface="Arial" pitchFamily="34" charset="-122"/>
                <a:cs typeface="Arial" pitchFamily="34" charset="-120"/>
              </a:rPr>
              <a:t>SSO, MFA, OTP, email, SMS, or push factors</a:t>
            </a:r>
            <a:endParaRPr lang="en-US" sz="700" dirty="0"/>
          </a:p>
        </p:txBody>
      </p:sp>
      <p:sp>
        <p:nvSpPr>
          <p:cNvPr id="38" name="Text 34"/>
          <p:cNvSpPr/>
          <p:nvPr/>
        </p:nvSpPr>
        <p:spPr>
          <a:xfrm>
            <a:off x="5553540" y="3745111"/>
            <a:ext cx="2947467" cy="141982"/>
          </a:xfrm>
          <a:prstGeom prst="rect">
            <a:avLst/>
          </a:prstGeom>
          <a:noFill/>
          <a:ln/>
        </p:spPr>
        <p:txBody>
          <a:bodyPr wrap="none" lIns="0" tIns="0" rIns="0" bIns="0" rtlCol="0" anchor="t">
            <a:spAutoFit/>
          </a:bodyPr>
          <a:lstStyle/>
          <a:p>
            <a:pPr algn="l" marL="127000" indent="-127000">
              <a:lnSpc>
                <a:spcPct val="113600"/>
              </a:lnSpc>
              <a:buSzPct val="100000"/>
              <a:buChar char="•"/>
            </a:pPr>
            <a:r>
              <a:rPr lang="en-US" sz="700" b="1" dirty="0">
                <a:solidFill>
                  <a:srgbClr val="334155"/>
                </a:solidFill>
                <a:latin typeface="Arial" pitchFamily="34" charset="0"/>
                <a:ea typeface="Arial" pitchFamily="34" charset="-122"/>
                <a:cs typeface="Arial" pitchFamily="34" charset="-120"/>
              </a:rPr>
              <a:t>Session state in Git, logs, artifacts, reports, or issues</a:t>
            </a:r>
            <a:endParaRPr lang="en-US" sz="700" dirty="0"/>
          </a:p>
        </p:txBody>
      </p:sp>
      <p:sp>
        <p:nvSpPr>
          <p:cNvPr id="39" name="Shape 35"/>
          <p:cNvSpPr/>
          <p:nvPr/>
        </p:nvSpPr>
        <p:spPr>
          <a:xfrm>
            <a:off x="485775" y="4407694"/>
            <a:ext cx="8172450" cy="398599"/>
          </a:xfrm>
          <a:prstGeom prst="rect">
            <a:avLst/>
          </a:prstGeom>
          <a:solidFill>
            <a:srgbClr val="F8FAFC"/>
          </a:solidFill>
          <a:ln/>
        </p:spPr>
      </p:sp>
      <p:sp>
        <p:nvSpPr>
          <p:cNvPr id="40" name="Shape 36"/>
          <p:cNvSpPr/>
          <p:nvPr/>
        </p:nvSpPr>
        <p:spPr>
          <a:xfrm>
            <a:off x="485775" y="4407694"/>
            <a:ext cx="2035969" cy="398599"/>
          </a:xfrm>
          <a:prstGeom prst="rect">
            <a:avLst/>
          </a:prstGeom>
          <a:solidFill>
            <a:srgbClr val="A3E635"/>
          </a:solidFill>
          <a:ln/>
        </p:spPr>
      </p:sp>
      <p:sp>
        <p:nvSpPr>
          <p:cNvPr id="41" name="Text 37"/>
          <p:cNvSpPr/>
          <p:nvPr/>
        </p:nvSpPr>
        <p:spPr>
          <a:xfrm>
            <a:off x="485775" y="4407694"/>
            <a:ext cx="2035969" cy="398599"/>
          </a:xfrm>
          <a:prstGeom prst="rect">
            <a:avLst/>
          </a:prstGeom>
          <a:noFill/>
          <a:ln/>
        </p:spPr>
        <p:txBody>
          <a:bodyPr wrap="square" lIns="170053" tIns="153035" rIns="136017" bIns="0" rtlCol="0" anchor="t">
            <a:spAutoFit/>
          </a:bodyPr>
          <a:lstStyle/>
          <a:p>
            <a:pPr algn="l" indent="0" marL="0">
              <a:lnSpc>
                <a:spcPct val="88000"/>
              </a:lnSpc>
              <a:buNone/>
            </a:pPr>
            <a:r>
              <a:rPr lang="en-US" sz="650" b="1" spc="1" kern="0" dirty="0">
                <a:solidFill>
                  <a:srgbClr val="0B1020"/>
                </a:solidFill>
                <a:latin typeface="Arial" pitchFamily="34" charset="0"/>
                <a:ea typeface="Arial" pitchFamily="34" charset="-122"/>
                <a:cs typeface="Arial" pitchFamily="34" charset="-120"/>
              </a:rPr>
              <a:t>CORE PRINCIPLE</a:t>
            </a:r>
            <a:endParaRPr lang="en-US" sz="650" dirty="0"/>
          </a:p>
        </p:txBody>
      </p:sp>
      <p:sp>
        <p:nvSpPr>
          <p:cNvPr id="42" name="Text 38"/>
          <p:cNvSpPr/>
          <p:nvPr/>
        </p:nvSpPr>
        <p:spPr>
          <a:xfrm>
            <a:off x="2521744" y="4407694"/>
            <a:ext cx="6136481" cy="398599"/>
          </a:xfrm>
          <a:prstGeom prst="rect">
            <a:avLst/>
          </a:prstGeom>
          <a:noFill/>
          <a:ln/>
        </p:spPr>
        <p:txBody>
          <a:bodyPr wrap="square" lIns="187071" tIns="127508" rIns="187071" bIns="0" rtlCol="0" anchor="t">
            <a:spAutoFit/>
          </a:bodyPr>
          <a:lstStyle/>
          <a:p>
            <a:pPr algn="l" indent="0" marL="0">
              <a:lnSpc>
                <a:spcPct val="96000"/>
              </a:lnSpc>
              <a:buNone/>
            </a:pPr>
            <a:r>
              <a:rPr lang="en-US" sz="900" dirty="0">
                <a:solidFill>
                  <a:srgbClr val="334155"/>
                </a:solidFill>
                <a:latin typeface="Arial" pitchFamily="34" charset="0"/>
                <a:ea typeface="Arial" pitchFamily="34" charset="-122"/>
                <a:cs typeface="Arial" pitchFamily="34" charset="-120"/>
              </a:rPr>
              <a:t>An expired session is an operational event requiring approved renewal—not a reason to bypass an identity-provider control.</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85775" y="342900"/>
            <a:ext cx="8172450" cy="100013"/>
          </a:xfrm>
          <a:prstGeom prst="rect">
            <a:avLst/>
          </a:prstGeom>
          <a:noFill/>
          <a:ln/>
        </p:spPr>
        <p:txBody>
          <a:bodyPr wrap="none" lIns="0" tIns="0" rIns="0" bIns="0" rtlCol="0" anchor="t">
            <a:spAutoFit/>
          </a:bodyPr>
          <a:lstStyle/>
          <a:p>
            <a:pPr algn="l" indent="0" marL="0">
              <a:lnSpc>
                <a:spcPct val="80000"/>
              </a:lnSpc>
              <a:buNone/>
            </a:pPr>
            <a:r>
              <a:rPr lang="en-US" sz="700" b="1" spc="2" kern="0" dirty="0">
                <a:solidFill>
                  <a:srgbClr val="A3E635"/>
                </a:solidFill>
                <a:latin typeface="Arial" pitchFamily="34" charset="0"/>
                <a:ea typeface="Arial" pitchFamily="34" charset="-122"/>
                <a:cs typeface="Arial" pitchFamily="34" charset="-120"/>
              </a:rPr>
              <a:t>VERIFICATION DESIGN</a:t>
            </a:r>
            <a:endParaRPr lang="en-US" sz="700" dirty="0"/>
          </a:p>
        </p:txBody>
      </p:sp>
      <p:sp>
        <p:nvSpPr>
          <p:cNvPr id="5" name="Text 1"/>
          <p:cNvSpPr/>
          <p:nvPr/>
        </p:nvSpPr>
        <p:spPr>
          <a:xfrm>
            <a:off x="485775" y="514350"/>
            <a:ext cx="8172450" cy="300038"/>
          </a:xfrm>
          <a:prstGeom prst="rect">
            <a:avLst/>
          </a:prstGeom>
          <a:noFill/>
          <a:ln/>
        </p:spPr>
        <p:txBody>
          <a:bodyPr wrap="none" lIns="0" tIns="0" rIns="0" bIns="0" rtlCol="0" anchor="t">
            <a:spAutoFit/>
          </a:bodyPr>
          <a:lstStyle/>
          <a:p>
            <a:pPr algn="l" indent="0" marL="0">
              <a:lnSpc>
                <a:spcPct val="80000"/>
              </a:lnSpc>
              <a:buNone/>
            </a:pPr>
            <a:r>
              <a:rPr lang="en-US" sz="2100" b="1" spc="-1" kern="0" dirty="0">
                <a:solidFill>
                  <a:srgbClr val="F8FAFC"/>
                </a:solidFill>
                <a:latin typeface="Arial" pitchFamily="34" charset="0"/>
                <a:ea typeface="Arial" pitchFamily="34" charset="-122"/>
                <a:cs typeface="Arial" pitchFamily="34" charset="-120"/>
              </a:rPr>
              <a:t>SHARDING PROTECTS SPEED AND STATE</a:t>
            </a:r>
            <a:endParaRPr lang="en-US" sz="2100" dirty="0"/>
          </a:p>
        </p:txBody>
      </p:sp>
      <p:sp>
        <p:nvSpPr>
          <p:cNvPr id="6" name="Text 2"/>
          <p:cNvSpPr/>
          <p:nvPr/>
        </p:nvSpPr>
        <p:spPr>
          <a:xfrm>
            <a:off x="485775" y="900113"/>
            <a:ext cx="6572250" cy="371475"/>
          </a:xfrm>
          <a:prstGeom prst="rect">
            <a:avLst/>
          </a:prstGeom>
          <a:noFill/>
          <a:ln/>
        </p:spPr>
        <p:txBody>
          <a:bodyPr wrap="square" lIns="0" tIns="0" rIns="0" bIns="0" rtlCol="0" anchor="t">
            <a:spAutoFit/>
          </a:bodyPr>
          <a:lstStyle/>
          <a:p>
            <a:pPr algn="l" indent="0" marL="0">
              <a:lnSpc>
                <a:spcPct val="104000"/>
              </a:lnSpc>
              <a:buNone/>
            </a:pPr>
            <a:r>
              <a:rPr lang="en-US" sz="1050" dirty="0">
                <a:solidFill>
                  <a:srgbClr val="CBD5E1"/>
                </a:solidFill>
                <a:latin typeface="Arial" pitchFamily="34" charset="0"/>
                <a:ea typeface="Arial" pitchFamily="34" charset="-122"/>
                <a:cs typeface="Arial" pitchFamily="34" charset="-120"/>
              </a:rPr>
              <a:t>Keep the user story intact in serial coverage; parallelize only checks that can prove their own state safely.</a:t>
            </a:r>
            <a:endParaRPr lang="en-US" sz="1050" dirty="0"/>
          </a:p>
        </p:txBody>
      </p:sp>
      <p:sp>
        <p:nvSpPr>
          <p:cNvPr id="7" name="Shape 3"/>
          <p:cNvSpPr/>
          <p:nvPr/>
        </p:nvSpPr>
        <p:spPr>
          <a:xfrm>
            <a:off x="485775" y="1514475"/>
            <a:ext cx="2792983" cy="2014538"/>
          </a:xfrm>
          <a:prstGeom prst="rect">
            <a:avLst/>
          </a:prstGeom>
          <a:solidFill>
            <a:srgbClr val="F8FAFC"/>
          </a:solidFill>
          <a:ln/>
        </p:spPr>
      </p:sp>
      <p:sp>
        <p:nvSpPr>
          <p:cNvPr id="8" name="Shape 4"/>
          <p:cNvSpPr/>
          <p:nvPr/>
        </p:nvSpPr>
        <p:spPr>
          <a:xfrm>
            <a:off x="485775" y="1514475"/>
            <a:ext cx="2792983" cy="50006"/>
          </a:xfrm>
          <a:prstGeom prst="rect">
            <a:avLst/>
          </a:prstGeom>
          <a:solidFill>
            <a:srgbClr val="38BDF8"/>
          </a:solidFill>
          <a:ln/>
        </p:spPr>
      </p:sp>
      <p:sp>
        <p:nvSpPr>
          <p:cNvPr id="9" name="Text 5"/>
          <p:cNvSpPr/>
          <p:nvPr/>
        </p:nvSpPr>
        <p:spPr>
          <a:xfrm>
            <a:off x="635794" y="1671638"/>
            <a:ext cx="2500089" cy="92869"/>
          </a:xfrm>
          <a:prstGeom prst="rect">
            <a:avLst/>
          </a:prstGeom>
          <a:noFill/>
          <a:ln/>
        </p:spPr>
        <p:txBody>
          <a:bodyPr wrap="none" lIns="0" tIns="0" rIns="0" bIns="0" rtlCol="0" anchor="t">
            <a:spAutoFit/>
          </a:bodyPr>
          <a:lstStyle/>
          <a:p>
            <a:pPr algn="l" indent="0" marL="0">
              <a:lnSpc>
                <a:spcPct val="80000"/>
              </a:lnSpc>
              <a:buNone/>
            </a:pPr>
            <a:r>
              <a:rPr lang="en-US" sz="650" b="1" spc="1" kern="0" dirty="0">
                <a:solidFill>
                  <a:srgbClr val="2563EB"/>
                </a:solidFill>
                <a:latin typeface="Arial" pitchFamily="34" charset="0"/>
                <a:ea typeface="Arial" pitchFamily="34" charset="-122"/>
                <a:cs typeface="Arial" pitchFamily="34" charset="-120"/>
              </a:rPr>
              <a:t>NARRATIVE COVERAGE</a:t>
            </a:r>
            <a:endParaRPr lang="en-US" sz="650" dirty="0"/>
          </a:p>
        </p:txBody>
      </p:sp>
      <p:sp>
        <p:nvSpPr>
          <p:cNvPr id="10" name="Text 6"/>
          <p:cNvSpPr/>
          <p:nvPr/>
        </p:nvSpPr>
        <p:spPr>
          <a:xfrm>
            <a:off x="635794" y="1992325"/>
            <a:ext cx="2500089" cy="203988"/>
          </a:xfrm>
          <a:prstGeom prst="rect">
            <a:avLst/>
          </a:prstGeom>
          <a:noFill/>
          <a:ln/>
        </p:spPr>
        <p:txBody>
          <a:bodyPr wrap="none" lIns="0" tIns="0" rIns="0" bIns="0" rtlCol="0" anchor="t">
            <a:spAutoFit/>
          </a:bodyPr>
          <a:lstStyle/>
          <a:p>
            <a:pPr algn="l" indent="0" marL="0">
              <a:lnSpc>
                <a:spcPct val="81600"/>
              </a:lnSpc>
              <a:buNone/>
            </a:pPr>
            <a:r>
              <a:rPr lang="en-US" sz="1400" b="1" dirty="0">
                <a:solidFill>
                  <a:srgbClr val="0B1020"/>
                </a:solidFill>
                <a:latin typeface="Arial" pitchFamily="34" charset="0"/>
                <a:ea typeface="Arial" pitchFamily="34" charset="-122"/>
                <a:cs typeface="Arial" pitchFamily="34" charset="-120"/>
              </a:rPr>
              <a:t>SERIAL JOURNEY</a:t>
            </a:r>
            <a:endParaRPr lang="en-US" sz="1400" dirty="0"/>
          </a:p>
        </p:txBody>
      </p:sp>
      <p:sp>
        <p:nvSpPr>
          <p:cNvPr id="11" name="Text 7"/>
          <p:cNvSpPr/>
          <p:nvPr/>
        </p:nvSpPr>
        <p:spPr>
          <a:xfrm>
            <a:off x="635794" y="2424131"/>
            <a:ext cx="2500089" cy="462614"/>
          </a:xfrm>
          <a:prstGeom prst="rect">
            <a:avLst/>
          </a:prstGeom>
          <a:noFill/>
          <a:ln/>
        </p:spPr>
        <p:txBody>
          <a:bodyPr wrap="square" lIns="0" tIns="0" rIns="0" bIns="0" rtlCol="0" anchor="t">
            <a:spAutoFit/>
          </a:bodyPr>
          <a:lstStyle/>
          <a:p>
            <a:pPr algn="l" indent="0" marL="0">
              <a:lnSpc>
                <a:spcPct val="101600"/>
              </a:lnSpc>
              <a:buNone/>
            </a:pPr>
            <a:r>
              <a:rPr lang="en-US" sz="900" dirty="0">
                <a:solidFill>
                  <a:srgbClr val="334155"/>
                </a:solidFill>
                <a:latin typeface="Arial" pitchFamily="34" charset="0"/>
                <a:ea typeface="Arial" pitchFamily="34" charset="-122"/>
                <a:cs typeface="Arial" pitchFamily="34" charset="-120"/>
              </a:rPr>
              <a:t>One ordered onboarding flow preserves the true user experience from activation through first outcome.</a:t>
            </a:r>
            <a:endParaRPr lang="en-US" sz="900" dirty="0"/>
          </a:p>
        </p:txBody>
      </p:sp>
      <p:sp>
        <p:nvSpPr>
          <p:cNvPr id="12" name="Shape 8"/>
          <p:cNvSpPr/>
          <p:nvPr/>
        </p:nvSpPr>
        <p:spPr>
          <a:xfrm>
            <a:off x="635794" y="3114563"/>
            <a:ext cx="809532" cy="414338"/>
          </a:xfrm>
          <a:prstGeom prst="rect">
            <a:avLst/>
          </a:prstGeom>
          <a:solidFill>
            <a:srgbClr val="E0F2FE"/>
          </a:solidFill>
          <a:ln/>
        </p:spPr>
      </p:sp>
      <p:sp>
        <p:nvSpPr>
          <p:cNvPr id="13" name="Text 9"/>
          <p:cNvSpPr/>
          <p:nvPr/>
        </p:nvSpPr>
        <p:spPr>
          <a:xfrm>
            <a:off x="635794" y="3114563"/>
            <a:ext cx="809532" cy="414338"/>
          </a:xfrm>
          <a:prstGeom prst="rect">
            <a:avLst/>
          </a:prstGeom>
          <a:noFill/>
          <a:ln/>
        </p:spPr>
        <p:txBody>
          <a:bodyPr wrap="square" lIns="76581" tIns="119126" rIns="68072" bIns="0" rtlCol="0" anchor="t">
            <a:spAutoFit/>
          </a:bodyPr>
          <a:lstStyle/>
          <a:p>
            <a:pPr algn="l" indent="0" marL="0">
              <a:lnSpc>
                <a:spcPct val="88000"/>
              </a:lnSpc>
              <a:buNone/>
            </a:pPr>
            <a:r>
              <a:rPr lang="en-US" sz="600" b="1" dirty="0">
                <a:solidFill>
                  <a:srgbClr val="0B1020"/>
                </a:solidFill>
                <a:latin typeface="Arial" pitchFamily="34" charset="0"/>
                <a:ea typeface="Arial" pitchFamily="34" charset="-122"/>
                <a:cs typeface="Arial" pitchFamily="34" charset="-120"/>
              </a:rPr>
              <a:t>PROJECT</a:t>
            </a:r>
            <a:endParaRPr lang="en-US" sz="600" dirty="0"/>
          </a:p>
        </p:txBody>
      </p:sp>
      <p:sp>
        <p:nvSpPr>
          <p:cNvPr id="14" name="Shape 10"/>
          <p:cNvSpPr/>
          <p:nvPr/>
        </p:nvSpPr>
        <p:spPr>
          <a:xfrm>
            <a:off x="1481044" y="3114563"/>
            <a:ext cx="809532" cy="414338"/>
          </a:xfrm>
          <a:prstGeom prst="rect">
            <a:avLst/>
          </a:prstGeom>
          <a:solidFill>
            <a:srgbClr val="A3E635"/>
          </a:solidFill>
          <a:ln/>
        </p:spPr>
      </p:sp>
      <p:sp>
        <p:nvSpPr>
          <p:cNvPr id="15" name="Text 11"/>
          <p:cNvSpPr/>
          <p:nvPr/>
        </p:nvSpPr>
        <p:spPr>
          <a:xfrm>
            <a:off x="1481044" y="3114563"/>
            <a:ext cx="809532" cy="414338"/>
          </a:xfrm>
          <a:prstGeom prst="rect">
            <a:avLst/>
          </a:prstGeom>
          <a:noFill/>
          <a:ln/>
        </p:spPr>
        <p:txBody>
          <a:bodyPr wrap="square" lIns="76581" tIns="119126" rIns="68072" bIns="0" rtlCol="0" anchor="t">
            <a:spAutoFit/>
          </a:bodyPr>
          <a:lstStyle/>
          <a:p>
            <a:pPr algn="l" indent="0" marL="0">
              <a:lnSpc>
                <a:spcPct val="88000"/>
              </a:lnSpc>
              <a:buNone/>
            </a:pPr>
            <a:r>
              <a:rPr lang="en-US" sz="600" b="1" dirty="0">
                <a:solidFill>
                  <a:srgbClr val="0B1020"/>
                </a:solidFill>
                <a:latin typeface="Arial" pitchFamily="34" charset="0"/>
                <a:ea typeface="Arial" pitchFamily="34" charset="-122"/>
                <a:cs typeface="Arial" pitchFamily="34" charset="-120"/>
              </a:rPr>
              <a:t>SECTIONS</a:t>
            </a:r>
            <a:endParaRPr lang="en-US" sz="600" dirty="0"/>
          </a:p>
        </p:txBody>
      </p:sp>
      <p:sp>
        <p:nvSpPr>
          <p:cNvPr id="16" name="Shape 12"/>
          <p:cNvSpPr/>
          <p:nvPr/>
        </p:nvSpPr>
        <p:spPr>
          <a:xfrm>
            <a:off x="2326295" y="3114563"/>
            <a:ext cx="809532" cy="414338"/>
          </a:xfrm>
          <a:prstGeom prst="rect">
            <a:avLst/>
          </a:prstGeom>
          <a:solidFill>
            <a:srgbClr val="E0F2FE"/>
          </a:solidFill>
          <a:ln/>
        </p:spPr>
      </p:sp>
      <p:sp>
        <p:nvSpPr>
          <p:cNvPr id="17" name="Text 13"/>
          <p:cNvSpPr/>
          <p:nvPr/>
        </p:nvSpPr>
        <p:spPr>
          <a:xfrm>
            <a:off x="2326295" y="3114563"/>
            <a:ext cx="809532" cy="414338"/>
          </a:xfrm>
          <a:prstGeom prst="rect">
            <a:avLst/>
          </a:prstGeom>
          <a:noFill/>
          <a:ln/>
        </p:spPr>
        <p:txBody>
          <a:bodyPr wrap="square" lIns="76581" tIns="119126" rIns="68072" bIns="0" rtlCol="0" anchor="t">
            <a:spAutoFit/>
          </a:bodyPr>
          <a:lstStyle/>
          <a:p>
            <a:pPr algn="l" indent="0" marL="0">
              <a:lnSpc>
                <a:spcPct val="88000"/>
              </a:lnSpc>
              <a:buNone/>
            </a:pPr>
            <a:r>
              <a:rPr lang="en-US" sz="600" b="1" dirty="0">
                <a:solidFill>
                  <a:srgbClr val="0B1020"/>
                </a:solidFill>
                <a:latin typeface="Arial" pitchFamily="34" charset="0"/>
                <a:ea typeface="Arial" pitchFamily="34" charset="-122"/>
                <a:cs typeface="Arial" pitchFamily="34" charset="-120"/>
              </a:rPr>
              <a:t>TASKS</a:t>
            </a:r>
            <a:endParaRPr lang="en-US" sz="600" dirty="0"/>
          </a:p>
        </p:txBody>
      </p:sp>
      <p:sp>
        <p:nvSpPr>
          <p:cNvPr id="18" name="Text 14"/>
          <p:cNvSpPr/>
          <p:nvPr/>
        </p:nvSpPr>
        <p:spPr>
          <a:xfrm>
            <a:off x="3152515" y="2373902"/>
            <a:ext cx="431136" cy="295684"/>
          </a:xfrm>
          <a:prstGeom prst="rect">
            <a:avLst/>
          </a:prstGeom>
          <a:noFill/>
          <a:ln/>
        </p:spPr>
        <p:txBody>
          <a:bodyPr wrap="square" lIns="0" tIns="0" rIns="0" bIns="0" rtlCol="0" anchor="t">
            <a:spAutoFit/>
          </a:bodyPr>
          <a:lstStyle/>
          <a:p>
            <a:pPr algn="ctr" indent="0" marL="0">
              <a:lnSpc>
                <a:spcPct val="92000"/>
              </a:lnSpc>
              <a:buNone/>
            </a:pPr>
            <a:r>
              <a:rPr lang="en-US" sz="600" b="1" spc="1" kern="0" dirty="0">
                <a:solidFill>
                  <a:srgbClr val="A3E635"/>
                </a:solidFill>
                <a:latin typeface="Arial" pitchFamily="34" charset="0"/>
                <a:ea typeface="Arial" pitchFamily="34" charset="-122"/>
                <a:cs typeface="Arial" pitchFamily="34" charset="-120"/>
              </a:rPr>
              <a:t>SESSION</a:t>
            </a:r>
            <a:r>
              <a:rPr lang="en-US" sz="600" b="1" spc="1" kern="0" dirty="0">
                <a:solidFill>
                  <a:srgbClr val="A3E635"/>
                </a:solidFill>
                <a:latin typeface="Arial" pitchFamily="34" charset="0"/>
                <a:ea typeface="Arial" pitchFamily="34" charset="-122"/>
                <a:cs typeface="Arial" pitchFamily="34" charset="-120"/>
              </a:rPr>
              <a:t>
</a:t>
            </a:r>
            <a:r>
              <a:rPr lang="en-US" sz="600" b="1" spc="1" kern="0" dirty="0">
                <a:solidFill>
                  <a:srgbClr val="A3E635"/>
                </a:solidFill>
                <a:latin typeface="Arial" pitchFamily="34" charset="0"/>
                <a:ea typeface="Arial" pitchFamily="34" charset="-122"/>
                <a:cs typeface="Arial" pitchFamily="34" charset="-120"/>
              </a:rPr>
              <a:t>HEALTH</a:t>
            </a:r>
            <a:r>
              <a:rPr lang="en-US" sz="600" b="1" spc="1" kern="0" dirty="0">
                <a:solidFill>
                  <a:srgbClr val="A3E635"/>
                </a:solidFill>
                <a:latin typeface="Arial" pitchFamily="34" charset="0"/>
                <a:ea typeface="Arial" pitchFamily="34" charset="-122"/>
                <a:cs typeface="Arial" pitchFamily="34" charset="-120"/>
              </a:rPr>
              <a:t>
</a:t>
            </a:r>
            <a:r>
              <a:rPr lang="en-US" sz="600" b="1" spc="1" kern="0" dirty="0">
                <a:solidFill>
                  <a:srgbClr val="A3E635"/>
                </a:solidFill>
                <a:latin typeface="Arial" pitchFamily="34" charset="0"/>
                <a:ea typeface="Arial" pitchFamily="34" charset="-122"/>
                <a:cs typeface="Arial" pitchFamily="34" charset="-120"/>
              </a:rPr>
              <a:t>GATE</a:t>
            </a:r>
            <a:endParaRPr lang="en-US" sz="600" dirty="0"/>
          </a:p>
        </p:txBody>
      </p:sp>
      <p:sp>
        <p:nvSpPr>
          <p:cNvPr id="19" name="Text 15"/>
          <p:cNvSpPr/>
          <p:nvPr/>
        </p:nvSpPr>
        <p:spPr>
          <a:xfrm>
            <a:off x="3583651" y="2389584"/>
            <a:ext cx="264319" cy="264319"/>
          </a:xfrm>
          <a:prstGeom prst="rect">
            <a:avLst/>
          </a:prstGeom>
          <a:noFill/>
          <a:ln/>
        </p:spPr>
        <p:txBody>
          <a:bodyPr wrap="none" lIns="0" tIns="0" rIns="0" bIns="0" rtlCol="0" anchor="t">
            <a:spAutoFit/>
          </a:bodyPr>
          <a:lstStyle/>
          <a:p>
            <a:pPr algn="ctr" indent="0" marL="0">
              <a:lnSpc>
                <a:spcPct val="80000"/>
              </a:lnSpc>
              <a:buNone/>
            </a:pPr>
            <a:r>
              <a:rPr lang="en-US" sz="1850" b="1" dirty="0">
                <a:solidFill>
                  <a:srgbClr val="A3E635"/>
                </a:solidFill>
                <a:latin typeface="Arial" pitchFamily="34" charset="0"/>
                <a:ea typeface="Arial" pitchFamily="34" charset="-122"/>
                <a:cs typeface="Arial" pitchFamily="34" charset="-120"/>
              </a:rPr>
              <a:t>→</a:t>
            </a:r>
            <a:endParaRPr lang="en-US" sz="1850" dirty="0"/>
          </a:p>
        </p:txBody>
      </p:sp>
      <p:sp>
        <p:nvSpPr>
          <p:cNvPr id="20" name="Shape 16"/>
          <p:cNvSpPr/>
          <p:nvPr/>
        </p:nvSpPr>
        <p:spPr>
          <a:xfrm>
            <a:off x="3721671" y="1514475"/>
            <a:ext cx="4936499" cy="2014538"/>
          </a:xfrm>
          <a:prstGeom prst="rect">
            <a:avLst/>
          </a:prstGeom>
          <a:solidFill>
            <a:srgbClr val="38BDF8"/>
          </a:solidFill>
          <a:ln/>
        </p:spPr>
      </p:sp>
      <p:sp>
        <p:nvSpPr>
          <p:cNvPr id="21" name="Text 17"/>
          <p:cNvSpPr/>
          <p:nvPr/>
        </p:nvSpPr>
        <p:spPr>
          <a:xfrm>
            <a:off x="3864546" y="1635919"/>
            <a:ext cx="3021974" cy="171450"/>
          </a:xfrm>
          <a:prstGeom prst="rect">
            <a:avLst/>
          </a:prstGeom>
          <a:noFill/>
          <a:ln/>
        </p:spPr>
        <p:txBody>
          <a:bodyPr wrap="none" lIns="0" tIns="0" rIns="0" bIns="0" rtlCol="0" anchor="t">
            <a:spAutoFit/>
          </a:bodyPr>
          <a:lstStyle/>
          <a:p>
            <a:pPr algn="l" indent="0" marL="0">
              <a:lnSpc>
                <a:spcPct val="80000"/>
              </a:lnSpc>
              <a:buNone/>
            </a:pPr>
            <a:r>
              <a:rPr lang="en-US" sz="1200" b="1" dirty="0">
                <a:solidFill>
                  <a:srgbClr val="0B1020"/>
                </a:solidFill>
                <a:latin typeface="Arial" pitchFamily="34" charset="0"/>
                <a:ea typeface="Arial" pitchFamily="34" charset="-122"/>
                <a:cs typeface="Arial" pitchFamily="34" charset="-120"/>
              </a:rPr>
              <a:t>INDEPENDENT VERIFICATION</a:t>
            </a:r>
            <a:endParaRPr lang="en-US" sz="1200" dirty="0"/>
          </a:p>
        </p:txBody>
      </p:sp>
      <p:sp>
        <p:nvSpPr>
          <p:cNvPr id="22" name="Shape 18"/>
          <p:cNvSpPr/>
          <p:nvPr/>
        </p:nvSpPr>
        <p:spPr>
          <a:xfrm>
            <a:off x="6886519" y="1643063"/>
            <a:ext cx="1643063" cy="157163"/>
          </a:xfrm>
          <a:prstGeom prst="rect">
            <a:avLst/>
          </a:prstGeom>
          <a:solidFill>
            <a:srgbClr val="0B1020"/>
          </a:solidFill>
          <a:ln/>
        </p:spPr>
      </p:sp>
      <p:sp>
        <p:nvSpPr>
          <p:cNvPr id="23" name="Text 19"/>
          <p:cNvSpPr/>
          <p:nvPr/>
        </p:nvSpPr>
        <p:spPr>
          <a:xfrm>
            <a:off x="6886519" y="1643063"/>
            <a:ext cx="1643063" cy="157163"/>
          </a:xfrm>
          <a:prstGeom prst="rect">
            <a:avLst/>
          </a:prstGeom>
          <a:noFill/>
          <a:ln/>
        </p:spPr>
        <p:txBody>
          <a:bodyPr wrap="square" lIns="93599" tIns="85090" rIns="93599" bIns="0" rtlCol="0" anchor="t">
            <a:spAutoFit/>
          </a:bodyPr>
          <a:lstStyle/>
          <a:p>
            <a:pPr algn="ctr" indent="0" marL="0">
              <a:lnSpc>
                <a:spcPct val="80000"/>
              </a:lnSpc>
              <a:buNone/>
            </a:pPr>
            <a:r>
              <a:rPr lang="en-US" sz="600" b="1" spc="1" kern="0" dirty="0">
                <a:solidFill>
                  <a:srgbClr val="A3E635"/>
                </a:solidFill>
                <a:latin typeface="Arial" pitchFamily="34" charset="0"/>
                <a:ea typeface="Arial" pitchFamily="34" charset="-122"/>
                <a:cs typeface="Arial" pitchFamily="34" charset="-120"/>
              </a:rPr>
              <a:t>TWO-RUNNER MATRIX</a:t>
            </a:r>
            <a:endParaRPr lang="en-US" sz="600" dirty="0"/>
          </a:p>
        </p:txBody>
      </p:sp>
      <p:sp>
        <p:nvSpPr>
          <p:cNvPr id="24" name="Shape 20"/>
          <p:cNvSpPr/>
          <p:nvPr/>
        </p:nvSpPr>
        <p:spPr>
          <a:xfrm>
            <a:off x="3721671" y="1928813"/>
            <a:ext cx="4936499" cy="1600200"/>
          </a:xfrm>
          <a:prstGeom prst="rect">
            <a:avLst/>
          </a:prstGeom>
          <a:solidFill>
            <a:srgbClr val="0B1020"/>
          </a:solidFill>
          <a:ln/>
        </p:spPr>
      </p:sp>
      <p:sp>
        <p:nvSpPr>
          <p:cNvPr id="25" name="Shape 21"/>
          <p:cNvSpPr/>
          <p:nvPr/>
        </p:nvSpPr>
        <p:spPr>
          <a:xfrm>
            <a:off x="3721671" y="1928813"/>
            <a:ext cx="2446790" cy="1600200"/>
          </a:xfrm>
          <a:prstGeom prst="rect">
            <a:avLst/>
          </a:prstGeom>
          <a:solidFill>
            <a:srgbClr val="F8FAFC"/>
          </a:solidFill>
          <a:ln/>
        </p:spPr>
      </p:sp>
      <p:sp>
        <p:nvSpPr>
          <p:cNvPr id="26" name="Text 22"/>
          <p:cNvSpPr/>
          <p:nvPr/>
        </p:nvSpPr>
        <p:spPr>
          <a:xfrm>
            <a:off x="3857402" y="2071688"/>
            <a:ext cx="2182471" cy="92869"/>
          </a:xfrm>
          <a:prstGeom prst="rect">
            <a:avLst/>
          </a:prstGeom>
          <a:noFill/>
          <a:ln/>
        </p:spPr>
        <p:txBody>
          <a:bodyPr wrap="none" lIns="0" tIns="0" rIns="0" bIns="0" rtlCol="0" anchor="t">
            <a:spAutoFit/>
          </a:bodyPr>
          <a:lstStyle/>
          <a:p>
            <a:pPr algn="l" indent="0" marL="0">
              <a:lnSpc>
                <a:spcPct val="80000"/>
              </a:lnSpc>
              <a:buNone/>
            </a:pPr>
            <a:r>
              <a:rPr lang="en-US" sz="650" b="1" spc="1" kern="0" dirty="0">
                <a:solidFill>
                  <a:srgbClr val="2563EB"/>
                </a:solidFill>
                <a:latin typeface="Arial" pitchFamily="34" charset="0"/>
                <a:ea typeface="Arial" pitchFamily="34" charset="-122"/>
                <a:cs typeface="Arial" pitchFamily="34" charset="-120"/>
              </a:rPr>
              <a:t>SHARD 1 / 2</a:t>
            </a:r>
            <a:endParaRPr lang="en-US" sz="650" dirty="0"/>
          </a:p>
        </p:txBody>
      </p:sp>
      <p:sp>
        <p:nvSpPr>
          <p:cNvPr id="27" name="Text 23"/>
          <p:cNvSpPr/>
          <p:nvPr/>
        </p:nvSpPr>
        <p:spPr>
          <a:xfrm>
            <a:off x="3857402" y="2221706"/>
            <a:ext cx="2182471" cy="164306"/>
          </a:xfrm>
          <a:prstGeom prst="rect">
            <a:avLst/>
          </a:prstGeom>
          <a:noFill/>
          <a:ln/>
        </p:spPr>
        <p:txBody>
          <a:bodyPr wrap="none" lIns="0" tIns="0" rIns="0" bIns="0" rtlCol="0" anchor="t">
            <a:spAutoFit/>
          </a:bodyPr>
          <a:lstStyle/>
          <a:p>
            <a:pPr algn="l" indent="0" marL="0">
              <a:lnSpc>
                <a:spcPct val="80000"/>
              </a:lnSpc>
              <a:buNone/>
            </a:pPr>
            <a:r>
              <a:rPr lang="en-US" sz="1150" b="1" dirty="0">
                <a:solidFill>
                  <a:srgbClr val="0B1020"/>
                </a:solidFill>
                <a:latin typeface="Arial" pitchFamily="34" charset="0"/>
                <a:ea typeface="Arial" pitchFamily="34" charset="-122"/>
                <a:cs typeface="Arial" pitchFamily="34" charset="-120"/>
              </a:rPr>
              <a:t>THREE CHECKS</a:t>
            </a:r>
            <a:endParaRPr lang="en-US" sz="1150" dirty="0"/>
          </a:p>
        </p:txBody>
      </p:sp>
      <p:sp>
        <p:nvSpPr>
          <p:cNvPr id="28" name="Shape 24"/>
          <p:cNvSpPr/>
          <p:nvPr/>
        </p:nvSpPr>
        <p:spPr>
          <a:xfrm>
            <a:off x="3857402" y="2507456"/>
            <a:ext cx="703659" cy="428625"/>
          </a:xfrm>
          <a:prstGeom prst="rect">
            <a:avLst/>
          </a:prstGeom>
          <a:solidFill>
            <a:srgbClr val="E0F2FE"/>
          </a:solidFill>
          <a:ln/>
        </p:spPr>
      </p:sp>
      <p:sp>
        <p:nvSpPr>
          <p:cNvPr id="29" name="Text 25"/>
          <p:cNvSpPr/>
          <p:nvPr/>
        </p:nvSpPr>
        <p:spPr>
          <a:xfrm>
            <a:off x="3857402" y="2507456"/>
            <a:ext cx="703659" cy="428625"/>
          </a:xfrm>
          <a:prstGeom prst="rect">
            <a:avLst/>
          </a:prstGeom>
          <a:noFill/>
          <a:ln/>
        </p:spPr>
        <p:txBody>
          <a:bodyPr wrap="square" lIns="76581" tIns="110617" rIns="59563" bIns="0" rtlCol="0" anchor="t">
            <a:spAutoFit/>
          </a:bodyPr>
          <a:lstStyle/>
          <a:p>
            <a:pPr algn="l" indent="0" marL="0">
              <a:lnSpc>
                <a:spcPct val="88000"/>
              </a:lnSpc>
              <a:buNone/>
            </a:pPr>
            <a:r>
              <a:rPr lang="en-US" sz="600" b="1" dirty="0">
                <a:solidFill>
                  <a:srgbClr val="334155"/>
                </a:solidFill>
                <a:latin typeface="Arial" pitchFamily="34" charset="0"/>
                <a:ea typeface="Arial" pitchFamily="34" charset="-122"/>
                <a:cs typeface="Arial" pitchFamily="34" charset="-120"/>
              </a:rPr>
              <a:t>Workspace</a:t>
            </a:r>
            <a:endParaRPr lang="en-US" sz="600" dirty="0"/>
          </a:p>
        </p:txBody>
      </p:sp>
      <p:sp>
        <p:nvSpPr>
          <p:cNvPr id="30" name="Shape 26"/>
          <p:cNvSpPr/>
          <p:nvPr/>
        </p:nvSpPr>
        <p:spPr>
          <a:xfrm>
            <a:off x="4596780" y="2507456"/>
            <a:ext cx="703659" cy="428625"/>
          </a:xfrm>
          <a:prstGeom prst="rect">
            <a:avLst/>
          </a:prstGeom>
          <a:solidFill>
            <a:srgbClr val="E0F2FE"/>
          </a:solidFill>
          <a:ln/>
        </p:spPr>
      </p:sp>
      <p:sp>
        <p:nvSpPr>
          <p:cNvPr id="31" name="Text 27"/>
          <p:cNvSpPr/>
          <p:nvPr/>
        </p:nvSpPr>
        <p:spPr>
          <a:xfrm>
            <a:off x="4596780" y="2507456"/>
            <a:ext cx="703659" cy="428625"/>
          </a:xfrm>
          <a:prstGeom prst="rect">
            <a:avLst/>
          </a:prstGeom>
          <a:noFill/>
          <a:ln/>
        </p:spPr>
        <p:txBody>
          <a:bodyPr wrap="square" lIns="76581" tIns="110617" rIns="59563" bIns="0" rtlCol="0" anchor="t">
            <a:spAutoFit/>
          </a:bodyPr>
          <a:lstStyle/>
          <a:p>
            <a:pPr algn="l" indent="0" marL="0">
              <a:lnSpc>
                <a:spcPct val="88000"/>
              </a:lnSpc>
              <a:buNone/>
            </a:pPr>
            <a:r>
              <a:rPr lang="en-US" sz="600" b="1" dirty="0">
                <a:solidFill>
                  <a:srgbClr val="334155"/>
                </a:solidFill>
                <a:latin typeface="Arial" pitchFamily="34" charset="0"/>
                <a:ea typeface="Arial" pitchFamily="34" charset="-122"/>
                <a:cs typeface="Arial" pitchFamily="34" charset="-120"/>
              </a:rPr>
              <a:t>Project</a:t>
            </a:r>
            <a:endParaRPr lang="en-US" sz="600" dirty="0"/>
          </a:p>
        </p:txBody>
      </p:sp>
      <p:sp>
        <p:nvSpPr>
          <p:cNvPr id="32" name="Shape 28"/>
          <p:cNvSpPr/>
          <p:nvPr/>
        </p:nvSpPr>
        <p:spPr>
          <a:xfrm>
            <a:off x="5336158" y="2507456"/>
            <a:ext cx="703659" cy="428625"/>
          </a:xfrm>
          <a:prstGeom prst="rect">
            <a:avLst/>
          </a:prstGeom>
          <a:solidFill>
            <a:srgbClr val="E0F2FE"/>
          </a:solidFill>
          <a:ln/>
        </p:spPr>
      </p:sp>
      <p:sp>
        <p:nvSpPr>
          <p:cNvPr id="33" name="Text 29"/>
          <p:cNvSpPr/>
          <p:nvPr/>
        </p:nvSpPr>
        <p:spPr>
          <a:xfrm>
            <a:off x="5336158" y="2507456"/>
            <a:ext cx="703659" cy="428625"/>
          </a:xfrm>
          <a:prstGeom prst="rect">
            <a:avLst/>
          </a:prstGeom>
          <a:noFill/>
          <a:ln/>
        </p:spPr>
        <p:txBody>
          <a:bodyPr wrap="square" lIns="76581" tIns="110617" rIns="59563" bIns="0" rtlCol="0" anchor="t">
            <a:spAutoFit/>
          </a:bodyPr>
          <a:lstStyle/>
          <a:p>
            <a:pPr algn="l" indent="0" marL="0">
              <a:lnSpc>
                <a:spcPct val="88000"/>
              </a:lnSpc>
              <a:buNone/>
            </a:pPr>
            <a:r>
              <a:rPr lang="en-US" sz="600" b="1" dirty="0">
                <a:solidFill>
                  <a:srgbClr val="334155"/>
                </a:solidFill>
                <a:latin typeface="Arial" pitchFamily="34" charset="0"/>
                <a:ea typeface="Arial" pitchFamily="34" charset="-122"/>
                <a:cs typeface="Arial" pitchFamily="34" charset="-120"/>
              </a:rPr>
              <a:t>Task</a:t>
            </a:r>
            <a:endParaRPr lang="en-US" sz="600" dirty="0"/>
          </a:p>
        </p:txBody>
      </p:sp>
      <p:sp>
        <p:nvSpPr>
          <p:cNvPr id="34" name="Shape 30"/>
          <p:cNvSpPr/>
          <p:nvPr/>
        </p:nvSpPr>
        <p:spPr>
          <a:xfrm>
            <a:off x="6211323" y="1928813"/>
            <a:ext cx="2446846" cy="1600200"/>
          </a:xfrm>
          <a:prstGeom prst="rect">
            <a:avLst/>
          </a:prstGeom>
          <a:solidFill>
            <a:srgbClr val="F8FAFC"/>
          </a:solidFill>
          <a:ln/>
        </p:spPr>
      </p:sp>
      <p:sp>
        <p:nvSpPr>
          <p:cNvPr id="35" name="Text 31"/>
          <p:cNvSpPr/>
          <p:nvPr/>
        </p:nvSpPr>
        <p:spPr>
          <a:xfrm>
            <a:off x="6347054" y="2071688"/>
            <a:ext cx="2182527" cy="92869"/>
          </a:xfrm>
          <a:prstGeom prst="rect">
            <a:avLst/>
          </a:prstGeom>
          <a:noFill/>
          <a:ln/>
        </p:spPr>
        <p:txBody>
          <a:bodyPr wrap="none" lIns="0" tIns="0" rIns="0" bIns="0" rtlCol="0" anchor="t">
            <a:spAutoFit/>
          </a:bodyPr>
          <a:lstStyle/>
          <a:p>
            <a:pPr algn="l" indent="0" marL="0">
              <a:lnSpc>
                <a:spcPct val="80000"/>
              </a:lnSpc>
              <a:buNone/>
            </a:pPr>
            <a:r>
              <a:rPr lang="en-US" sz="650" b="1" spc="1" kern="0" dirty="0">
                <a:solidFill>
                  <a:srgbClr val="2563EB"/>
                </a:solidFill>
                <a:latin typeface="Arial" pitchFamily="34" charset="0"/>
                <a:ea typeface="Arial" pitchFamily="34" charset="-122"/>
                <a:cs typeface="Arial" pitchFamily="34" charset="-120"/>
              </a:rPr>
              <a:t>SHARD 2 / 2</a:t>
            </a:r>
            <a:endParaRPr lang="en-US" sz="650" dirty="0"/>
          </a:p>
        </p:txBody>
      </p:sp>
      <p:sp>
        <p:nvSpPr>
          <p:cNvPr id="36" name="Text 32"/>
          <p:cNvSpPr/>
          <p:nvPr/>
        </p:nvSpPr>
        <p:spPr>
          <a:xfrm>
            <a:off x="6347054" y="2221706"/>
            <a:ext cx="2182527" cy="164306"/>
          </a:xfrm>
          <a:prstGeom prst="rect">
            <a:avLst/>
          </a:prstGeom>
          <a:noFill/>
          <a:ln/>
        </p:spPr>
        <p:txBody>
          <a:bodyPr wrap="none" lIns="0" tIns="0" rIns="0" bIns="0" rtlCol="0" anchor="t">
            <a:spAutoFit/>
          </a:bodyPr>
          <a:lstStyle/>
          <a:p>
            <a:pPr algn="l" indent="0" marL="0">
              <a:lnSpc>
                <a:spcPct val="80000"/>
              </a:lnSpc>
              <a:buNone/>
            </a:pPr>
            <a:r>
              <a:rPr lang="en-US" sz="1150" b="1" dirty="0">
                <a:solidFill>
                  <a:srgbClr val="0B1020"/>
                </a:solidFill>
                <a:latin typeface="Arial" pitchFamily="34" charset="0"/>
                <a:ea typeface="Arial" pitchFamily="34" charset="-122"/>
                <a:cs typeface="Arial" pitchFamily="34" charset="-120"/>
              </a:rPr>
              <a:t>THREE CHECKS</a:t>
            </a:r>
            <a:endParaRPr lang="en-US" sz="1150" dirty="0"/>
          </a:p>
        </p:txBody>
      </p:sp>
      <p:sp>
        <p:nvSpPr>
          <p:cNvPr id="37" name="Shape 33"/>
          <p:cNvSpPr/>
          <p:nvPr/>
        </p:nvSpPr>
        <p:spPr>
          <a:xfrm>
            <a:off x="6347054" y="2507456"/>
            <a:ext cx="703659" cy="428625"/>
          </a:xfrm>
          <a:prstGeom prst="rect">
            <a:avLst/>
          </a:prstGeom>
          <a:solidFill>
            <a:srgbClr val="E0F2FE"/>
          </a:solidFill>
          <a:ln/>
        </p:spPr>
      </p:sp>
      <p:sp>
        <p:nvSpPr>
          <p:cNvPr id="38" name="Text 34"/>
          <p:cNvSpPr/>
          <p:nvPr/>
        </p:nvSpPr>
        <p:spPr>
          <a:xfrm>
            <a:off x="6347054" y="2507456"/>
            <a:ext cx="703659" cy="428625"/>
          </a:xfrm>
          <a:prstGeom prst="rect">
            <a:avLst/>
          </a:prstGeom>
          <a:noFill/>
          <a:ln/>
        </p:spPr>
        <p:txBody>
          <a:bodyPr wrap="square" lIns="76581" tIns="110617" rIns="59563" bIns="0" rtlCol="0" anchor="t">
            <a:spAutoFit/>
          </a:bodyPr>
          <a:lstStyle/>
          <a:p>
            <a:pPr algn="l" indent="0" marL="0">
              <a:lnSpc>
                <a:spcPct val="88000"/>
              </a:lnSpc>
              <a:buNone/>
            </a:pPr>
            <a:r>
              <a:rPr lang="en-US" sz="600" b="1" dirty="0">
                <a:solidFill>
                  <a:srgbClr val="334155"/>
                </a:solidFill>
                <a:latin typeface="Arial" pitchFamily="34" charset="0"/>
                <a:ea typeface="Arial" pitchFamily="34" charset="-122"/>
                <a:cs typeface="Arial" pitchFamily="34" charset="-120"/>
              </a:rPr>
              <a:t>Sections</a:t>
            </a:r>
            <a:endParaRPr lang="en-US" sz="600" dirty="0"/>
          </a:p>
        </p:txBody>
      </p:sp>
      <p:sp>
        <p:nvSpPr>
          <p:cNvPr id="39" name="Shape 35"/>
          <p:cNvSpPr/>
          <p:nvPr/>
        </p:nvSpPr>
        <p:spPr>
          <a:xfrm>
            <a:off x="7086433" y="2507456"/>
            <a:ext cx="703715" cy="428625"/>
          </a:xfrm>
          <a:prstGeom prst="rect">
            <a:avLst/>
          </a:prstGeom>
          <a:solidFill>
            <a:srgbClr val="E0F2FE"/>
          </a:solidFill>
          <a:ln/>
        </p:spPr>
      </p:sp>
      <p:sp>
        <p:nvSpPr>
          <p:cNvPr id="40" name="Text 36"/>
          <p:cNvSpPr/>
          <p:nvPr/>
        </p:nvSpPr>
        <p:spPr>
          <a:xfrm>
            <a:off x="7086433" y="2507456"/>
            <a:ext cx="703715" cy="428625"/>
          </a:xfrm>
          <a:prstGeom prst="rect">
            <a:avLst/>
          </a:prstGeom>
          <a:noFill/>
          <a:ln/>
        </p:spPr>
        <p:txBody>
          <a:bodyPr wrap="square" lIns="76581" tIns="110617" rIns="59563" bIns="0" rtlCol="0" anchor="t">
            <a:spAutoFit/>
          </a:bodyPr>
          <a:lstStyle/>
          <a:p>
            <a:pPr algn="l" indent="0" marL="0">
              <a:lnSpc>
                <a:spcPct val="88000"/>
              </a:lnSpc>
              <a:buNone/>
            </a:pPr>
            <a:r>
              <a:rPr lang="en-US" sz="600" b="1" dirty="0">
                <a:solidFill>
                  <a:srgbClr val="334155"/>
                </a:solidFill>
                <a:latin typeface="Arial" pitchFamily="34" charset="0"/>
                <a:ea typeface="Arial" pitchFamily="34" charset="-122"/>
                <a:cs typeface="Arial" pitchFamily="34" charset="-120"/>
              </a:rPr>
              <a:t>Controls</a:t>
            </a:r>
            <a:endParaRPr lang="en-US" sz="600" dirty="0"/>
          </a:p>
        </p:txBody>
      </p:sp>
      <p:sp>
        <p:nvSpPr>
          <p:cNvPr id="41" name="Shape 37"/>
          <p:cNvSpPr/>
          <p:nvPr/>
        </p:nvSpPr>
        <p:spPr>
          <a:xfrm>
            <a:off x="7825867" y="2507456"/>
            <a:ext cx="703715" cy="428625"/>
          </a:xfrm>
          <a:prstGeom prst="rect">
            <a:avLst/>
          </a:prstGeom>
          <a:solidFill>
            <a:srgbClr val="E0F2FE"/>
          </a:solidFill>
          <a:ln/>
        </p:spPr>
      </p:sp>
      <p:sp>
        <p:nvSpPr>
          <p:cNvPr id="42" name="Text 38"/>
          <p:cNvSpPr/>
          <p:nvPr/>
        </p:nvSpPr>
        <p:spPr>
          <a:xfrm>
            <a:off x="7825867" y="2507456"/>
            <a:ext cx="703715" cy="428625"/>
          </a:xfrm>
          <a:prstGeom prst="rect">
            <a:avLst/>
          </a:prstGeom>
          <a:noFill/>
          <a:ln/>
        </p:spPr>
        <p:txBody>
          <a:bodyPr wrap="square" lIns="76581" tIns="110617" rIns="59563" bIns="0" rtlCol="0" anchor="t">
            <a:spAutoFit/>
          </a:bodyPr>
          <a:lstStyle/>
          <a:p>
            <a:pPr algn="l" indent="0" marL="0">
              <a:lnSpc>
                <a:spcPct val="88000"/>
              </a:lnSpc>
              <a:buNone/>
            </a:pPr>
            <a:r>
              <a:rPr lang="en-US" sz="600" b="1" dirty="0">
                <a:solidFill>
                  <a:srgbClr val="334155"/>
                </a:solidFill>
                <a:latin typeface="Arial" pitchFamily="34" charset="0"/>
                <a:ea typeface="Arial" pitchFamily="34" charset="-122"/>
                <a:cs typeface="Arial" pitchFamily="34" charset="-120"/>
              </a:rPr>
              <a:t>Sharing</a:t>
            </a:r>
            <a:endParaRPr lang="en-US" sz="600" dirty="0"/>
          </a:p>
        </p:txBody>
      </p:sp>
      <p:sp>
        <p:nvSpPr>
          <p:cNvPr id="43" name="Shape 39"/>
          <p:cNvSpPr/>
          <p:nvPr/>
        </p:nvSpPr>
        <p:spPr>
          <a:xfrm>
            <a:off x="485775" y="3714750"/>
            <a:ext cx="8172450" cy="1014413"/>
          </a:xfrm>
          <a:prstGeom prst="rect">
            <a:avLst/>
          </a:prstGeom>
          <a:solidFill>
            <a:srgbClr val="38BDF8"/>
          </a:solidFill>
          <a:ln/>
        </p:spPr>
      </p:sp>
      <p:sp>
        <p:nvSpPr>
          <p:cNvPr id="44" name="Shape 40"/>
          <p:cNvSpPr/>
          <p:nvPr/>
        </p:nvSpPr>
        <p:spPr>
          <a:xfrm>
            <a:off x="485775" y="3714750"/>
            <a:ext cx="1928813" cy="1014413"/>
          </a:xfrm>
          <a:prstGeom prst="rect">
            <a:avLst/>
          </a:prstGeom>
          <a:solidFill>
            <a:srgbClr val="A3E635"/>
          </a:solidFill>
          <a:ln/>
        </p:spPr>
      </p:sp>
      <p:sp>
        <p:nvSpPr>
          <p:cNvPr id="45" name="Text 41"/>
          <p:cNvSpPr/>
          <p:nvPr/>
        </p:nvSpPr>
        <p:spPr>
          <a:xfrm>
            <a:off x="485775" y="3714750"/>
            <a:ext cx="1928813" cy="1014413"/>
          </a:xfrm>
          <a:prstGeom prst="rect">
            <a:avLst/>
          </a:prstGeom>
          <a:noFill/>
          <a:ln/>
        </p:spPr>
        <p:txBody>
          <a:bodyPr wrap="square" lIns="178562" tIns="314706" rIns="136017" bIns="0" rtlCol="0" anchor="t">
            <a:spAutoFit/>
          </a:bodyPr>
          <a:lstStyle/>
          <a:p>
            <a:pPr algn="l" indent="0" marL="0">
              <a:lnSpc>
                <a:spcPct val="88000"/>
              </a:lnSpc>
              <a:buNone/>
            </a:pPr>
            <a:r>
              <a:rPr lang="en-US" sz="850" b="1" spc="1" kern="0" dirty="0">
                <a:solidFill>
                  <a:srgbClr val="0B1020"/>
                </a:solidFill>
                <a:latin typeface="Arial" pitchFamily="34" charset="0"/>
                <a:ea typeface="Arial" pitchFamily="34" charset="-122"/>
                <a:cs typeface="Arial" pitchFamily="34" charset="-120"/>
              </a:rPr>
              <a:t>ISOLATION RULES</a:t>
            </a:r>
            <a:endParaRPr lang="en-US" sz="850" dirty="0"/>
          </a:p>
        </p:txBody>
      </p:sp>
      <p:sp>
        <p:nvSpPr>
          <p:cNvPr id="46" name="Shape 42"/>
          <p:cNvSpPr/>
          <p:nvPr/>
        </p:nvSpPr>
        <p:spPr>
          <a:xfrm>
            <a:off x="2421731" y="3714750"/>
            <a:ext cx="2074032" cy="1014413"/>
          </a:xfrm>
          <a:prstGeom prst="rect">
            <a:avLst/>
          </a:prstGeom>
          <a:solidFill>
            <a:srgbClr val="F8FAFC"/>
          </a:solidFill>
          <a:ln/>
        </p:spPr>
      </p:sp>
      <p:sp>
        <p:nvSpPr>
          <p:cNvPr id="47" name="Text 43"/>
          <p:cNvSpPr/>
          <p:nvPr/>
        </p:nvSpPr>
        <p:spPr>
          <a:xfrm>
            <a:off x="2550319" y="3879056"/>
            <a:ext cx="1831144" cy="117872"/>
          </a:xfrm>
          <a:prstGeom prst="rect">
            <a:avLst/>
          </a:prstGeom>
          <a:noFill/>
          <a:ln/>
        </p:spPr>
        <p:txBody>
          <a:bodyPr wrap="none" lIns="0" tIns="0" rIns="0" bIns="0" rtlCol="0" anchor="t">
            <a:spAutoFit/>
          </a:bodyPr>
          <a:lstStyle/>
          <a:p>
            <a:pPr algn="l" indent="0" marL="0">
              <a:lnSpc>
                <a:spcPct val="88000"/>
              </a:lnSpc>
              <a:buNone/>
            </a:pPr>
            <a:r>
              <a:rPr lang="en-US" sz="750" b="1" dirty="0">
                <a:solidFill>
                  <a:srgbClr val="0B1020"/>
                </a:solidFill>
                <a:latin typeface="Arial" pitchFamily="34" charset="0"/>
                <a:ea typeface="Arial" pitchFamily="34" charset="-122"/>
                <a:cs typeface="Arial" pitchFamily="34" charset="-120"/>
              </a:rPr>
              <a:t>HEALTH FIRST</a:t>
            </a:r>
            <a:endParaRPr lang="en-US" sz="750" dirty="0"/>
          </a:p>
        </p:txBody>
      </p:sp>
      <p:sp>
        <p:nvSpPr>
          <p:cNvPr id="48" name="Text 44"/>
          <p:cNvSpPr/>
          <p:nvPr/>
        </p:nvSpPr>
        <p:spPr>
          <a:xfrm>
            <a:off x="2550319" y="4068366"/>
            <a:ext cx="1831144" cy="401836"/>
          </a:xfrm>
          <a:prstGeom prst="rect">
            <a:avLst/>
          </a:prstGeom>
          <a:noFill/>
          <a:ln/>
        </p:spPr>
        <p:txBody>
          <a:bodyPr wrap="square" lIns="0" tIns="0" rIns="0" bIns="0" rtlCol="0" anchor="t">
            <a:spAutoFit/>
          </a:bodyPr>
          <a:lstStyle/>
          <a:p>
            <a:pPr algn="l" indent="0" marL="0">
              <a:lnSpc>
                <a:spcPct val="100000"/>
              </a:lnSpc>
              <a:buNone/>
            </a:pPr>
            <a:r>
              <a:rPr lang="en-US" sz="800" dirty="0">
                <a:solidFill>
                  <a:srgbClr val="334155"/>
                </a:solidFill>
                <a:latin typeface="Arial" pitchFamily="34" charset="0"/>
                <a:ea typeface="Arial" pitchFamily="34" charset="-122"/>
                <a:cs typeface="Arial" pitchFamily="34" charset="-120"/>
              </a:rPr>
              <a:t>Authenticated workspace access must pass before any shard creates test data.</a:t>
            </a:r>
            <a:endParaRPr lang="en-US" sz="800" dirty="0"/>
          </a:p>
        </p:txBody>
      </p:sp>
      <p:sp>
        <p:nvSpPr>
          <p:cNvPr id="49" name="Shape 45"/>
          <p:cNvSpPr/>
          <p:nvPr/>
        </p:nvSpPr>
        <p:spPr>
          <a:xfrm>
            <a:off x="4502907" y="3714750"/>
            <a:ext cx="2074087" cy="1014413"/>
          </a:xfrm>
          <a:prstGeom prst="rect">
            <a:avLst/>
          </a:prstGeom>
          <a:solidFill>
            <a:srgbClr val="F8FAFC"/>
          </a:solidFill>
          <a:ln/>
        </p:spPr>
      </p:sp>
      <p:sp>
        <p:nvSpPr>
          <p:cNvPr id="50" name="Text 46"/>
          <p:cNvSpPr/>
          <p:nvPr/>
        </p:nvSpPr>
        <p:spPr>
          <a:xfrm>
            <a:off x="4631494" y="3879056"/>
            <a:ext cx="1831200" cy="117872"/>
          </a:xfrm>
          <a:prstGeom prst="rect">
            <a:avLst/>
          </a:prstGeom>
          <a:noFill/>
          <a:ln/>
        </p:spPr>
        <p:txBody>
          <a:bodyPr wrap="none" lIns="0" tIns="0" rIns="0" bIns="0" rtlCol="0" anchor="t">
            <a:spAutoFit/>
          </a:bodyPr>
          <a:lstStyle/>
          <a:p>
            <a:pPr algn="l" indent="0" marL="0">
              <a:lnSpc>
                <a:spcPct val="88000"/>
              </a:lnSpc>
              <a:buNone/>
            </a:pPr>
            <a:r>
              <a:rPr lang="en-US" sz="750" b="1" dirty="0">
                <a:solidFill>
                  <a:srgbClr val="0B1020"/>
                </a:solidFill>
                <a:latin typeface="Arial" pitchFamily="34" charset="0"/>
                <a:ea typeface="Arial" pitchFamily="34" charset="-122"/>
                <a:cs typeface="Arial" pitchFamily="34" charset="-120"/>
              </a:rPr>
              <a:t>UNIQUE NAMES</a:t>
            </a:r>
            <a:endParaRPr lang="en-US" sz="750" dirty="0"/>
          </a:p>
        </p:txBody>
      </p:sp>
      <p:sp>
        <p:nvSpPr>
          <p:cNvPr id="51" name="Text 47"/>
          <p:cNvSpPr/>
          <p:nvPr/>
        </p:nvSpPr>
        <p:spPr>
          <a:xfrm>
            <a:off x="4631494" y="4068366"/>
            <a:ext cx="1831200" cy="401836"/>
          </a:xfrm>
          <a:prstGeom prst="rect">
            <a:avLst/>
          </a:prstGeom>
          <a:noFill/>
          <a:ln/>
        </p:spPr>
        <p:txBody>
          <a:bodyPr wrap="square" lIns="0" tIns="0" rIns="0" bIns="0" rtlCol="0" anchor="t">
            <a:spAutoFit/>
          </a:bodyPr>
          <a:lstStyle/>
          <a:p>
            <a:pPr algn="l" indent="0" marL="0">
              <a:lnSpc>
                <a:spcPct val="100000"/>
              </a:lnSpc>
              <a:buNone/>
            </a:pPr>
            <a:r>
              <a:rPr lang="en-US" sz="800" dirty="0">
                <a:solidFill>
                  <a:srgbClr val="334155"/>
                </a:solidFill>
                <a:latin typeface="Arial" pitchFamily="34" charset="0"/>
                <a:ea typeface="Arial" pitchFamily="34" charset="-122"/>
                <a:cs typeface="Arial" pitchFamily="34" charset="-120"/>
              </a:rPr>
              <a:t>Timestamped identifiers prevent concurrent runs from targeting the same project or task.</a:t>
            </a:r>
            <a:endParaRPr lang="en-US" sz="800" dirty="0"/>
          </a:p>
        </p:txBody>
      </p:sp>
      <p:sp>
        <p:nvSpPr>
          <p:cNvPr id="52" name="Shape 48"/>
          <p:cNvSpPr/>
          <p:nvPr/>
        </p:nvSpPr>
        <p:spPr>
          <a:xfrm>
            <a:off x="6584138" y="3714750"/>
            <a:ext cx="2074087" cy="1014413"/>
          </a:xfrm>
          <a:prstGeom prst="rect">
            <a:avLst/>
          </a:prstGeom>
          <a:solidFill>
            <a:srgbClr val="F8FAFC"/>
          </a:solidFill>
          <a:ln/>
        </p:spPr>
      </p:sp>
      <p:sp>
        <p:nvSpPr>
          <p:cNvPr id="53" name="Text 49"/>
          <p:cNvSpPr/>
          <p:nvPr/>
        </p:nvSpPr>
        <p:spPr>
          <a:xfrm>
            <a:off x="6712725" y="3879056"/>
            <a:ext cx="1831200" cy="117872"/>
          </a:xfrm>
          <a:prstGeom prst="rect">
            <a:avLst/>
          </a:prstGeom>
          <a:noFill/>
          <a:ln/>
        </p:spPr>
        <p:txBody>
          <a:bodyPr wrap="none" lIns="0" tIns="0" rIns="0" bIns="0" rtlCol="0" anchor="t">
            <a:spAutoFit/>
          </a:bodyPr>
          <a:lstStyle/>
          <a:p>
            <a:pPr algn="l" indent="0" marL="0">
              <a:lnSpc>
                <a:spcPct val="88000"/>
              </a:lnSpc>
              <a:buNone/>
            </a:pPr>
            <a:r>
              <a:rPr lang="en-US" sz="750" b="1" dirty="0">
                <a:solidFill>
                  <a:srgbClr val="0B1020"/>
                </a:solidFill>
                <a:latin typeface="Arial" pitchFamily="34" charset="0"/>
                <a:ea typeface="Arial" pitchFamily="34" charset="-122"/>
                <a:cs typeface="Arial" pitchFamily="34" charset="-120"/>
              </a:rPr>
              <a:t>MERGE LAST</a:t>
            </a:r>
            <a:endParaRPr lang="en-US" sz="750" dirty="0"/>
          </a:p>
        </p:txBody>
      </p:sp>
      <p:sp>
        <p:nvSpPr>
          <p:cNvPr id="54" name="Text 50"/>
          <p:cNvSpPr/>
          <p:nvPr/>
        </p:nvSpPr>
        <p:spPr>
          <a:xfrm>
            <a:off x="6712725" y="4068366"/>
            <a:ext cx="1831200" cy="401836"/>
          </a:xfrm>
          <a:prstGeom prst="rect">
            <a:avLst/>
          </a:prstGeom>
          <a:noFill/>
          <a:ln/>
        </p:spPr>
        <p:txBody>
          <a:bodyPr wrap="square" lIns="0" tIns="0" rIns="0" bIns="0" rtlCol="0" anchor="t">
            <a:spAutoFit/>
          </a:bodyPr>
          <a:lstStyle/>
          <a:p>
            <a:pPr algn="l" indent="0" marL="0">
              <a:lnSpc>
                <a:spcPct val="100000"/>
              </a:lnSpc>
              <a:buNone/>
            </a:pPr>
            <a:r>
              <a:rPr lang="en-US" sz="800" dirty="0">
                <a:solidFill>
                  <a:srgbClr val="334155"/>
                </a:solidFill>
                <a:latin typeface="Arial" pitchFamily="34" charset="0"/>
                <a:ea typeface="Arial" pitchFamily="34" charset="-122"/>
                <a:cs typeface="Arial" pitchFamily="34" charset="-120"/>
              </a:rPr>
              <a:t>Reports and safe metrics merge only after all independent runner outputs are available.</a:t>
            </a:r>
            <a:endParaRPr lang="en-US" sz="800" dirty="0"/>
          </a:p>
        </p:txBody>
      </p:sp>
      <p:sp>
        <p:nvSpPr>
          <p:cNvPr id="55" name="Text 51"/>
          <p:cNvSpPr/>
          <p:nvPr/>
        </p:nvSpPr>
        <p:spPr>
          <a:xfrm>
            <a:off x="485775" y="4843463"/>
            <a:ext cx="8172450" cy="162855"/>
          </a:xfrm>
          <a:prstGeom prst="rect">
            <a:avLst/>
          </a:prstGeom>
          <a:noFill/>
          <a:ln/>
        </p:spPr>
        <p:txBody>
          <a:bodyPr wrap="none" lIns="0" tIns="0" rIns="0" bIns="0" rtlCol="0" anchor="t">
            <a:spAutoFit/>
          </a:bodyPr>
          <a:lstStyle/>
          <a:p>
            <a:pPr algn="l" indent="0" marL="0">
              <a:lnSpc>
                <a:spcPct val="96000"/>
              </a:lnSpc>
              <a:buNone/>
            </a:pPr>
            <a:r>
              <a:rPr lang="en-US" sz="950" b="1" dirty="0">
                <a:solidFill>
                  <a:srgbClr val="A3E635"/>
                </a:solidFill>
                <a:latin typeface="Arial" pitchFamily="34" charset="0"/>
                <a:ea typeface="Arial" pitchFamily="34" charset="-122"/>
                <a:cs typeface="Arial" pitchFamily="34" charset="-120"/>
              </a:rPr>
              <a:t>Result:</a:t>
            </a:r>
            <a:r>
              <a:rPr lang="en-US" sz="1000" dirty="0">
                <a:solidFill>
                  <a:srgbClr val="CBD5E1"/>
                </a:solidFill>
                <a:latin typeface="Arial" pitchFamily="34" charset="0"/>
                <a:ea typeface="Arial" pitchFamily="34" charset="-122"/>
                <a:cs typeface="Arial" pitchFamily="34" charset="-120"/>
              </a:rPr>
              <a:t> faster CI feedback without letting runner state, order, or test data invalidate the verdict.</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85775" y="342900"/>
            <a:ext cx="8172450" cy="100013"/>
          </a:xfrm>
          <a:prstGeom prst="rect">
            <a:avLst/>
          </a:prstGeom>
          <a:noFill/>
          <a:ln/>
        </p:spPr>
        <p:txBody>
          <a:bodyPr wrap="none" lIns="0" tIns="0" rIns="0" bIns="0" rtlCol="0" anchor="t">
            <a:spAutoFit/>
          </a:bodyPr>
          <a:lstStyle/>
          <a:p>
            <a:pPr algn="l" indent="0" marL="0">
              <a:lnSpc>
                <a:spcPct val="80000"/>
              </a:lnSpc>
              <a:buNone/>
            </a:pPr>
            <a:r>
              <a:rPr lang="en-US" sz="700" b="1" spc="2" kern="0" dirty="0">
                <a:solidFill>
                  <a:srgbClr val="A3E635"/>
                </a:solidFill>
                <a:latin typeface="Arial" pitchFamily="34" charset="0"/>
                <a:ea typeface="Arial" pitchFamily="34" charset="-122"/>
                <a:cs typeface="Arial" pitchFamily="34" charset="-120"/>
              </a:rPr>
              <a:t>OBSERVABILITY CONTRACT</a:t>
            </a:r>
            <a:endParaRPr lang="en-US" sz="700" dirty="0"/>
          </a:p>
        </p:txBody>
      </p:sp>
      <p:sp>
        <p:nvSpPr>
          <p:cNvPr id="5" name="Text 1"/>
          <p:cNvSpPr/>
          <p:nvPr/>
        </p:nvSpPr>
        <p:spPr>
          <a:xfrm>
            <a:off x="485775" y="514350"/>
            <a:ext cx="8172450" cy="300038"/>
          </a:xfrm>
          <a:prstGeom prst="rect">
            <a:avLst/>
          </a:prstGeom>
          <a:noFill/>
          <a:ln/>
        </p:spPr>
        <p:txBody>
          <a:bodyPr wrap="none" lIns="0" tIns="0" rIns="0" bIns="0" rtlCol="0" anchor="t">
            <a:spAutoFit/>
          </a:bodyPr>
          <a:lstStyle/>
          <a:p>
            <a:pPr algn="l" indent="0" marL="0">
              <a:lnSpc>
                <a:spcPct val="80000"/>
              </a:lnSpc>
              <a:buNone/>
            </a:pPr>
            <a:r>
              <a:rPr lang="en-US" sz="2100" b="1" spc="-1" kern="0" dirty="0">
                <a:solidFill>
                  <a:srgbClr val="F8FAFC"/>
                </a:solidFill>
                <a:latin typeface="Arial" pitchFamily="34" charset="0"/>
                <a:ea typeface="Arial" pitchFamily="34" charset="-122"/>
                <a:cs typeface="Arial" pitchFamily="34" charset="-120"/>
              </a:rPr>
              <a:t>EVIDENCE BECOMES LOCAL INSIGHT</a:t>
            </a:r>
            <a:endParaRPr lang="en-US" sz="2100" dirty="0"/>
          </a:p>
        </p:txBody>
      </p:sp>
      <p:sp>
        <p:nvSpPr>
          <p:cNvPr id="6" name="Text 2"/>
          <p:cNvSpPr/>
          <p:nvPr/>
        </p:nvSpPr>
        <p:spPr>
          <a:xfrm>
            <a:off x="485775" y="900113"/>
            <a:ext cx="6715125" cy="371475"/>
          </a:xfrm>
          <a:prstGeom prst="rect">
            <a:avLst/>
          </a:prstGeom>
          <a:noFill/>
          <a:ln/>
        </p:spPr>
        <p:txBody>
          <a:bodyPr wrap="square" lIns="0" tIns="0" rIns="0" bIns="0" rtlCol="0" anchor="t">
            <a:spAutoFit/>
          </a:bodyPr>
          <a:lstStyle/>
          <a:p>
            <a:pPr algn="l" indent="0" marL="0">
              <a:lnSpc>
                <a:spcPct val="104000"/>
              </a:lnSpc>
              <a:buNone/>
            </a:pPr>
            <a:r>
              <a:rPr lang="en-US" sz="1050" dirty="0">
                <a:solidFill>
                  <a:srgbClr val="CBD5E1"/>
                </a:solidFill>
                <a:latin typeface="Arial" pitchFamily="34" charset="0"/>
                <a:ea typeface="Arial" pitchFamily="34" charset="-122"/>
                <a:cs typeface="Arial" pitchFamily="34" charset="-120"/>
              </a:rPr>
              <a:t>The skill converts real test facts into a local decision system—without sending credentials or unfiltered diagnostic material into the analytics path.</a:t>
            </a:r>
            <a:endParaRPr lang="en-US" sz="1050" dirty="0"/>
          </a:p>
        </p:txBody>
      </p:sp>
      <p:sp>
        <p:nvSpPr>
          <p:cNvPr id="7" name="Shape 3"/>
          <p:cNvSpPr/>
          <p:nvPr/>
        </p:nvSpPr>
        <p:spPr>
          <a:xfrm>
            <a:off x="485775" y="1528763"/>
            <a:ext cx="1785938" cy="1857375"/>
          </a:xfrm>
          <a:prstGeom prst="rect">
            <a:avLst/>
          </a:prstGeom>
          <a:solidFill>
            <a:srgbClr val="F8FAFC"/>
          </a:solidFill>
          <a:ln/>
        </p:spPr>
      </p:sp>
      <p:sp>
        <p:nvSpPr>
          <p:cNvPr id="8" name="Shape 4"/>
          <p:cNvSpPr/>
          <p:nvPr/>
        </p:nvSpPr>
        <p:spPr>
          <a:xfrm>
            <a:off x="485775" y="1528763"/>
            <a:ext cx="1785938" cy="50006"/>
          </a:xfrm>
          <a:prstGeom prst="rect">
            <a:avLst/>
          </a:prstGeom>
          <a:solidFill>
            <a:srgbClr val="38BDF8"/>
          </a:solidFill>
          <a:ln/>
        </p:spPr>
      </p:sp>
      <p:sp>
        <p:nvSpPr>
          <p:cNvPr id="9" name="Text 5"/>
          <p:cNvSpPr/>
          <p:nvPr/>
        </p:nvSpPr>
        <p:spPr>
          <a:xfrm>
            <a:off x="621506" y="1678781"/>
            <a:ext cx="1514475" cy="85725"/>
          </a:xfrm>
          <a:prstGeom prst="rect">
            <a:avLst/>
          </a:prstGeom>
          <a:noFill/>
          <a:ln/>
        </p:spPr>
        <p:txBody>
          <a:bodyPr wrap="none" lIns="0" tIns="0" rIns="0" bIns="0" rtlCol="0" anchor="t">
            <a:spAutoFit/>
          </a:bodyPr>
          <a:lstStyle/>
          <a:p>
            <a:pPr algn="l" indent="0" marL="0">
              <a:lnSpc>
                <a:spcPct val="80000"/>
              </a:lnSpc>
              <a:buNone/>
            </a:pPr>
            <a:r>
              <a:rPr lang="en-US" sz="600" b="1" spc="1" kern="0" dirty="0">
                <a:solidFill>
                  <a:srgbClr val="38BDF8"/>
                </a:solidFill>
                <a:latin typeface="Arial" pitchFamily="34" charset="0"/>
                <a:ea typeface="Arial" pitchFamily="34" charset="-122"/>
                <a:cs typeface="Arial" pitchFamily="34" charset="-120"/>
              </a:rPr>
              <a:t>01 / EXPORT</a:t>
            </a:r>
            <a:endParaRPr lang="en-US" sz="600" dirty="0"/>
          </a:p>
        </p:txBody>
      </p:sp>
      <p:sp>
        <p:nvSpPr>
          <p:cNvPr id="10" name="Text 6"/>
          <p:cNvSpPr/>
          <p:nvPr/>
        </p:nvSpPr>
        <p:spPr>
          <a:xfrm>
            <a:off x="621506" y="1835944"/>
            <a:ext cx="1514475" cy="163413"/>
          </a:xfrm>
          <a:prstGeom prst="rect">
            <a:avLst/>
          </a:prstGeom>
          <a:noFill/>
          <a:ln/>
        </p:spPr>
        <p:txBody>
          <a:bodyPr wrap="none" lIns="0" tIns="0" rIns="0" bIns="0" rtlCol="0" anchor="t">
            <a:spAutoFit/>
          </a:bodyPr>
          <a:lstStyle/>
          <a:p>
            <a:pPr algn="l" indent="0" marL="0">
              <a:lnSpc>
                <a:spcPct val="83200"/>
              </a:lnSpc>
              <a:buNone/>
            </a:pPr>
            <a:r>
              <a:rPr lang="en-US" sz="1100" b="1" dirty="0">
                <a:solidFill>
                  <a:srgbClr val="0B1020"/>
                </a:solidFill>
                <a:latin typeface="Arial" pitchFamily="34" charset="0"/>
                <a:ea typeface="Arial" pitchFamily="34" charset="-122"/>
                <a:cs typeface="Arial" pitchFamily="34" charset="-120"/>
              </a:rPr>
              <a:t>SHARD FACTS</a:t>
            </a:r>
            <a:endParaRPr lang="en-US" sz="1100" dirty="0"/>
          </a:p>
        </p:txBody>
      </p:sp>
      <p:sp>
        <p:nvSpPr>
          <p:cNvPr id="11" name="Text 7"/>
          <p:cNvSpPr/>
          <p:nvPr/>
        </p:nvSpPr>
        <p:spPr>
          <a:xfrm>
            <a:off x="621506" y="2253407"/>
            <a:ext cx="1514475" cy="571500"/>
          </a:xfrm>
          <a:prstGeom prst="rect">
            <a:avLst/>
          </a:prstGeom>
          <a:noFill/>
          <a:ln/>
        </p:spPr>
        <p:txBody>
          <a:bodyPr wrap="square" lIns="0" tIns="0" rIns="0" bIns="0" rtlCol="0" anchor="t">
            <a:spAutoFit/>
          </a:bodyPr>
          <a:lstStyle/>
          <a:p>
            <a:pPr algn="l" indent="0" marL="0">
              <a:lnSpc>
                <a:spcPct val="100000"/>
              </a:lnSpc>
              <a:buNone/>
            </a:pPr>
            <a:r>
              <a:rPr lang="en-US" sz="850" dirty="0">
                <a:solidFill>
                  <a:srgbClr val="334155"/>
                </a:solidFill>
                <a:latin typeface="Arial" pitchFamily="34" charset="0"/>
                <a:ea typeface="Arial" pitchFamily="34" charset="-122"/>
                <a:cs typeface="Arial" pitchFamily="34" charset="-120"/>
              </a:rPr>
              <a:t>Capture controlled timing, outcome, retry count, and a safe run identifier from each independent runner.</a:t>
            </a:r>
            <a:endParaRPr lang="en-US" sz="850" dirty="0"/>
          </a:p>
        </p:txBody>
      </p:sp>
      <p:sp>
        <p:nvSpPr>
          <p:cNvPr id="12" name="Shape 8"/>
          <p:cNvSpPr/>
          <p:nvPr/>
        </p:nvSpPr>
        <p:spPr>
          <a:xfrm>
            <a:off x="621506" y="3078956"/>
            <a:ext cx="1514475" cy="307181"/>
          </a:xfrm>
          <a:prstGeom prst="rect">
            <a:avLst/>
          </a:prstGeom>
          <a:solidFill>
            <a:srgbClr val="E0F2FE"/>
          </a:solidFill>
          <a:ln/>
        </p:spPr>
      </p:sp>
      <p:sp>
        <p:nvSpPr>
          <p:cNvPr id="13" name="Text 9"/>
          <p:cNvSpPr/>
          <p:nvPr/>
        </p:nvSpPr>
        <p:spPr>
          <a:xfrm>
            <a:off x="621506" y="3078956"/>
            <a:ext cx="1514475" cy="307181"/>
          </a:xfrm>
          <a:prstGeom prst="rect">
            <a:avLst/>
          </a:prstGeom>
          <a:noFill/>
          <a:ln/>
        </p:spPr>
        <p:txBody>
          <a:bodyPr wrap="square" lIns="85090" tIns="102108" rIns="68072" bIns="0" rtlCol="0" anchor="t">
            <a:spAutoFit/>
          </a:bodyPr>
          <a:lstStyle/>
          <a:p>
            <a:pPr algn="l" indent="0" marL="0">
              <a:lnSpc>
                <a:spcPct val="84000"/>
              </a:lnSpc>
              <a:buNone/>
            </a:pPr>
            <a:r>
              <a:rPr lang="en-US" sz="550" b="1" spc="1" kern="0" dirty="0">
                <a:solidFill>
                  <a:srgbClr val="0B1020"/>
                </a:solidFill>
                <a:latin typeface="Arial" pitchFamily="34" charset="0"/>
                <a:ea typeface="Arial" pitchFamily="34" charset="-122"/>
                <a:cs typeface="Arial" pitchFamily="34" charset="-120"/>
              </a:rPr>
              <a:t>AGGREGATE METADATA ONLY</a:t>
            </a:r>
            <a:endParaRPr lang="en-US" sz="550" dirty="0"/>
          </a:p>
        </p:txBody>
      </p:sp>
      <p:sp>
        <p:nvSpPr>
          <p:cNvPr id="14" name="Text 10"/>
          <p:cNvSpPr/>
          <p:nvPr/>
        </p:nvSpPr>
        <p:spPr>
          <a:xfrm>
            <a:off x="2271713" y="1528763"/>
            <a:ext cx="342900" cy="1857375"/>
          </a:xfrm>
          <a:prstGeom prst="rect">
            <a:avLst/>
          </a:prstGeom>
          <a:noFill/>
          <a:ln/>
        </p:spPr>
        <p:txBody>
          <a:bodyPr wrap="square" lIns="0" tIns="0" rIns="0" bIns="0" rtlCol="0" anchor="ctr">
            <a:spAutoFit/>
          </a:bodyPr>
          <a:lstStyle/>
          <a:p>
            <a:pPr algn="ctr" indent="0" marL="0">
              <a:lnSpc>
                <a:spcPct val="80000"/>
              </a:lnSpc>
              <a:buNone/>
            </a:pPr>
            <a:r>
              <a:rPr lang="en-US" sz="1700" b="1" dirty="0">
                <a:solidFill>
                  <a:srgbClr val="A3E635"/>
                </a:solidFill>
                <a:latin typeface="Arial" pitchFamily="34" charset="0"/>
                <a:ea typeface="Arial" pitchFamily="34" charset="-122"/>
                <a:cs typeface="Arial" pitchFamily="34" charset="-120"/>
              </a:rPr>
              <a:t>→</a:t>
            </a:r>
            <a:endParaRPr lang="en-US" sz="1700" dirty="0"/>
          </a:p>
        </p:txBody>
      </p:sp>
      <p:sp>
        <p:nvSpPr>
          <p:cNvPr id="15" name="Shape 11"/>
          <p:cNvSpPr/>
          <p:nvPr/>
        </p:nvSpPr>
        <p:spPr>
          <a:xfrm>
            <a:off x="2614613" y="1528763"/>
            <a:ext cx="1785938" cy="1857375"/>
          </a:xfrm>
          <a:prstGeom prst="rect">
            <a:avLst/>
          </a:prstGeom>
          <a:solidFill>
            <a:srgbClr val="F8FAFC"/>
          </a:solidFill>
          <a:ln/>
        </p:spPr>
      </p:sp>
      <p:sp>
        <p:nvSpPr>
          <p:cNvPr id="16" name="Shape 12"/>
          <p:cNvSpPr/>
          <p:nvPr/>
        </p:nvSpPr>
        <p:spPr>
          <a:xfrm>
            <a:off x="2614613" y="1528763"/>
            <a:ext cx="1785938" cy="50006"/>
          </a:xfrm>
          <a:prstGeom prst="rect">
            <a:avLst/>
          </a:prstGeom>
          <a:solidFill>
            <a:srgbClr val="38BDF8"/>
          </a:solidFill>
          <a:ln/>
        </p:spPr>
      </p:sp>
      <p:sp>
        <p:nvSpPr>
          <p:cNvPr id="17" name="Text 13"/>
          <p:cNvSpPr/>
          <p:nvPr/>
        </p:nvSpPr>
        <p:spPr>
          <a:xfrm>
            <a:off x="2750344" y="1678781"/>
            <a:ext cx="1514475" cy="85725"/>
          </a:xfrm>
          <a:prstGeom prst="rect">
            <a:avLst/>
          </a:prstGeom>
          <a:noFill/>
          <a:ln/>
        </p:spPr>
        <p:txBody>
          <a:bodyPr wrap="none" lIns="0" tIns="0" rIns="0" bIns="0" rtlCol="0" anchor="t">
            <a:spAutoFit/>
          </a:bodyPr>
          <a:lstStyle/>
          <a:p>
            <a:pPr algn="l" indent="0" marL="0">
              <a:lnSpc>
                <a:spcPct val="80000"/>
              </a:lnSpc>
              <a:buNone/>
            </a:pPr>
            <a:r>
              <a:rPr lang="en-US" sz="600" b="1" spc="1" kern="0" dirty="0">
                <a:solidFill>
                  <a:srgbClr val="38BDF8"/>
                </a:solidFill>
                <a:latin typeface="Arial" pitchFamily="34" charset="0"/>
                <a:ea typeface="Arial" pitchFamily="34" charset="-122"/>
                <a:cs typeface="Arial" pitchFamily="34" charset="-120"/>
              </a:rPr>
              <a:t>02 / MERGE</a:t>
            </a:r>
            <a:endParaRPr lang="en-US" sz="600" dirty="0"/>
          </a:p>
        </p:txBody>
      </p:sp>
      <p:sp>
        <p:nvSpPr>
          <p:cNvPr id="18" name="Text 14"/>
          <p:cNvSpPr/>
          <p:nvPr/>
        </p:nvSpPr>
        <p:spPr>
          <a:xfrm>
            <a:off x="2750344" y="1835944"/>
            <a:ext cx="1514475" cy="326827"/>
          </a:xfrm>
          <a:prstGeom prst="rect">
            <a:avLst/>
          </a:prstGeom>
          <a:noFill/>
          <a:ln/>
        </p:spPr>
        <p:txBody>
          <a:bodyPr wrap="square" lIns="0" tIns="0" rIns="0" bIns="0" rtlCol="0" anchor="t">
            <a:spAutoFit/>
          </a:bodyPr>
          <a:lstStyle/>
          <a:p>
            <a:pPr algn="l" indent="0" marL="0">
              <a:lnSpc>
                <a:spcPct val="83200"/>
              </a:lnSpc>
              <a:buNone/>
            </a:pPr>
            <a:r>
              <a:rPr lang="en-US" sz="1100" b="1" dirty="0">
                <a:solidFill>
                  <a:srgbClr val="0B1020"/>
                </a:solidFill>
                <a:latin typeface="Arial" pitchFamily="34" charset="0"/>
                <a:ea typeface="Arial" pitchFamily="34" charset="-122"/>
                <a:cs typeface="Arial" pitchFamily="34" charset="-120"/>
              </a:rPr>
              <a:t>ONE JSON CONTRACT</a:t>
            </a:r>
            <a:endParaRPr lang="en-US" sz="1100" dirty="0"/>
          </a:p>
        </p:txBody>
      </p:sp>
      <p:sp>
        <p:nvSpPr>
          <p:cNvPr id="19" name="Text 15"/>
          <p:cNvSpPr/>
          <p:nvPr/>
        </p:nvSpPr>
        <p:spPr>
          <a:xfrm>
            <a:off x="2750344" y="2406551"/>
            <a:ext cx="1514475" cy="428625"/>
          </a:xfrm>
          <a:prstGeom prst="rect">
            <a:avLst/>
          </a:prstGeom>
          <a:noFill/>
          <a:ln/>
        </p:spPr>
        <p:txBody>
          <a:bodyPr wrap="square" lIns="0" tIns="0" rIns="0" bIns="0" rtlCol="0" anchor="t">
            <a:spAutoFit/>
          </a:bodyPr>
          <a:lstStyle/>
          <a:p>
            <a:pPr algn="l" indent="0" marL="0">
              <a:lnSpc>
                <a:spcPct val="100000"/>
              </a:lnSpc>
              <a:buNone/>
            </a:pPr>
            <a:r>
              <a:rPr lang="en-US" sz="850" dirty="0">
                <a:solidFill>
                  <a:srgbClr val="334155"/>
                </a:solidFill>
                <a:latin typeface="Arial" pitchFamily="34" charset="0"/>
                <a:ea typeface="Arial" pitchFamily="34" charset="-122"/>
                <a:cs typeface="Arial" pitchFamily="34" charset="-120"/>
              </a:rPr>
              <a:t>Combine per-shard facts in a no-secret job to create one dashboard-ready run record.</a:t>
            </a:r>
            <a:endParaRPr lang="en-US" sz="850" dirty="0"/>
          </a:p>
        </p:txBody>
      </p:sp>
      <p:sp>
        <p:nvSpPr>
          <p:cNvPr id="20" name="Shape 16"/>
          <p:cNvSpPr/>
          <p:nvPr/>
        </p:nvSpPr>
        <p:spPr>
          <a:xfrm>
            <a:off x="2750344" y="3078956"/>
            <a:ext cx="1514475" cy="307181"/>
          </a:xfrm>
          <a:prstGeom prst="rect">
            <a:avLst/>
          </a:prstGeom>
          <a:solidFill>
            <a:srgbClr val="E0F2FE"/>
          </a:solidFill>
          <a:ln/>
        </p:spPr>
      </p:sp>
      <p:sp>
        <p:nvSpPr>
          <p:cNvPr id="21" name="Text 17"/>
          <p:cNvSpPr/>
          <p:nvPr/>
        </p:nvSpPr>
        <p:spPr>
          <a:xfrm>
            <a:off x="2750344" y="3078956"/>
            <a:ext cx="1514475" cy="307181"/>
          </a:xfrm>
          <a:prstGeom prst="rect">
            <a:avLst/>
          </a:prstGeom>
          <a:noFill/>
          <a:ln/>
        </p:spPr>
        <p:txBody>
          <a:bodyPr wrap="square" lIns="85090" tIns="102108" rIns="68072" bIns="0" rtlCol="0" anchor="t">
            <a:spAutoFit/>
          </a:bodyPr>
          <a:lstStyle/>
          <a:p>
            <a:pPr algn="l" indent="0" marL="0">
              <a:lnSpc>
                <a:spcPct val="84000"/>
              </a:lnSpc>
              <a:buNone/>
            </a:pPr>
            <a:r>
              <a:rPr lang="en-US" sz="550" b="1" spc="1" kern="0" dirty="0">
                <a:solidFill>
                  <a:srgbClr val="0B1020"/>
                </a:solidFill>
                <a:latin typeface="Arial" pitchFamily="34" charset="0"/>
                <a:ea typeface="Arial" pitchFamily="34" charset="-122"/>
                <a:cs typeface="Arial" pitchFamily="34" charset="-120"/>
              </a:rPr>
              <a:t>MERGED ARTIFACT</a:t>
            </a:r>
            <a:endParaRPr lang="en-US" sz="550" dirty="0"/>
          </a:p>
        </p:txBody>
      </p:sp>
      <p:sp>
        <p:nvSpPr>
          <p:cNvPr id="22" name="Text 18"/>
          <p:cNvSpPr/>
          <p:nvPr/>
        </p:nvSpPr>
        <p:spPr>
          <a:xfrm>
            <a:off x="4400550" y="1528763"/>
            <a:ext cx="342900" cy="1857375"/>
          </a:xfrm>
          <a:prstGeom prst="rect">
            <a:avLst/>
          </a:prstGeom>
          <a:noFill/>
          <a:ln/>
        </p:spPr>
        <p:txBody>
          <a:bodyPr wrap="square" lIns="0" tIns="0" rIns="0" bIns="0" rtlCol="0" anchor="ctr">
            <a:spAutoFit/>
          </a:bodyPr>
          <a:lstStyle/>
          <a:p>
            <a:pPr algn="ctr" indent="0" marL="0">
              <a:lnSpc>
                <a:spcPct val="80000"/>
              </a:lnSpc>
              <a:buNone/>
            </a:pPr>
            <a:r>
              <a:rPr lang="en-US" sz="1700" b="1" dirty="0">
                <a:solidFill>
                  <a:srgbClr val="A3E635"/>
                </a:solidFill>
                <a:latin typeface="Arial" pitchFamily="34" charset="0"/>
                <a:ea typeface="Arial" pitchFamily="34" charset="-122"/>
                <a:cs typeface="Arial" pitchFamily="34" charset="-120"/>
              </a:rPr>
              <a:t>→</a:t>
            </a:r>
            <a:endParaRPr lang="en-US" sz="1700" dirty="0"/>
          </a:p>
        </p:txBody>
      </p:sp>
      <p:sp>
        <p:nvSpPr>
          <p:cNvPr id="23" name="Shape 19"/>
          <p:cNvSpPr/>
          <p:nvPr/>
        </p:nvSpPr>
        <p:spPr>
          <a:xfrm>
            <a:off x="4743450" y="1528763"/>
            <a:ext cx="1785938" cy="1857375"/>
          </a:xfrm>
          <a:prstGeom prst="rect">
            <a:avLst/>
          </a:prstGeom>
          <a:solidFill>
            <a:srgbClr val="F8FAFC"/>
          </a:solidFill>
          <a:ln/>
        </p:spPr>
      </p:sp>
      <p:sp>
        <p:nvSpPr>
          <p:cNvPr id="24" name="Shape 20"/>
          <p:cNvSpPr/>
          <p:nvPr/>
        </p:nvSpPr>
        <p:spPr>
          <a:xfrm>
            <a:off x="4743450" y="1528763"/>
            <a:ext cx="1785938" cy="50006"/>
          </a:xfrm>
          <a:prstGeom prst="rect">
            <a:avLst/>
          </a:prstGeom>
          <a:solidFill>
            <a:srgbClr val="A3E635"/>
          </a:solidFill>
          <a:ln/>
        </p:spPr>
      </p:sp>
      <p:sp>
        <p:nvSpPr>
          <p:cNvPr id="25" name="Text 21"/>
          <p:cNvSpPr/>
          <p:nvPr/>
        </p:nvSpPr>
        <p:spPr>
          <a:xfrm>
            <a:off x="4879181" y="1678781"/>
            <a:ext cx="1514475" cy="85725"/>
          </a:xfrm>
          <a:prstGeom prst="rect">
            <a:avLst/>
          </a:prstGeom>
          <a:noFill/>
          <a:ln/>
        </p:spPr>
        <p:txBody>
          <a:bodyPr wrap="none" lIns="0" tIns="0" rIns="0" bIns="0" rtlCol="0" anchor="t">
            <a:spAutoFit/>
          </a:bodyPr>
          <a:lstStyle/>
          <a:p>
            <a:pPr algn="l" indent="0" marL="0">
              <a:lnSpc>
                <a:spcPct val="80000"/>
              </a:lnSpc>
              <a:buNone/>
            </a:pPr>
            <a:r>
              <a:rPr lang="en-US" sz="600" b="1" spc="1" kern="0" dirty="0">
                <a:solidFill>
                  <a:srgbClr val="65A30D"/>
                </a:solidFill>
                <a:latin typeface="Arial" pitchFamily="34" charset="0"/>
                <a:ea typeface="Arial" pitchFamily="34" charset="-122"/>
                <a:cs typeface="Arial" pitchFamily="34" charset="-120"/>
              </a:rPr>
              <a:t>03 / INSPECT</a:t>
            </a:r>
            <a:endParaRPr lang="en-US" sz="600" dirty="0"/>
          </a:p>
        </p:txBody>
      </p:sp>
      <p:sp>
        <p:nvSpPr>
          <p:cNvPr id="26" name="Text 22"/>
          <p:cNvSpPr/>
          <p:nvPr/>
        </p:nvSpPr>
        <p:spPr>
          <a:xfrm>
            <a:off x="4879181" y="1835944"/>
            <a:ext cx="1514475" cy="326827"/>
          </a:xfrm>
          <a:prstGeom prst="rect">
            <a:avLst/>
          </a:prstGeom>
          <a:noFill/>
          <a:ln/>
        </p:spPr>
        <p:txBody>
          <a:bodyPr wrap="square" lIns="0" tIns="0" rIns="0" bIns="0" rtlCol="0" anchor="t">
            <a:spAutoFit/>
          </a:bodyPr>
          <a:lstStyle/>
          <a:p>
            <a:pPr algn="l" indent="0" marL="0">
              <a:lnSpc>
                <a:spcPct val="83200"/>
              </a:lnSpc>
              <a:buNone/>
            </a:pPr>
            <a:r>
              <a:rPr lang="en-US" sz="1100" b="1" dirty="0">
                <a:solidFill>
                  <a:srgbClr val="0B1020"/>
                </a:solidFill>
                <a:latin typeface="Arial" pitchFamily="34" charset="0"/>
                <a:ea typeface="Arial" pitchFamily="34" charset="-122"/>
                <a:cs typeface="Arial" pitchFamily="34" charset="-120"/>
              </a:rPr>
              <a:t>LOCAL DASHBOARD</a:t>
            </a:r>
            <a:endParaRPr lang="en-US" sz="1100" dirty="0"/>
          </a:p>
        </p:txBody>
      </p:sp>
      <p:sp>
        <p:nvSpPr>
          <p:cNvPr id="27" name="Text 23"/>
          <p:cNvSpPr/>
          <p:nvPr/>
        </p:nvSpPr>
        <p:spPr>
          <a:xfrm>
            <a:off x="4879181" y="2335113"/>
            <a:ext cx="1514475" cy="571500"/>
          </a:xfrm>
          <a:prstGeom prst="rect">
            <a:avLst/>
          </a:prstGeom>
          <a:noFill/>
          <a:ln/>
        </p:spPr>
        <p:txBody>
          <a:bodyPr wrap="square" lIns="0" tIns="0" rIns="0" bIns="0" rtlCol="0" anchor="t">
            <a:spAutoFit/>
          </a:bodyPr>
          <a:lstStyle/>
          <a:p>
            <a:pPr algn="l" indent="0" marL="0">
              <a:lnSpc>
                <a:spcPct val="100000"/>
              </a:lnSpc>
              <a:buNone/>
            </a:pPr>
            <a:r>
              <a:rPr lang="en-US" sz="850" dirty="0">
                <a:solidFill>
                  <a:srgbClr val="334155"/>
                </a:solidFill>
                <a:latin typeface="Arial" pitchFamily="34" charset="0"/>
                <a:ea typeface="Arial" pitchFamily="34" charset="-122"/>
                <a:cs typeface="Arial" pitchFamily="34" charset="-120"/>
              </a:rPr>
              <a:t>Import real history locally to explore duration, runner balance, retries, filters, and CSV export.</a:t>
            </a:r>
            <a:endParaRPr lang="en-US" sz="850" dirty="0"/>
          </a:p>
        </p:txBody>
      </p:sp>
      <p:sp>
        <p:nvSpPr>
          <p:cNvPr id="28" name="Shape 24"/>
          <p:cNvSpPr/>
          <p:nvPr/>
        </p:nvSpPr>
        <p:spPr>
          <a:xfrm>
            <a:off x="4879181" y="3078956"/>
            <a:ext cx="1514475" cy="307181"/>
          </a:xfrm>
          <a:prstGeom prst="rect">
            <a:avLst/>
          </a:prstGeom>
          <a:solidFill>
            <a:srgbClr val="A3E635"/>
          </a:solidFill>
          <a:ln/>
        </p:spPr>
      </p:sp>
      <p:sp>
        <p:nvSpPr>
          <p:cNvPr id="29" name="Text 25"/>
          <p:cNvSpPr/>
          <p:nvPr/>
        </p:nvSpPr>
        <p:spPr>
          <a:xfrm>
            <a:off x="4879181" y="3078956"/>
            <a:ext cx="1514475" cy="307181"/>
          </a:xfrm>
          <a:prstGeom prst="rect">
            <a:avLst/>
          </a:prstGeom>
          <a:noFill/>
          <a:ln/>
        </p:spPr>
        <p:txBody>
          <a:bodyPr wrap="square" lIns="85090" tIns="102108" rIns="68072" bIns="0" rtlCol="0" anchor="t">
            <a:spAutoFit/>
          </a:bodyPr>
          <a:lstStyle/>
          <a:p>
            <a:pPr algn="l" indent="0" marL="0">
              <a:lnSpc>
                <a:spcPct val="84000"/>
              </a:lnSpc>
              <a:buNone/>
            </a:pPr>
            <a:r>
              <a:rPr lang="en-US" sz="550" b="1" spc="1" kern="0" dirty="0">
                <a:solidFill>
                  <a:srgbClr val="0B1020"/>
                </a:solidFill>
                <a:latin typeface="Arial" pitchFamily="34" charset="0"/>
                <a:ea typeface="Arial" pitchFamily="34" charset="-122"/>
                <a:cs typeface="Arial" pitchFamily="34" charset="-120"/>
              </a:rPr>
              <a:t>NO EXTERNAL ANALYTICS</a:t>
            </a:r>
            <a:endParaRPr lang="en-US" sz="550" dirty="0"/>
          </a:p>
        </p:txBody>
      </p:sp>
      <p:sp>
        <p:nvSpPr>
          <p:cNvPr id="30" name="Text 26"/>
          <p:cNvSpPr/>
          <p:nvPr/>
        </p:nvSpPr>
        <p:spPr>
          <a:xfrm>
            <a:off x="6529388" y="1528763"/>
            <a:ext cx="342900" cy="1857375"/>
          </a:xfrm>
          <a:prstGeom prst="rect">
            <a:avLst/>
          </a:prstGeom>
          <a:noFill/>
          <a:ln/>
        </p:spPr>
        <p:txBody>
          <a:bodyPr wrap="square" lIns="0" tIns="0" rIns="0" bIns="0" rtlCol="0" anchor="ctr">
            <a:spAutoFit/>
          </a:bodyPr>
          <a:lstStyle/>
          <a:p>
            <a:pPr algn="ctr" indent="0" marL="0">
              <a:lnSpc>
                <a:spcPct val="80000"/>
              </a:lnSpc>
              <a:buNone/>
            </a:pPr>
            <a:r>
              <a:rPr lang="en-US" sz="1700" b="1" dirty="0">
                <a:solidFill>
                  <a:srgbClr val="A3E635"/>
                </a:solidFill>
                <a:latin typeface="Arial" pitchFamily="34" charset="0"/>
                <a:ea typeface="Arial" pitchFamily="34" charset="-122"/>
                <a:cs typeface="Arial" pitchFamily="34" charset="-120"/>
              </a:rPr>
              <a:t>→</a:t>
            </a:r>
            <a:endParaRPr lang="en-US" sz="1700" dirty="0"/>
          </a:p>
        </p:txBody>
      </p:sp>
      <p:sp>
        <p:nvSpPr>
          <p:cNvPr id="31" name="Shape 27"/>
          <p:cNvSpPr/>
          <p:nvPr/>
        </p:nvSpPr>
        <p:spPr>
          <a:xfrm>
            <a:off x="6872288" y="1528763"/>
            <a:ext cx="1785938" cy="1857375"/>
          </a:xfrm>
          <a:prstGeom prst="rect">
            <a:avLst/>
          </a:prstGeom>
          <a:solidFill>
            <a:srgbClr val="F8FAFC"/>
          </a:solidFill>
          <a:ln/>
        </p:spPr>
      </p:sp>
      <p:sp>
        <p:nvSpPr>
          <p:cNvPr id="32" name="Shape 28"/>
          <p:cNvSpPr/>
          <p:nvPr/>
        </p:nvSpPr>
        <p:spPr>
          <a:xfrm>
            <a:off x="6872288" y="1528763"/>
            <a:ext cx="1785938" cy="50006"/>
          </a:xfrm>
          <a:prstGeom prst="rect">
            <a:avLst/>
          </a:prstGeom>
          <a:solidFill>
            <a:srgbClr val="38BDF8"/>
          </a:solidFill>
          <a:ln/>
        </p:spPr>
      </p:sp>
      <p:sp>
        <p:nvSpPr>
          <p:cNvPr id="33" name="Text 29"/>
          <p:cNvSpPr/>
          <p:nvPr/>
        </p:nvSpPr>
        <p:spPr>
          <a:xfrm>
            <a:off x="7008019" y="1678781"/>
            <a:ext cx="1514475" cy="85725"/>
          </a:xfrm>
          <a:prstGeom prst="rect">
            <a:avLst/>
          </a:prstGeom>
          <a:noFill/>
          <a:ln/>
        </p:spPr>
        <p:txBody>
          <a:bodyPr wrap="none" lIns="0" tIns="0" rIns="0" bIns="0" rtlCol="0" anchor="t">
            <a:spAutoFit/>
          </a:bodyPr>
          <a:lstStyle/>
          <a:p>
            <a:pPr algn="l" indent="0" marL="0">
              <a:lnSpc>
                <a:spcPct val="80000"/>
              </a:lnSpc>
              <a:buNone/>
            </a:pPr>
            <a:r>
              <a:rPr lang="en-US" sz="600" b="1" spc="1" kern="0" dirty="0">
                <a:solidFill>
                  <a:srgbClr val="38BDF8"/>
                </a:solidFill>
                <a:latin typeface="Arial" pitchFamily="34" charset="0"/>
                <a:ea typeface="Arial" pitchFamily="34" charset="-122"/>
                <a:cs typeface="Arial" pitchFamily="34" charset="-120"/>
              </a:rPr>
              <a:t>04 / DECIDE</a:t>
            </a:r>
            <a:endParaRPr lang="en-US" sz="600" dirty="0"/>
          </a:p>
        </p:txBody>
      </p:sp>
      <p:sp>
        <p:nvSpPr>
          <p:cNvPr id="34" name="Text 30"/>
          <p:cNvSpPr/>
          <p:nvPr/>
        </p:nvSpPr>
        <p:spPr>
          <a:xfrm>
            <a:off x="7008019" y="1835944"/>
            <a:ext cx="1514475" cy="163413"/>
          </a:xfrm>
          <a:prstGeom prst="rect">
            <a:avLst/>
          </a:prstGeom>
          <a:noFill/>
          <a:ln/>
        </p:spPr>
        <p:txBody>
          <a:bodyPr wrap="none" lIns="0" tIns="0" rIns="0" bIns="0" rtlCol="0" anchor="t">
            <a:spAutoFit/>
          </a:bodyPr>
          <a:lstStyle/>
          <a:p>
            <a:pPr algn="l" indent="0" marL="0">
              <a:lnSpc>
                <a:spcPct val="83200"/>
              </a:lnSpc>
              <a:buNone/>
            </a:pPr>
            <a:r>
              <a:rPr lang="en-US" sz="1100" b="1" dirty="0">
                <a:solidFill>
                  <a:srgbClr val="0B1020"/>
                </a:solidFill>
                <a:latin typeface="Arial" pitchFamily="34" charset="0"/>
                <a:ea typeface="Arial" pitchFamily="34" charset="-122"/>
                <a:cs typeface="Arial" pitchFamily="34" charset="-120"/>
              </a:rPr>
              <a:t>TREND RESPONSE</a:t>
            </a:r>
            <a:endParaRPr lang="en-US" sz="1100" dirty="0"/>
          </a:p>
        </p:txBody>
      </p:sp>
      <p:sp>
        <p:nvSpPr>
          <p:cNvPr id="35" name="Text 31"/>
          <p:cNvSpPr/>
          <p:nvPr/>
        </p:nvSpPr>
        <p:spPr>
          <a:xfrm>
            <a:off x="7008019" y="2253407"/>
            <a:ext cx="1514475" cy="571500"/>
          </a:xfrm>
          <a:prstGeom prst="rect">
            <a:avLst/>
          </a:prstGeom>
          <a:noFill/>
          <a:ln/>
        </p:spPr>
        <p:txBody>
          <a:bodyPr wrap="square" lIns="0" tIns="0" rIns="0" bIns="0" rtlCol="0" anchor="t">
            <a:spAutoFit/>
          </a:bodyPr>
          <a:lstStyle/>
          <a:p>
            <a:pPr algn="l" indent="0" marL="0">
              <a:lnSpc>
                <a:spcPct val="100000"/>
              </a:lnSpc>
              <a:buNone/>
            </a:pPr>
            <a:r>
              <a:rPr lang="en-US" sz="850" dirty="0">
                <a:solidFill>
                  <a:srgbClr val="334155"/>
                </a:solidFill>
                <a:latin typeface="Arial" pitchFamily="34" charset="0"/>
                <a:ea typeface="Arial" pitchFamily="34" charset="-122"/>
                <a:cs typeface="Arial" pitchFamily="34" charset="-120"/>
              </a:rPr>
              <a:t>Compare history against configurable baselines before writing summary context or a regression issue.</a:t>
            </a:r>
            <a:endParaRPr lang="en-US" sz="850" dirty="0"/>
          </a:p>
        </p:txBody>
      </p:sp>
      <p:sp>
        <p:nvSpPr>
          <p:cNvPr id="36" name="Shape 32"/>
          <p:cNvSpPr/>
          <p:nvPr/>
        </p:nvSpPr>
        <p:spPr>
          <a:xfrm>
            <a:off x="7008019" y="3078956"/>
            <a:ext cx="1514475" cy="307181"/>
          </a:xfrm>
          <a:prstGeom prst="rect">
            <a:avLst/>
          </a:prstGeom>
          <a:solidFill>
            <a:srgbClr val="E0F2FE"/>
          </a:solidFill>
          <a:ln/>
        </p:spPr>
      </p:sp>
      <p:sp>
        <p:nvSpPr>
          <p:cNvPr id="37" name="Text 33"/>
          <p:cNvSpPr/>
          <p:nvPr/>
        </p:nvSpPr>
        <p:spPr>
          <a:xfrm>
            <a:off x="7008019" y="3078956"/>
            <a:ext cx="1514475" cy="307181"/>
          </a:xfrm>
          <a:prstGeom prst="rect">
            <a:avLst/>
          </a:prstGeom>
          <a:noFill/>
          <a:ln/>
        </p:spPr>
        <p:txBody>
          <a:bodyPr wrap="square" lIns="85090" tIns="102108" rIns="68072" bIns="0" rtlCol="0" anchor="t">
            <a:spAutoFit/>
          </a:bodyPr>
          <a:lstStyle/>
          <a:p>
            <a:pPr algn="l" indent="0" marL="0">
              <a:lnSpc>
                <a:spcPct val="84000"/>
              </a:lnSpc>
              <a:buNone/>
            </a:pPr>
            <a:r>
              <a:rPr lang="en-US" sz="550" b="1" spc="1" kern="0" dirty="0">
                <a:solidFill>
                  <a:srgbClr val="0B1020"/>
                </a:solidFill>
                <a:latin typeface="Arial" pitchFamily="34" charset="0"/>
                <a:ea typeface="Arial" pitchFamily="34" charset="-122"/>
                <a:cs typeface="Arial" pitchFamily="34" charset="-120"/>
              </a:rPr>
              <a:t>CONFIGURABLE THRESHOLDS</a:t>
            </a:r>
            <a:endParaRPr lang="en-US" sz="550" dirty="0"/>
          </a:p>
        </p:txBody>
      </p:sp>
      <p:sp>
        <p:nvSpPr>
          <p:cNvPr id="38" name="Shape 34"/>
          <p:cNvSpPr/>
          <p:nvPr/>
        </p:nvSpPr>
        <p:spPr>
          <a:xfrm>
            <a:off x="485775" y="3614738"/>
            <a:ext cx="8172450" cy="914400"/>
          </a:xfrm>
          <a:prstGeom prst="rect">
            <a:avLst/>
          </a:prstGeom>
          <a:solidFill>
            <a:srgbClr val="38BDF8"/>
          </a:solidFill>
          <a:ln/>
        </p:spPr>
      </p:sp>
      <p:sp>
        <p:nvSpPr>
          <p:cNvPr id="39" name="Shape 35"/>
          <p:cNvSpPr/>
          <p:nvPr/>
        </p:nvSpPr>
        <p:spPr>
          <a:xfrm>
            <a:off x="485775" y="3614738"/>
            <a:ext cx="2214563" cy="914400"/>
          </a:xfrm>
          <a:prstGeom prst="rect">
            <a:avLst/>
          </a:prstGeom>
          <a:solidFill>
            <a:srgbClr val="A3E635"/>
          </a:solidFill>
          <a:ln/>
        </p:spPr>
      </p:sp>
      <p:sp>
        <p:nvSpPr>
          <p:cNvPr id="40" name="Text 36"/>
          <p:cNvSpPr/>
          <p:nvPr/>
        </p:nvSpPr>
        <p:spPr>
          <a:xfrm>
            <a:off x="485775" y="3614738"/>
            <a:ext cx="2214563" cy="914400"/>
          </a:xfrm>
          <a:prstGeom prst="rect">
            <a:avLst/>
          </a:prstGeom>
          <a:noFill/>
          <a:ln/>
        </p:spPr>
        <p:txBody>
          <a:bodyPr wrap="square" lIns="195580" tIns="272161" rIns="153035" bIns="0" rtlCol="0" anchor="t">
            <a:spAutoFit/>
          </a:bodyPr>
          <a:lstStyle/>
          <a:p>
            <a:pPr algn="l" indent="0" marL="0">
              <a:lnSpc>
                <a:spcPct val="92000"/>
              </a:lnSpc>
              <a:buNone/>
            </a:pPr>
            <a:r>
              <a:rPr lang="en-US" sz="800" b="1" spc="1" kern="0" dirty="0">
                <a:solidFill>
                  <a:srgbClr val="0B1020"/>
                </a:solidFill>
                <a:latin typeface="Arial" pitchFamily="34" charset="0"/>
                <a:ea typeface="Arial" pitchFamily="34" charset="-122"/>
                <a:cs typeface="Arial" pitchFamily="34" charset="-120"/>
              </a:rPr>
              <a:t>DATA BOUNDARY</a:t>
            </a:r>
            <a:endParaRPr lang="en-US" sz="800" dirty="0"/>
          </a:p>
        </p:txBody>
      </p:sp>
      <p:sp>
        <p:nvSpPr>
          <p:cNvPr id="41" name="Text 37"/>
          <p:cNvSpPr/>
          <p:nvPr/>
        </p:nvSpPr>
        <p:spPr>
          <a:xfrm>
            <a:off x="2700338" y="3614738"/>
            <a:ext cx="5957888" cy="914400"/>
          </a:xfrm>
          <a:prstGeom prst="rect">
            <a:avLst/>
          </a:prstGeom>
          <a:noFill/>
          <a:ln/>
        </p:spPr>
        <p:txBody>
          <a:bodyPr wrap="square" lIns="221107" tIns="195580" rIns="238125" bIns="0" rtlCol="0" anchor="t">
            <a:spAutoFit/>
          </a:bodyPr>
          <a:lstStyle/>
          <a:p>
            <a:pPr algn="l" indent="0" marL="0">
              <a:lnSpc>
                <a:spcPct val="100800"/>
              </a:lnSpc>
              <a:buNone/>
            </a:pPr>
            <a:r>
              <a:rPr lang="en-US" sz="1050" dirty="0">
                <a:solidFill>
                  <a:srgbClr val="0B1020"/>
                </a:solidFill>
                <a:latin typeface="Arial" pitchFamily="34" charset="0"/>
                <a:ea typeface="Arial" pitchFamily="34" charset="-122"/>
                <a:cs typeface="Arial" pitchFamily="34" charset="-120"/>
              </a:rPr>
              <a:t>Keep browser state, cookies, secrets, raw logs, traces, screenshots, and issue-comment payloads out of the metrics contract. Retain only the facts required to understand operational performance.</a:t>
            </a:r>
            <a:endParaRPr lang="en-US" sz="1050" dirty="0"/>
          </a:p>
        </p:txBody>
      </p:sp>
      <p:sp>
        <p:nvSpPr>
          <p:cNvPr id="42" name="Text 38"/>
          <p:cNvSpPr/>
          <p:nvPr/>
        </p:nvSpPr>
        <p:spPr>
          <a:xfrm>
            <a:off x="485775" y="4643438"/>
            <a:ext cx="8172450" cy="117983"/>
          </a:xfrm>
          <a:prstGeom prst="rect">
            <a:avLst/>
          </a:prstGeom>
          <a:noFill/>
          <a:ln/>
        </p:spPr>
        <p:txBody>
          <a:bodyPr wrap="none" lIns="0" tIns="0" rIns="0" bIns="0" rtlCol="0" anchor="t">
            <a:spAutoFit/>
          </a:bodyPr>
          <a:lstStyle/>
          <a:p>
            <a:pPr algn="l" indent="0" marL="0">
              <a:lnSpc>
                <a:spcPct val="94400"/>
              </a:lnSpc>
              <a:buNone/>
            </a:pPr>
            <a:r>
              <a:rPr lang="en-US" sz="700" b="1" spc="1" kern="0" dirty="0">
                <a:solidFill>
                  <a:srgbClr val="A3E635"/>
                </a:solidFill>
                <a:latin typeface="Arial" pitchFamily="34" charset="0"/>
                <a:ea typeface="Arial" pitchFamily="34" charset="-122"/>
                <a:cs typeface="Arial" pitchFamily="34" charset="-120"/>
              </a:rPr>
              <a:t>PRINCIPLE:</a:t>
            </a:r>
            <a:r>
              <a:rPr lang="en-US" sz="700" b="1" spc="1" kern="0" dirty="0">
                <a:solidFill>
                  <a:srgbClr val="CBD5E1"/>
                </a:solidFill>
                <a:latin typeface="Arial" pitchFamily="34" charset="0"/>
                <a:ea typeface="Arial" pitchFamily="34" charset="-122"/>
                <a:cs typeface="Arial" pitchFamily="34" charset="-120"/>
              </a:rPr>
              <a:t> NO BASELINE, NO ALERT; NO SENSITIVE STATE, NO DASHBOARD RECORD.</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85775" y="328613"/>
            <a:ext cx="8172450" cy="100013"/>
          </a:xfrm>
          <a:prstGeom prst="rect">
            <a:avLst/>
          </a:prstGeom>
          <a:noFill/>
          <a:ln/>
        </p:spPr>
        <p:txBody>
          <a:bodyPr wrap="none" lIns="0" tIns="0" rIns="0" bIns="0" rtlCol="0" anchor="t">
            <a:spAutoFit/>
          </a:bodyPr>
          <a:lstStyle/>
          <a:p>
            <a:pPr algn="l" indent="0" marL="0">
              <a:lnSpc>
                <a:spcPct val="80000"/>
              </a:lnSpc>
              <a:buNone/>
            </a:pPr>
            <a:r>
              <a:rPr lang="en-US" sz="700" b="1" spc="2" kern="0" dirty="0">
                <a:solidFill>
                  <a:srgbClr val="A3E635"/>
                </a:solidFill>
                <a:latin typeface="Arial" pitchFamily="34" charset="0"/>
                <a:ea typeface="Arial" pitchFamily="34" charset="-122"/>
                <a:cs typeface="Arial" pitchFamily="34" charset="-120"/>
              </a:rPr>
              <a:t>MAINTENANCE CONTROLS</a:t>
            </a:r>
            <a:endParaRPr lang="en-US" sz="700" dirty="0"/>
          </a:p>
        </p:txBody>
      </p:sp>
      <p:sp>
        <p:nvSpPr>
          <p:cNvPr id="5" name="Text 1"/>
          <p:cNvSpPr/>
          <p:nvPr/>
        </p:nvSpPr>
        <p:spPr>
          <a:xfrm>
            <a:off x="485775" y="500063"/>
            <a:ext cx="8172450" cy="300038"/>
          </a:xfrm>
          <a:prstGeom prst="rect">
            <a:avLst/>
          </a:prstGeom>
          <a:noFill/>
          <a:ln/>
        </p:spPr>
        <p:txBody>
          <a:bodyPr wrap="none" lIns="0" tIns="0" rIns="0" bIns="0" rtlCol="0" anchor="t">
            <a:spAutoFit/>
          </a:bodyPr>
          <a:lstStyle/>
          <a:p>
            <a:pPr algn="l" indent="0" marL="0">
              <a:lnSpc>
                <a:spcPct val="80000"/>
              </a:lnSpc>
              <a:buNone/>
            </a:pPr>
            <a:r>
              <a:rPr lang="en-US" sz="2100" b="1" spc="-1" kern="0" dirty="0">
                <a:solidFill>
                  <a:srgbClr val="F8FAFC"/>
                </a:solidFill>
                <a:latin typeface="Arial" pitchFamily="34" charset="0"/>
                <a:ea typeface="Arial" pitchFamily="34" charset="-122"/>
                <a:cs typeface="Arial" pitchFamily="34" charset="-120"/>
              </a:rPr>
              <a:t>MAINTENANCE IS EXPLICIT AND AUDITABLE</a:t>
            </a:r>
            <a:endParaRPr lang="en-US" sz="2100" dirty="0"/>
          </a:p>
        </p:txBody>
      </p:sp>
      <p:sp>
        <p:nvSpPr>
          <p:cNvPr id="6" name="Text 2"/>
          <p:cNvSpPr/>
          <p:nvPr/>
        </p:nvSpPr>
        <p:spPr>
          <a:xfrm>
            <a:off x="485775" y="885825"/>
            <a:ext cx="6286500" cy="371475"/>
          </a:xfrm>
          <a:prstGeom prst="rect">
            <a:avLst/>
          </a:prstGeom>
          <a:noFill/>
          <a:ln/>
        </p:spPr>
        <p:txBody>
          <a:bodyPr wrap="square" lIns="0" tIns="0" rIns="0" bIns="0" rtlCol="0" anchor="t">
            <a:spAutoFit/>
          </a:bodyPr>
          <a:lstStyle/>
          <a:p>
            <a:pPr algn="l" indent="0" marL="0">
              <a:lnSpc>
                <a:spcPct val="104000"/>
              </a:lnSpc>
              <a:buNone/>
            </a:pPr>
            <a:r>
              <a:rPr lang="en-US" sz="1050" dirty="0">
                <a:solidFill>
                  <a:srgbClr val="CBD5E1"/>
                </a:solidFill>
                <a:latin typeface="Arial" pitchFamily="34" charset="0"/>
                <a:ea typeface="Arial" pitchFamily="34" charset="-122"/>
                <a:cs typeface="Arial" pitchFamily="34" charset="-120"/>
              </a:rPr>
              <a:t>The skill makes recurring operations narrow, observable, and safe—each routine has a specific trigger, output, and failure boundary.</a:t>
            </a:r>
            <a:endParaRPr lang="en-US" sz="1050" dirty="0"/>
          </a:p>
        </p:txBody>
      </p:sp>
      <p:sp>
        <p:nvSpPr>
          <p:cNvPr id="7" name="Shape 3"/>
          <p:cNvSpPr/>
          <p:nvPr/>
        </p:nvSpPr>
        <p:spPr>
          <a:xfrm>
            <a:off x="485775" y="1471613"/>
            <a:ext cx="3000375" cy="942975"/>
          </a:xfrm>
          <a:prstGeom prst="rect">
            <a:avLst/>
          </a:prstGeom>
          <a:solidFill>
            <a:srgbClr val="F8FAFC"/>
          </a:solidFill>
          <a:ln/>
        </p:spPr>
      </p:sp>
      <p:sp>
        <p:nvSpPr>
          <p:cNvPr id="8" name="Shape 4"/>
          <p:cNvSpPr/>
          <p:nvPr/>
        </p:nvSpPr>
        <p:spPr>
          <a:xfrm>
            <a:off x="485775" y="1471613"/>
            <a:ext cx="3000375" cy="42863"/>
          </a:xfrm>
          <a:prstGeom prst="rect">
            <a:avLst/>
          </a:prstGeom>
          <a:solidFill>
            <a:srgbClr val="A3E635"/>
          </a:solidFill>
          <a:ln/>
        </p:spPr>
      </p:sp>
      <p:sp>
        <p:nvSpPr>
          <p:cNvPr id="9" name="Text 5"/>
          <p:cNvSpPr/>
          <p:nvPr/>
        </p:nvSpPr>
        <p:spPr>
          <a:xfrm>
            <a:off x="628650" y="1600200"/>
            <a:ext cx="2728913" cy="85725"/>
          </a:xfrm>
          <a:prstGeom prst="rect">
            <a:avLst/>
          </a:prstGeom>
          <a:noFill/>
          <a:ln/>
        </p:spPr>
        <p:txBody>
          <a:bodyPr wrap="none" lIns="0" tIns="0" rIns="0" bIns="0" rtlCol="0" anchor="t">
            <a:spAutoFit/>
          </a:bodyPr>
          <a:lstStyle/>
          <a:p>
            <a:pPr algn="l" indent="0" marL="0">
              <a:lnSpc>
                <a:spcPct val="80000"/>
              </a:lnSpc>
              <a:buNone/>
            </a:pPr>
            <a:r>
              <a:rPr lang="en-US" sz="600" b="1" spc="1" kern="0" dirty="0">
                <a:solidFill>
                  <a:srgbClr val="65A30D"/>
                </a:solidFill>
                <a:latin typeface="Arial" pitchFamily="34" charset="0"/>
                <a:ea typeface="Arial" pitchFamily="34" charset="-122"/>
                <a:cs typeface="Arial" pitchFamily="34" charset="-120"/>
              </a:rPr>
              <a:t>SCHEDULED + MANUAL</a:t>
            </a:r>
            <a:endParaRPr lang="en-US" sz="600" dirty="0"/>
          </a:p>
        </p:txBody>
      </p:sp>
      <p:sp>
        <p:nvSpPr>
          <p:cNvPr id="10" name="Text 6"/>
          <p:cNvSpPr/>
          <p:nvPr/>
        </p:nvSpPr>
        <p:spPr>
          <a:xfrm>
            <a:off x="628650" y="1750219"/>
            <a:ext cx="2728913" cy="148568"/>
          </a:xfrm>
          <a:prstGeom prst="rect">
            <a:avLst/>
          </a:prstGeom>
          <a:noFill/>
          <a:ln/>
        </p:spPr>
        <p:txBody>
          <a:bodyPr wrap="none" lIns="0" tIns="0" rIns="0" bIns="0" rtlCol="0" anchor="t">
            <a:spAutoFit/>
          </a:bodyPr>
          <a:lstStyle/>
          <a:p>
            <a:pPr algn="l" indent="0" marL="0">
              <a:lnSpc>
                <a:spcPct val="83200"/>
              </a:lnSpc>
              <a:buNone/>
            </a:pPr>
            <a:r>
              <a:rPr lang="en-US" sz="1000" b="1" dirty="0">
                <a:solidFill>
                  <a:srgbClr val="0B1020"/>
                </a:solidFill>
                <a:latin typeface="Arial" pitchFamily="34" charset="0"/>
                <a:ea typeface="Arial" pitchFamily="34" charset="-122"/>
                <a:cs typeface="Arial" pitchFamily="34" charset="-120"/>
              </a:rPr>
              <a:t>SESSION HEALTH</a:t>
            </a:r>
            <a:endParaRPr lang="en-US" sz="1000" dirty="0"/>
          </a:p>
        </p:txBody>
      </p:sp>
      <p:sp>
        <p:nvSpPr>
          <p:cNvPr id="11" name="Text 7"/>
          <p:cNvSpPr/>
          <p:nvPr/>
        </p:nvSpPr>
        <p:spPr>
          <a:xfrm>
            <a:off x="628650" y="1955936"/>
            <a:ext cx="2728913" cy="278829"/>
          </a:xfrm>
          <a:prstGeom prst="rect">
            <a:avLst/>
          </a:prstGeom>
          <a:noFill/>
          <a:ln/>
        </p:spPr>
        <p:txBody>
          <a:bodyPr wrap="square" lIns="0" tIns="0" rIns="0" bIns="0" rtlCol="0" anchor="t">
            <a:spAutoFit/>
          </a:bodyPr>
          <a:lstStyle/>
          <a:p>
            <a:pPr algn="l" indent="0" marL="0">
              <a:lnSpc>
                <a:spcPct val="97600"/>
              </a:lnSpc>
              <a:buNone/>
            </a:pPr>
            <a:r>
              <a:rPr lang="en-US" sz="850" dirty="0">
                <a:solidFill>
                  <a:srgbClr val="334155"/>
                </a:solidFill>
                <a:latin typeface="Arial" pitchFamily="34" charset="0"/>
                <a:ea typeface="Arial" pitchFamily="34" charset="-122"/>
                <a:cs typeface="Arial" pitchFamily="34" charset="-120"/>
              </a:rPr>
              <a:t>Classify expiry, bound transient retries, and maintain one renewal issue for confirmed failure.</a:t>
            </a:r>
            <a:endParaRPr lang="en-US" sz="850" dirty="0"/>
          </a:p>
        </p:txBody>
      </p:sp>
      <p:sp>
        <p:nvSpPr>
          <p:cNvPr id="12" name="Shape 8"/>
          <p:cNvSpPr/>
          <p:nvPr/>
        </p:nvSpPr>
        <p:spPr>
          <a:xfrm>
            <a:off x="485775" y="2528888"/>
            <a:ext cx="3000375" cy="942975"/>
          </a:xfrm>
          <a:prstGeom prst="rect">
            <a:avLst/>
          </a:prstGeom>
          <a:solidFill>
            <a:srgbClr val="F8FAFC"/>
          </a:solidFill>
          <a:ln/>
        </p:spPr>
      </p:sp>
      <p:sp>
        <p:nvSpPr>
          <p:cNvPr id="13" name="Shape 9"/>
          <p:cNvSpPr/>
          <p:nvPr/>
        </p:nvSpPr>
        <p:spPr>
          <a:xfrm>
            <a:off x="485775" y="2528888"/>
            <a:ext cx="3000375" cy="42863"/>
          </a:xfrm>
          <a:prstGeom prst="rect">
            <a:avLst/>
          </a:prstGeom>
          <a:solidFill>
            <a:srgbClr val="38BDF8"/>
          </a:solidFill>
          <a:ln/>
        </p:spPr>
      </p:sp>
      <p:sp>
        <p:nvSpPr>
          <p:cNvPr id="14" name="Text 10"/>
          <p:cNvSpPr/>
          <p:nvPr/>
        </p:nvSpPr>
        <p:spPr>
          <a:xfrm>
            <a:off x="628650" y="2657475"/>
            <a:ext cx="2728913" cy="85725"/>
          </a:xfrm>
          <a:prstGeom prst="rect">
            <a:avLst/>
          </a:prstGeom>
          <a:noFill/>
          <a:ln/>
        </p:spPr>
        <p:txBody>
          <a:bodyPr wrap="none" lIns="0" tIns="0" rIns="0" bIns="0" rtlCol="0" anchor="t">
            <a:spAutoFit/>
          </a:bodyPr>
          <a:lstStyle/>
          <a:p>
            <a:pPr algn="l" indent="0" marL="0">
              <a:lnSpc>
                <a:spcPct val="80000"/>
              </a:lnSpc>
              <a:buNone/>
            </a:pPr>
            <a:r>
              <a:rPr lang="en-US" sz="600" b="1" spc="1" kern="0" dirty="0">
                <a:solidFill>
                  <a:srgbClr val="2563EB"/>
                </a:solidFill>
                <a:latin typeface="Arial" pitchFamily="34" charset="0"/>
                <a:ea typeface="Arial" pitchFamily="34" charset="-122"/>
                <a:cs typeface="Arial" pitchFamily="34" charset="-120"/>
              </a:rPr>
              <a:t>SCHEDULED + MANUAL</a:t>
            </a:r>
            <a:endParaRPr lang="en-US" sz="600" dirty="0"/>
          </a:p>
        </p:txBody>
      </p:sp>
      <p:sp>
        <p:nvSpPr>
          <p:cNvPr id="15" name="Text 11"/>
          <p:cNvSpPr/>
          <p:nvPr/>
        </p:nvSpPr>
        <p:spPr>
          <a:xfrm>
            <a:off x="628650" y="2807494"/>
            <a:ext cx="2728913" cy="148568"/>
          </a:xfrm>
          <a:prstGeom prst="rect">
            <a:avLst/>
          </a:prstGeom>
          <a:noFill/>
          <a:ln/>
        </p:spPr>
        <p:txBody>
          <a:bodyPr wrap="none" lIns="0" tIns="0" rIns="0" bIns="0" rtlCol="0" anchor="t">
            <a:spAutoFit/>
          </a:bodyPr>
          <a:lstStyle/>
          <a:p>
            <a:pPr algn="l" indent="0" marL="0">
              <a:lnSpc>
                <a:spcPct val="83200"/>
              </a:lnSpc>
              <a:buNone/>
            </a:pPr>
            <a:r>
              <a:rPr lang="en-US" sz="1000" b="1" dirty="0">
                <a:solidFill>
                  <a:srgbClr val="0B1020"/>
                </a:solidFill>
                <a:latin typeface="Arial" pitchFamily="34" charset="0"/>
                <a:ea typeface="Arial" pitchFamily="34" charset="-122"/>
                <a:cs typeface="Arial" pitchFamily="34" charset="-120"/>
              </a:rPr>
              <a:t>OPERATIONS PREFLIGHT</a:t>
            </a:r>
            <a:endParaRPr lang="en-US" sz="1000" dirty="0"/>
          </a:p>
        </p:txBody>
      </p:sp>
      <p:sp>
        <p:nvSpPr>
          <p:cNvPr id="16" name="Text 12"/>
          <p:cNvSpPr/>
          <p:nvPr/>
        </p:nvSpPr>
        <p:spPr>
          <a:xfrm>
            <a:off x="628650" y="3013211"/>
            <a:ext cx="2728913" cy="278829"/>
          </a:xfrm>
          <a:prstGeom prst="rect">
            <a:avLst/>
          </a:prstGeom>
          <a:noFill/>
          <a:ln/>
        </p:spPr>
        <p:txBody>
          <a:bodyPr wrap="square" lIns="0" tIns="0" rIns="0" bIns="0" rtlCol="0" anchor="t">
            <a:spAutoFit/>
          </a:bodyPr>
          <a:lstStyle/>
          <a:p>
            <a:pPr algn="l" indent="0" marL="0">
              <a:lnSpc>
                <a:spcPct val="97600"/>
              </a:lnSpc>
              <a:buNone/>
            </a:pPr>
            <a:r>
              <a:rPr lang="en-US" sz="850" dirty="0">
                <a:solidFill>
                  <a:srgbClr val="334155"/>
                </a:solidFill>
                <a:latin typeface="Arial" pitchFamily="34" charset="0"/>
                <a:ea typeface="Arial" pitchFamily="34" charset="-122"/>
                <a:cs typeface="Arial" pitchFamily="34" charset="-120"/>
              </a:rPr>
              <a:t>Check wiring, policy, and optional integration completeness without touching the SaaS.</a:t>
            </a:r>
            <a:endParaRPr lang="en-US" sz="850" dirty="0"/>
          </a:p>
        </p:txBody>
      </p:sp>
      <p:sp>
        <p:nvSpPr>
          <p:cNvPr id="17" name="Shape 13"/>
          <p:cNvSpPr/>
          <p:nvPr/>
        </p:nvSpPr>
        <p:spPr>
          <a:xfrm>
            <a:off x="3643313" y="1464469"/>
            <a:ext cx="1857375" cy="2014538"/>
          </a:xfrm>
          <a:prstGeom prst="rect">
            <a:avLst/>
          </a:prstGeom>
          <a:solidFill>
            <a:srgbClr val="38BDF8"/>
          </a:solidFill>
          <a:ln w="45720">
            <a:solidFill>
              <a:srgbClr val="A3E635"/>
            </a:solidFill>
            <a:prstDash val="solid"/>
          </a:ln>
        </p:spPr>
      </p:sp>
      <p:pic>
        <p:nvPicPr>
          <p:cNvPr id="18" name="Image 1" descr="preencoded.png">    </p:cNvPr>
          <p:cNvPicPr>
            <a:picLocks noChangeAspect="1"/>
          </p:cNvPicPr>
          <p:nvPr/>
        </p:nvPicPr>
        <p:blipFill>
          <a:blip r:embed="rId2"/>
          <a:stretch>
            <a:fillRect/>
          </a:stretch>
        </p:blipFill>
        <p:spPr>
          <a:xfrm>
            <a:off x="4057650" y="1757028"/>
            <a:ext cx="1028700" cy="1028700"/>
          </a:xfrm>
          <a:prstGeom prst="rect">
            <a:avLst/>
          </a:prstGeom>
        </p:spPr>
      </p:pic>
      <p:sp>
        <p:nvSpPr>
          <p:cNvPr id="19" name="Text 14"/>
          <p:cNvSpPr/>
          <p:nvPr/>
        </p:nvSpPr>
        <p:spPr>
          <a:xfrm>
            <a:off x="4042581" y="2907171"/>
            <a:ext cx="1058782" cy="117872"/>
          </a:xfrm>
          <a:prstGeom prst="rect">
            <a:avLst/>
          </a:prstGeom>
          <a:noFill/>
          <a:ln/>
        </p:spPr>
        <p:txBody>
          <a:bodyPr wrap="none" lIns="0" tIns="0" rIns="0" bIns="0" rtlCol="0" anchor="t">
            <a:spAutoFit/>
          </a:bodyPr>
          <a:lstStyle/>
          <a:p>
            <a:pPr algn="ctr" indent="0" marL="0">
              <a:lnSpc>
                <a:spcPct val="88000"/>
              </a:lnSpc>
              <a:buNone/>
            </a:pPr>
            <a:r>
              <a:rPr lang="en-US" sz="750" b="1" spc="1" kern="0" dirty="0">
                <a:solidFill>
                  <a:srgbClr val="0B1020"/>
                </a:solidFill>
                <a:latin typeface="Arial" pitchFamily="34" charset="0"/>
                <a:ea typeface="Arial" pitchFamily="34" charset="-122"/>
                <a:cs typeface="Arial" pitchFamily="34" charset="-120"/>
              </a:rPr>
              <a:t>GITHUB ACTIONS</a:t>
            </a:r>
            <a:endParaRPr lang="en-US" sz="750" dirty="0"/>
          </a:p>
        </p:txBody>
      </p:sp>
      <p:sp>
        <p:nvSpPr>
          <p:cNvPr id="20" name="Text 15"/>
          <p:cNvSpPr/>
          <p:nvPr/>
        </p:nvSpPr>
        <p:spPr>
          <a:xfrm>
            <a:off x="4073723" y="3075050"/>
            <a:ext cx="996497" cy="111398"/>
          </a:xfrm>
          <a:prstGeom prst="rect">
            <a:avLst/>
          </a:prstGeom>
          <a:noFill/>
          <a:ln/>
        </p:spPr>
        <p:txBody>
          <a:bodyPr wrap="none" lIns="0" tIns="0" rIns="0" bIns="0" rtlCol="0" anchor="t">
            <a:spAutoFit/>
          </a:bodyPr>
          <a:lstStyle/>
          <a:p>
            <a:pPr algn="ctr" indent="0" marL="0">
              <a:lnSpc>
                <a:spcPct val="96000"/>
              </a:lnSpc>
              <a:buNone/>
            </a:pPr>
            <a:r>
              <a:rPr lang="en-US" sz="650" dirty="0">
                <a:solidFill>
                  <a:srgbClr val="0B1020"/>
                </a:solidFill>
                <a:latin typeface="Arial" pitchFamily="34" charset="0"/>
                <a:ea typeface="Arial" pitchFamily="34" charset="-122"/>
                <a:cs typeface="Arial" pitchFamily="34" charset="-120"/>
              </a:rPr>
              <a:t>Scheduled control plane</a:t>
            </a:r>
            <a:endParaRPr lang="en-US" sz="650" dirty="0"/>
          </a:p>
        </p:txBody>
      </p:sp>
      <p:sp>
        <p:nvSpPr>
          <p:cNvPr id="21" name="Shape 16"/>
          <p:cNvSpPr/>
          <p:nvPr/>
        </p:nvSpPr>
        <p:spPr>
          <a:xfrm>
            <a:off x="5657850" y="1471613"/>
            <a:ext cx="3000375" cy="942975"/>
          </a:xfrm>
          <a:prstGeom prst="rect">
            <a:avLst/>
          </a:prstGeom>
          <a:solidFill>
            <a:srgbClr val="F8FAFC"/>
          </a:solidFill>
          <a:ln/>
        </p:spPr>
      </p:sp>
      <p:sp>
        <p:nvSpPr>
          <p:cNvPr id="22" name="Shape 17"/>
          <p:cNvSpPr/>
          <p:nvPr/>
        </p:nvSpPr>
        <p:spPr>
          <a:xfrm>
            <a:off x="5657850" y="1471613"/>
            <a:ext cx="3000375" cy="42863"/>
          </a:xfrm>
          <a:prstGeom prst="rect">
            <a:avLst/>
          </a:prstGeom>
          <a:solidFill>
            <a:srgbClr val="38BDF8"/>
          </a:solidFill>
          <a:ln/>
        </p:spPr>
      </p:sp>
      <p:sp>
        <p:nvSpPr>
          <p:cNvPr id="23" name="Text 18"/>
          <p:cNvSpPr/>
          <p:nvPr/>
        </p:nvSpPr>
        <p:spPr>
          <a:xfrm>
            <a:off x="5800725" y="1600200"/>
            <a:ext cx="2728913" cy="85725"/>
          </a:xfrm>
          <a:prstGeom prst="rect">
            <a:avLst/>
          </a:prstGeom>
          <a:noFill/>
          <a:ln/>
        </p:spPr>
        <p:txBody>
          <a:bodyPr wrap="none" lIns="0" tIns="0" rIns="0" bIns="0" rtlCol="0" anchor="t">
            <a:spAutoFit/>
          </a:bodyPr>
          <a:lstStyle/>
          <a:p>
            <a:pPr algn="l" indent="0" marL="0">
              <a:lnSpc>
                <a:spcPct val="80000"/>
              </a:lnSpc>
              <a:buNone/>
            </a:pPr>
            <a:r>
              <a:rPr lang="en-US" sz="600" b="1" spc="1" kern="0" dirty="0">
                <a:solidFill>
                  <a:srgbClr val="2563EB"/>
                </a:solidFill>
                <a:latin typeface="Arial" pitchFamily="34" charset="0"/>
                <a:ea typeface="Arial" pitchFamily="34" charset="-122"/>
                <a:cs typeface="Arial" pitchFamily="34" charset="-120"/>
              </a:rPr>
              <a:t>SCHEDULED + MANUAL</a:t>
            </a:r>
            <a:endParaRPr lang="en-US" sz="600" dirty="0"/>
          </a:p>
        </p:txBody>
      </p:sp>
      <p:sp>
        <p:nvSpPr>
          <p:cNvPr id="24" name="Text 19"/>
          <p:cNvSpPr/>
          <p:nvPr/>
        </p:nvSpPr>
        <p:spPr>
          <a:xfrm>
            <a:off x="5800725" y="1750219"/>
            <a:ext cx="2728913" cy="148568"/>
          </a:xfrm>
          <a:prstGeom prst="rect">
            <a:avLst/>
          </a:prstGeom>
          <a:noFill/>
          <a:ln/>
        </p:spPr>
        <p:txBody>
          <a:bodyPr wrap="none" lIns="0" tIns="0" rIns="0" bIns="0" rtlCol="0" anchor="t">
            <a:spAutoFit/>
          </a:bodyPr>
          <a:lstStyle/>
          <a:p>
            <a:pPr algn="l" indent="0" marL="0">
              <a:lnSpc>
                <a:spcPct val="83200"/>
              </a:lnSpc>
              <a:buNone/>
            </a:pPr>
            <a:r>
              <a:rPr lang="en-US" sz="1000" b="1" dirty="0">
                <a:solidFill>
                  <a:srgbClr val="0B1020"/>
                </a:solidFill>
                <a:latin typeface="Arial" pitchFamily="34" charset="0"/>
                <a:ea typeface="Arial" pitchFamily="34" charset="-122"/>
                <a:cs typeface="Arial" pitchFamily="34" charset="-120"/>
              </a:rPr>
              <a:t>ARTIFACT PRUNING</a:t>
            </a:r>
            <a:endParaRPr lang="en-US" sz="1000" dirty="0"/>
          </a:p>
        </p:txBody>
      </p:sp>
      <p:sp>
        <p:nvSpPr>
          <p:cNvPr id="25" name="Text 20"/>
          <p:cNvSpPr/>
          <p:nvPr/>
        </p:nvSpPr>
        <p:spPr>
          <a:xfrm>
            <a:off x="5800725" y="1955936"/>
            <a:ext cx="2728913" cy="278829"/>
          </a:xfrm>
          <a:prstGeom prst="rect">
            <a:avLst/>
          </a:prstGeom>
          <a:noFill/>
          <a:ln/>
        </p:spPr>
        <p:txBody>
          <a:bodyPr wrap="square" lIns="0" tIns="0" rIns="0" bIns="0" rtlCol="0" anchor="t">
            <a:spAutoFit/>
          </a:bodyPr>
          <a:lstStyle/>
          <a:p>
            <a:pPr algn="l" indent="0" marL="0">
              <a:lnSpc>
                <a:spcPct val="97600"/>
              </a:lnSpc>
              <a:buNone/>
            </a:pPr>
            <a:r>
              <a:rPr lang="en-US" sz="850" dirty="0">
                <a:solidFill>
                  <a:srgbClr val="334155"/>
                </a:solidFill>
                <a:latin typeface="Arial" pitchFamily="34" charset="0"/>
                <a:ea typeface="Arial" pitchFamily="34" charset="-122"/>
                <a:cs typeface="Arial" pitchFamily="34" charset="-120"/>
              </a:rPr>
              <a:t>Use allowlisted, dry-run-first cleanup with a manifest and deletion cap.</a:t>
            </a:r>
            <a:endParaRPr lang="en-US" sz="850" dirty="0"/>
          </a:p>
        </p:txBody>
      </p:sp>
      <p:sp>
        <p:nvSpPr>
          <p:cNvPr id="26" name="Shape 21"/>
          <p:cNvSpPr/>
          <p:nvPr/>
        </p:nvSpPr>
        <p:spPr>
          <a:xfrm>
            <a:off x="5657850" y="2528888"/>
            <a:ext cx="3000375" cy="942975"/>
          </a:xfrm>
          <a:prstGeom prst="rect">
            <a:avLst/>
          </a:prstGeom>
          <a:solidFill>
            <a:srgbClr val="F8FAFC"/>
          </a:solidFill>
          <a:ln/>
        </p:spPr>
      </p:sp>
      <p:sp>
        <p:nvSpPr>
          <p:cNvPr id="27" name="Shape 22"/>
          <p:cNvSpPr/>
          <p:nvPr/>
        </p:nvSpPr>
        <p:spPr>
          <a:xfrm>
            <a:off x="5657850" y="2528888"/>
            <a:ext cx="3000375" cy="42863"/>
          </a:xfrm>
          <a:prstGeom prst="rect">
            <a:avLst/>
          </a:prstGeom>
          <a:solidFill>
            <a:srgbClr val="A3E635"/>
          </a:solidFill>
          <a:ln/>
        </p:spPr>
      </p:sp>
      <p:sp>
        <p:nvSpPr>
          <p:cNvPr id="28" name="Text 23"/>
          <p:cNvSpPr/>
          <p:nvPr/>
        </p:nvSpPr>
        <p:spPr>
          <a:xfrm>
            <a:off x="5800725" y="2657475"/>
            <a:ext cx="2728913" cy="85725"/>
          </a:xfrm>
          <a:prstGeom prst="rect">
            <a:avLst/>
          </a:prstGeom>
          <a:noFill/>
          <a:ln/>
        </p:spPr>
        <p:txBody>
          <a:bodyPr wrap="none" lIns="0" tIns="0" rIns="0" bIns="0" rtlCol="0" anchor="t">
            <a:spAutoFit/>
          </a:bodyPr>
          <a:lstStyle/>
          <a:p>
            <a:pPr algn="l" indent="0" marL="0">
              <a:lnSpc>
                <a:spcPct val="80000"/>
              </a:lnSpc>
              <a:buNone/>
            </a:pPr>
            <a:r>
              <a:rPr lang="en-US" sz="600" b="1" spc="1" kern="0" dirty="0">
                <a:solidFill>
                  <a:srgbClr val="65A30D"/>
                </a:solidFill>
                <a:latin typeface="Arial" pitchFamily="34" charset="0"/>
                <a:ea typeface="Arial" pitchFamily="34" charset="-122"/>
                <a:cs typeface="Arial" pitchFamily="34" charset="-120"/>
              </a:rPr>
              <a:t>OPTIONAL CHANNEL</a:t>
            </a:r>
            <a:endParaRPr lang="en-US" sz="600" dirty="0"/>
          </a:p>
        </p:txBody>
      </p:sp>
      <p:sp>
        <p:nvSpPr>
          <p:cNvPr id="29" name="Text 24"/>
          <p:cNvSpPr/>
          <p:nvPr/>
        </p:nvSpPr>
        <p:spPr>
          <a:xfrm>
            <a:off x="5800725" y="2807494"/>
            <a:ext cx="2728913" cy="148568"/>
          </a:xfrm>
          <a:prstGeom prst="rect">
            <a:avLst/>
          </a:prstGeom>
          <a:noFill/>
          <a:ln/>
        </p:spPr>
        <p:txBody>
          <a:bodyPr wrap="none" lIns="0" tIns="0" rIns="0" bIns="0" rtlCol="0" anchor="t">
            <a:spAutoFit/>
          </a:bodyPr>
          <a:lstStyle/>
          <a:p>
            <a:pPr algn="l" indent="0" marL="0">
              <a:lnSpc>
                <a:spcPct val="83200"/>
              </a:lnSpc>
              <a:buNone/>
            </a:pPr>
            <a:r>
              <a:rPr lang="en-US" sz="1000" b="1" dirty="0">
                <a:solidFill>
                  <a:srgbClr val="0B1020"/>
                </a:solidFill>
                <a:latin typeface="Arial" pitchFamily="34" charset="0"/>
                <a:ea typeface="Arial" pitchFamily="34" charset="-122"/>
                <a:cs typeface="Arial" pitchFamily="34" charset="-120"/>
              </a:rPr>
              <a:t>NOTIFICATIONS</a:t>
            </a:r>
            <a:endParaRPr lang="en-US" sz="1000" dirty="0"/>
          </a:p>
        </p:txBody>
      </p:sp>
      <p:sp>
        <p:nvSpPr>
          <p:cNvPr id="30" name="Text 25"/>
          <p:cNvSpPr/>
          <p:nvPr/>
        </p:nvSpPr>
        <p:spPr>
          <a:xfrm>
            <a:off x="5800725" y="3013211"/>
            <a:ext cx="2728913" cy="278829"/>
          </a:xfrm>
          <a:prstGeom prst="rect">
            <a:avLst/>
          </a:prstGeom>
          <a:noFill/>
          <a:ln/>
        </p:spPr>
        <p:txBody>
          <a:bodyPr wrap="square" lIns="0" tIns="0" rIns="0" bIns="0" rtlCol="0" anchor="t">
            <a:spAutoFit/>
          </a:bodyPr>
          <a:lstStyle/>
          <a:p>
            <a:pPr algn="l" indent="0" marL="0">
              <a:lnSpc>
                <a:spcPct val="97600"/>
              </a:lnSpc>
              <a:buNone/>
            </a:pPr>
            <a:r>
              <a:rPr lang="en-US" sz="850" dirty="0">
                <a:solidFill>
                  <a:srgbClr val="334155"/>
                </a:solidFill>
                <a:latin typeface="Arial" pitchFamily="34" charset="0"/>
                <a:ea typeface="Arial" pitchFamily="34" charset="-122"/>
                <a:cs typeface="Arial" pitchFamily="34" charset="-120"/>
              </a:rPr>
              <a:t>Send aggregate-only operational notices; a delivery outage cannot hide workflow failure.</a:t>
            </a:r>
            <a:endParaRPr lang="en-US" sz="850" dirty="0"/>
          </a:p>
        </p:txBody>
      </p:sp>
      <p:sp>
        <p:nvSpPr>
          <p:cNvPr id="31" name="Shape 26"/>
          <p:cNvSpPr/>
          <p:nvPr/>
        </p:nvSpPr>
        <p:spPr>
          <a:xfrm>
            <a:off x="485775" y="3679031"/>
            <a:ext cx="8172450" cy="742950"/>
          </a:xfrm>
          <a:prstGeom prst="rect">
            <a:avLst/>
          </a:prstGeom>
          <a:solidFill>
            <a:srgbClr val="F8FAFC"/>
          </a:solidFill>
          <a:ln/>
        </p:spPr>
      </p:sp>
      <p:sp>
        <p:nvSpPr>
          <p:cNvPr id="32" name="Shape 27"/>
          <p:cNvSpPr/>
          <p:nvPr/>
        </p:nvSpPr>
        <p:spPr>
          <a:xfrm>
            <a:off x="485775" y="3679031"/>
            <a:ext cx="2143125" cy="742950"/>
          </a:xfrm>
          <a:prstGeom prst="rect">
            <a:avLst/>
          </a:prstGeom>
          <a:solidFill>
            <a:srgbClr val="A3E635"/>
          </a:solidFill>
          <a:ln/>
        </p:spPr>
      </p:sp>
      <p:sp>
        <p:nvSpPr>
          <p:cNvPr id="33" name="Text 28"/>
          <p:cNvSpPr/>
          <p:nvPr/>
        </p:nvSpPr>
        <p:spPr>
          <a:xfrm>
            <a:off x="485775" y="3679031"/>
            <a:ext cx="2143125" cy="742950"/>
          </a:xfrm>
          <a:prstGeom prst="rect">
            <a:avLst/>
          </a:prstGeom>
          <a:noFill/>
          <a:ln/>
        </p:spPr>
        <p:txBody>
          <a:bodyPr wrap="square" lIns="187071" tIns="238125" rIns="153035" bIns="0" rtlCol="0" anchor="t">
            <a:spAutoFit/>
          </a:bodyPr>
          <a:lstStyle/>
          <a:p>
            <a:pPr algn="l" indent="0" marL="0">
              <a:lnSpc>
                <a:spcPct val="92000"/>
              </a:lnSpc>
              <a:buNone/>
            </a:pPr>
            <a:r>
              <a:rPr lang="en-US" sz="750" b="1" spc="1" kern="0" dirty="0">
                <a:solidFill>
                  <a:srgbClr val="0B1020"/>
                </a:solidFill>
                <a:latin typeface="Arial" pitchFamily="34" charset="0"/>
                <a:ea typeface="Arial" pitchFamily="34" charset="-122"/>
                <a:cs typeface="Arial" pitchFamily="34" charset="-120"/>
              </a:rPr>
              <a:t>AUDIT RULE</a:t>
            </a:r>
            <a:endParaRPr lang="en-US" sz="750" dirty="0"/>
          </a:p>
        </p:txBody>
      </p:sp>
      <p:sp>
        <p:nvSpPr>
          <p:cNvPr id="34" name="Text 29"/>
          <p:cNvSpPr/>
          <p:nvPr/>
        </p:nvSpPr>
        <p:spPr>
          <a:xfrm>
            <a:off x="2628900" y="3679031"/>
            <a:ext cx="6029325" cy="742950"/>
          </a:xfrm>
          <a:prstGeom prst="rect">
            <a:avLst/>
          </a:prstGeom>
          <a:noFill/>
          <a:ln/>
        </p:spPr>
        <p:txBody>
          <a:bodyPr wrap="square" lIns="221107" tIns="187071" rIns="238125" bIns="0" rtlCol="0" anchor="t">
            <a:spAutoFit/>
          </a:bodyPr>
          <a:lstStyle/>
          <a:p>
            <a:pPr algn="l" indent="0" marL="0">
              <a:lnSpc>
                <a:spcPct val="100000"/>
              </a:lnSpc>
              <a:buNone/>
            </a:pPr>
            <a:r>
              <a:rPr lang="en-US" sz="1050" dirty="0">
                <a:solidFill>
                  <a:srgbClr val="334155"/>
                </a:solidFill>
                <a:latin typeface="Arial" pitchFamily="34" charset="0"/>
                <a:ea typeface="Arial" pitchFamily="34" charset="-122"/>
                <a:cs typeface="Arial" pitchFamily="34" charset="-120"/>
              </a:rPr>
              <a:t>Every recurring action leaves an intentional output: a health result, preflight report, pruning manifest, or aggregate operational notice—never leaked credentials or opaque cleanup.</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85775" y="342900"/>
            <a:ext cx="8172450" cy="100013"/>
          </a:xfrm>
          <a:prstGeom prst="rect">
            <a:avLst/>
          </a:prstGeom>
          <a:noFill/>
          <a:ln/>
        </p:spPr>
        <p:txBody>
          <a:bodyPr wrap="none" lIns="0" tIns="0" rIns="0" bIns="0" rtlCol="0" anchor="t">
            <a:spAutoFit/>
          </a:bodyPr>
          <a:lstStyle/>
          <a:p>
            <a:pPr algn="l" indent="0" marL="0">
              <a:lnSpc>
                <a:spcPct val="80000"/>
              </a:lnSpc>
              <a:buNone/>
            </a:pPr>
            <a:r>
              <a:rPr lang="en-US" sz="700" b="1" spc="2" kern="0" dirty="0">
                <a:solidFill>
                  <a:srgbClr val="A3E635"/>
                </a:solidFill>
                <a:latin typeface="Arial" pitchFamily="34" charset="0"/>
                <a:ea typeface="Arial" pitchFamily="34" charset="-122"/>
                <a:cs typeface="Arial" pitchFamily="34" charset="-120"/>
              </a:rPr>
              <a:t>OPERATOR CONTROL SURFACE</a:t>
            </a:r>
            <a:endParaRPr lang="en-US" sz="700" dirty="0"/>
          </a:p>
        </p:txBody>
      </p:sp>
      <p:sp>
        <p:nvSpPr>
          <p:cNvPr id="5" name="Text 1"/>
          <p:cNvSpPr/>
          <p:nvPr/>
        </p:nvSpPr>
        <p:spPr>
          <a:xfrm>
            <a:off x="485775" y="514350"/>
            <a:ext cx="8172450" cy="300038"/>
          </a:xfrm>
          <a:prstGeom prst="rect">
            <a:avLst/>
          </a:prstGeom>
          <a:noFill/>
          <a:ln/>
        </p:spPr>
        <p:txBody>
          <a:bodyPr wrap="none" lIns="0" tIns="0" rIns="0" bIns="0" rtlCol="0" anchor="t">
            <a:spAutoFit/>
          </a:bodyPr>
          <a:lstStyle/>
          <a:p>
            <a:pPr algn="l" indent="0" marL="0">
              <a:lnSpc>
                <a:spcPct val="80000"/>
              </a:lnSpc>
              <a:buNone/>
            </a:pPr>
            <a:r>
              <a:rPr lang="en-US" sz="2100" b="1" spc="-1" kern="0" dirty="0">
                <a:solidFill>
                  <a:srgbClr val="F8FAFC"/>
                </a:solidFill>
                <a:latin typeface="Arial" pitchFamily="34" charset="0"/>
                <a:ea typeface="Arial" pitchFamily="34" charset="-122"/>
                <a:cs typeface="Arial" pitchFamily="34" charset="-120"/>
              </a:rPr>
              <a:t>ONE CONFIGURATION COMMAND; ONE PROOF COMMAND</a:t>
            </a:r>
            <a:endParaRPr lang="en-US" sz="2100" dirty="0"/>
          </a:p>
        </p:txBody>
      </p:sp>
      <p:sp>
        <p:nvSpPr>
          <p:cNvPr id="6" name="Text 2"/>
          <p:cNvSpPr/>
          <p:nvPr/>
        </p:nvSpPr>
        <p:spPr>
          <a:xfrm>
            <a:off x="485775" y="857250"/>
            <a:ext cx="6715125" cy="371475"/>
          </a:xfrm>
          <a:prstGeom prst="rect">
            <a:avLst/>
          </a:prstGeom>
          <a:noFill/>
          <a:ln/>
        </p:spPr>
        <p:txBody>
          <a:bodyPr wrap="square" lIns="0" tIns="0" rIns="0" bIns="0" rtlCol="0" anchor="t">
            <a:spAutoFit/>
          </a:bodyPr>
          <a:lstStyle/>
          <a:p>
            <a:pPr algn="l" indent="0" marL="0">
              <a:lnSpc>
                <a:spcPct val="104000"/>
              </a:lnSpc>
              <a:buNone/>
            </a:pPr>
            <a:r>
              <a:rPr lang="en-US" sz="1050" dirty="0">
                <a:solidFill>
                  <a:srgbClr val="CBD5E1"/>
                </a:solidFill>
                <a:latin typeface="Arial" pitchFamily="34" charset="0"/>
                <a:ea typeface="Arial" pitchFamily="34" charset="-122"/>
                <a:cs typeface="Arial" pitchFamily="34" charset="-120"/>
              </a:rPr>
              <a:t>The reusable skill standardizes the high-trust setup work and the repeatable assurance work so teams can operate the suite without re-inventing its controls.</a:t>
            </a:r>
            <a:endParaRPr lang="en-US" sz="1050" dirty="0"/>
          </a:p>
        </p:txBody>
      </p:sp>
      <p:sp>
        <p:nvSpPr>
          <p:cNvPr id="7" name="Shape 3"/>
          <p:cNvSpPr/>
          <p:nvPr/>
        </p:nvSpPr>
        <p:spPr>
          <a:xfrm>
            <a:off x="485775" y="1314450"/>
            <a:ext cx="4086225" cy="271463"/>
          </a:xfrm>
          <a:prstGeom prst="rect">
            <a:avLst/>
          </a:prstGeom>
          <a:solidFill>
            <a:srgbClr val="A3E635"/>
          </a:solidFill>
          <a:ln/>
        </p:spPr>
      </p:sp>
      <p:sp>
        <p:nvSpPr>
          <p:cNvPr id="8" name="Text 4"/>
          <p:cNvSpPr/>
          <p:nvPr/>
        </p:nvSpPr>
        <p:spPr>
          <a:xfrm>
            <a:off x="485775" y="1314450"/>
            <a:ext cx="4086225" cy="271463"/>
          </a:xfrm>
          <a:prstGeom prst="rect">
            <a:avLst/>
          </a:prstGeom>
          <a:noFill/>
          <a:ln/>
        </p:spPr>
        <p:txBody>
          <a:bodyPr wrap="square" lIns="0" tIns="85090" rIns="0" bIns="0" rtlCol="0" anchor="t">
            <a:spAutoFit/>
          </a:bodyPr>
          <a:lstStyle/>
          <a:p>
            <a:pPr algn="ctr" indent="0" marL="0">
              <a:lnSpc>
                <a:spcPct val="80000"/>
              </a:lnSpc>
              <a:buNone/>
            </a:pPr>
            <a:r>
              <a:rPr lang="en-US" sz="650" b="1" spc="1" kern="0" dirty="0">
                <a:solidFill>
                  <a:srgbClr val="0B1020"/>
                </a:solidFill>
                <a:latin typeface="Arial" pitchFamily="34" charset="0"/>
                <a:ea typeface="Arial" pitchFamily="34" charset="-122"/>
                <a:cs typeface="Arial" pitchFamily="34" charset="-120"/>
              </a:rPr>
              <a:t>ONE-TIME HIGH-TRUST CONFIGURATION</a:t>
            </a:r>
            <a:endParaRPr lang="en-US" sz="650" dirty="0"/>
          </a:p>
        </p:txBody>
      </p:sp>
      <p:sp>
        <p:nvSpPr>
          <p:cNvPr id="9" name="Shape 5"/>
          <p:cNvSpPr/>
          <p:nvPr/>
        </p:nvSpPr>
        <p:spPr>
          <a:xfrm>
            <a:off x="4572000" y="1314450"/>
            <a:ext cx="4086225" cy="271463"/>
          </a:xfrm>
          <a:prstGeom prst="rect">
            <a:avLst/>
          </a:prstGeom>
          <a:solidFill>
            <a:srgbClr val="38BDF8"/>
          </a:solidFill>
          <a:ln/>
        </p:spPr>
      </p:sp>
      <p:sp>
        <p:nvSpPr>
          <p:cNvPr id="10" name="Text 6"/>
          <p:cNvSpPr/>
          <p:nvPr/>
        </p:nvSpPr>
        <p:spPr>
          <a:xfrm>
            <a:off x="4572000" y="1314450"/>
            <a:ext cx="4086225" cy="271463"/>
          </a:xfrm>
          <a:prstGeom prst="rect">
            <a:avLst/>
          </a:prstGeom>
          <a:noFill/>
          <a:ln/>
        </p:spPr>
        <p:txBody>
          <a:bodyPr wrap="square" lIns="0" tIns="85090" rIns="0" bIns="0" rtlCol="0" anchor="t">
            <a:spAutoFit/>
          </a:bodyPr>
          <a:lstStyle/>
          <a:p>
            <a:pPr algn="ctr" indent="0" marL="0">
              <a:lnSpc>
                <a:spcPct val="80000"/>
              </a:lnSpc>
              <a:buNone/>
            </a:pPr>
            <a:r>
              <a:rPr lang="en-US" sz="650" b="1" spc="1" kern="0" dirty="0">
                <a:solidFill>
                  <a:srgbClr val="0B1020"/>
                </a:solidFill>
                <a:latin typeface="Arial" pitchFamily="34" charset="0"/>
                <a:ea typeface="Arial" pitchFamily="34" charset="-122"/>
                <a:cs typeface="Arial" pitchFamily="34" charset="-120"/>
              </a:rPr>
              <a:t>CONTINUOUS LOW-FRICTION ASSURANCE</a:t>
            </a:r>
            <a:endParaRPr lang="en-US" sz="650" dirty="0"/>
          </a:p>
        </p:txBody>
      </p:sp>
      <p:sp>
        <p:nvSpPr>
          <p:cNvPr id="11" name="Shape 7"/>
          <p:cNvSpPr/>
          <p:nvPr/>
        </p:nvSpPr>
        <p:spPr>
          <a:xfrm>
            <a:off x="485775" y="1628775"/>
            <a:ext cx="8172450" cy="2671763"/>
          </a:xfrm>
          <a:prstGeom prst="rect">
            <a:avLst/>
          </a:prstGeom>
          <a:solidFill>
            <a:srgbClr val="38BDF8"/>
          </a:solidFill>
          <a:ln/>
        </p:spPr>
      </p:sp>
      <p:sp>
        <p:nvSpPr>
          <p:cNvPr id="12" name="Shape 8"/>
          <p:cNvSpPr/>
          <p:nvPr/>
        </p:nvSpPr>
        <p:spPr>
          <a:xfrm>
            <a:off x="485775" y="1628775"/>
            <a:ext cx="3674343" cy="242888"/>
          </a:xfrm>
          <a:prstGeom prst="rect">
            <a:avLst/>
          </a:prstGeom>
          <a:solidFill>
            <a:srgbClr val="0B1020"/>
          </a:solidFill>
          <a:ln/>
        </p:spPr>
      </p:sp>
      <p:sp>
        <p:nvSpPr>
          <p:cNvPr id="13" name="Text 9"/>
          <p:cNvSpPr/>
          <p:nvPr/>
        </p:nvSpPr>
        <p:spPr>
          <a:xfrm>
            <a:off x="485775" y="1628775"/>
            <a:ext cx="3674343" cy="242888"/>
          </a:xfrm>
          <a:prstGeom prst="rect">
            <a:avLst/>
          </a:prstGeom>
          <a:noFill/>
          <a:ln/>
        </p:spPr>
        <p:txBody>
          <a:bodyPr wrap="square" lIns="144526" tIns="85090" rIns="144526" bIns="0" rtlCol="0" anchor="t">
            <a:spAutoFit/>
          </a:bodyPr>
          <a:lstStyle/>
          <a:p>
            <a:pPr algn="l" indent="0" marL="0">
              <a:lnSpc>
                <a:spcPct val="80000"/>
              </a:lnSpc>
              <a:buNone/>
            </a:pPr>
            <a:r>
              <a:rPr lang="en-US" sz="600" b="1" spc="1" kern="0" dirty="0">
                <a:solidFill>
                  <a:srgbClr val="CBD5E1"/>
                </a:solidFill>
                <a:latin typeface="Arial" pitchFamily="34" charset="0"/>
                <a:ea typeface="Arial" pitchFamily="34" charset="-122"/>
                <a:cs typeface="Arial" pitchFamily="34" charset="-120"/>
              </a:rPr>
              <a:t>OPERATOR NEED</a:t>
            </a:r>
            <a:endParaRPr lang="en-US" sz="600" dirty="0"/>
          </a:p>
        </p:txBody>
      </p:sp>
      <p:sp>
        <p:nvSpPr>
          <p:cNvPr id="14" name="Shape 10"/>
          <p:cNvSpPr/>
          <p:nvPr/>
        </p:nvSpPr>
        <p:spPr>
          <a:xfrm>
            <a:off x="4167262" y="1628775"/>
            <a:ext cx="4490963" cy="242888"/>
          </a:xfrm>
          <a:prstGeom prst="rect">
            <a:avLst/>
          </a:prstGeom>
          <a:solidFill>
            <a:srgbClr val="0B1020"/>
          </a:solidFill>
          <a:ln/>
        </p:spPr>
      </p:sp>
      <p:sp>
        <p:nvSpPr>
          <p:cNvPr id="15" name="Text 11"/>
          <p:cNvSpPr/>
          <p:nvPr/>
        </p:nvSpPr>
        <p:spPr>
          <a:xfrm>
            <a:off x="4167262" y="1628775"/>
            <a:ext cx="4490963" cy="242888"/>
          </a:xfrm>
          <a:prstGeom prst="rect">
            <a:avLst/>
          </a:prstGeom>
          <a:noFill/>
          <a:ln/>
        </p:spPr>
        <p:txBody>
          <a:bodyPr wrap="square" lIns="144526" tIns="85090" rIns="144526" bIns="0" rtlCol="0" anchor="t">
            <a:spAutoFit/>
          </a:bodyPr>
          <a:lstStyle/>
          <a:p>
            <a:pPr algn="l" indent="0" marL="0">
              <a:lnSpc>
                <a:spcPct val="80000"/>
              </a:lnSpc>
              <a:buNone/>
            </a:pPr>
            <a:r>
              <a:rPr lang="en-US" sz="600" b="1" spc="1" kern="0" dirty="0">
                <a:solidFill>
                  <a:srgbClr val="CBD5E1"/>
                </a:solidFill>
                <a:latin typeface="Arial" pitchFamily="34" charset="0"/>
                <a:ea typeface="Arial" pitchFamily="34" charset="-122"/>
                <a:cs typeface="Arial" pitchFamily="34" charset="-120"/>
              </a:rPr>
              <a:t>STANDARD CONTROL</a:t>
            </a:r>
            <a:endParaRPr lang="en-US" sz="600" dirty="0"/>
          </a:p>
        </p:txBody>
      </p:sp>
      <p:sp>
        <p:nvSpPr>
          <p:cNvPr id="16" name="Shape 12"/>
          <p:cNvSpPr/>
          <p:nvPr/>
        </p:nvSpPr>
        <p:spPr>
          <a:xfrm>
            <a:off x="485775" y="1878806"/>
            <a:ext cx="3674343" cy="600075"/>
          </a:xfrm>
          <a:prstGeom prst="rect">
            <a:avLst/>
          </a:prstGeom>
          <a:solidFill>
            <a:srgbClr val="F8FAFC"/>
          </a:solidFill>
          <a:ln/>
        </p:spPr>
      </p:sp>
      <p:sp>
        <p:nvSpPr>
          <p:cNvPr id="17" name="Text 13"/>
          <p:cNvSpPr/>
          <p:nvPr/>
        </p:nvSpPr>
        <p:spPr>
          <a:xfrm>
            <a:off x="614363" y="1964531"/>
            <a:ext cx="3424312" cy="136289"/>
          </a:xfrm>
          <a:prstGeom prst="rect">
            <a:avLst/>
          </a:prstGeom>
          <a:noFill/>
          <a:ln/>
        </p:spPr>
        <p:txBody>
          <a:bodyPr wrap="none" lIns="0" tIns="0" rIns="0" bIns="0" rtlCol="0" anchor="t">
            <a:spAutoFit/>
          </a:bodyPr>
          <a:lstStyle/>
          <a:p>
            <a:pPr algn="l" indent="0" marL="0">
              <a:lnSpc>
                <a:spcPct val="84800"/>
              </a:lnSpc>
              <a:buNone/>
            </a:pPr>
            <a:r>
              <a:rPr lang="en-US" sz="900" b="1" dirty="0">
                <a:solidFill>
                  <a:srgbClr val="0B1020"/>
                </a:solidFill>
                <a:latin typeface="Arial" pitchFamily="34" charset="0"/>
                <a:ea typeface="Arial" pitchFamily="34" charset="-122"/>
                <a:cs typeface="Arial" pitchFamily="34" charset="-120"/>
              </a:rPr>
              <a:t>CONFIGURE COMPLETE SUITE</a:t>
            </a:r>
            <a:endParaRPr lang="en-US" sz="900" dirty="0"/>
          </a:p>
        </p:txBody>
      </p:sp>
      <p:sp>
        <p:nvSpPr>
          <p:cNvPr id="18" name="Text 14"/>
          <p:cNvSpPr/>
          <p:nvPr/>
        </p:nvSpPr>
        <p:spPr>
          <a:xfrm>
            <a:off x="614363" y="2157971"/>
            <a:ext cx="3424312" cy="119993"/>
          </a:xfrm>
          <a:prstGeom prst="rect">
            <a:avLst/>
          </a:prstGeom>
          <a:noFill/>
          <a:ln/>
        </p:spPr>
        <p:txBody>
          <a:bodyPr wrap="none" lIns="0" tIns="0" rIns="0" bIns="0" rtlCol="0" anchor="t">
            <a:spAutoFit/>
          </a:bodyPr>
          <a:lstStyle/>
          <a:p>
            <a:pPr algn="l" indent="0" marL="0">
              <a:lnSpc>
                <a:spcPct val="96000"/>
              </a:lnSpc>
              <a:buNone/>
            </a:pPr>
            <a:r>
              <a:rPr lang="en-US" sz="750" dirty="0">
                <a:solidFill>
                  <a:srgbClr val="334155"/>
                </a:solidFill>
                <a:latin typeface="Arial" pitchFamily="34" charset="0"/>
                <a:ea typeface="Arial" pitchFamily="34" charset="-122"/>
                <a:cs typeface="Arial" pitchFamily="34" charset="-120"/>
              </a:rPr>
              <a:t>Create protected environments, store approved state, set policy variables,</a:t>
            </a:r>
            <a:endParaRPr lang="en-US" sz="750" dirty="0"/>
          </a:p>
        </p:txBody>
      </p:sp>
      <p:sp>
        <p:nvSpPr>
          <p:cNvPr id="19" name="Text 15"/>
          <p:cNvSpPr/>
          <p:nvPr/>
        </p:nvSpPr>
        <p:spPr>
          <a:xfrm>
            <a:off x="614363" y="2335113"/>
            <a:ext cx="3424312" cy="119993"/>
          </a:xfrm>
          <a:prstGeom prst="rect">
            <a:avLst/>
          </a:prstGeom>
          <a:noFill/>
          <a:ln/>
        </p:spPr>
        <p:txBody>
          <a:bodyPr wrap="none" lIns="0" tIns="0" rIns="0" bIns="0" rtlCol="0" anchor="t">
            <a:spAutoFit/>
          </a:bodyPr>
          <a:lstStyle/>
          <a:p>
            <a:pPr algn="l" indent="0" marL="0">
              <a:lnSpc>
                <a:spcPct val="96000"/>
              </a:lnSpc>
              <a:buNone/>
            </a:pPr>
            <a:r>
              <a:rPr lang="en-US" sz="750" dirty="0">
                <a:solidFill>
                  <a:srgbClr val="334155"/>
                </a:solidFill>
                <a:latin typeface="Arial" pitchFamily="34" charset="0"/>
                <a:ea typeface="Arial" pitchFamily="34" charset="-122"/>
                <a:cs typeface="Arial" pitchFamily="34" charset="-120"/>
              </a:rPr>
              <a:t>and optionally wire notices.</a:t>
            </a:r>
            <a:endParaRPr lang="en-US" sz="750" dirty="0"/>
          </a:p>
        </p:txBody>
      </p:sp>
      <p:sp>
        <p:nvSpPr>
          <p:cNvPr id="20" name="Shape 16"/>
          <p:cNvSpPr/>
          <p:nvPr/>
        </p:nvSpPr>
        <p:spPr>
          <a:xfrm>
            <a:off x="4167262" y="1878806"/>
            <a:ext cx="4490963" cy="600075"/>
          </a:xfrm>
          <a:prstGeom prst="rect">
            <a:avLst/>
          </a:prstGeom>
          <a:solidFill>
            <a:srgbClr val="F8FAFC"/>
          </a:solidFill>
          <a:ln/>
        </p:spPr>
      </p:sp>
      <p:sp>
        <p:nvSpPr>
          <p:cNvPr id="21" name="Shape 17"/>
          <p:cNvSpPr/>
          <p:nvPr/>
        </p:nvSpPr>
        <p:spPr>
          <a:xfrm>
            <a:off x="4295849" y="1957388"/>
            <a:ext cx="4240932" cy="214313"/>
          </a:xfrm>
          <a:prstGeom prst="rect">
            <a:avLst/>
          </a:prstGeom>
          <a:solidFill>
            <a:srgbClr val="0B1020"/>
          </a:solidFill>
          <a:ln/>
        </p:spPr>
      </p:sp>
      <p:sp>
        <p:nvSpPr>
          <p:cNvPr id="22" name="Text 18"/>
          <p:cNvSpPr/>
          <p:nvPr/>
        </p:nvSpPr>
        <p:spPr>
          <a:xfrm>
            <a:off x="4295849" y="1957388"/>
            <a:ext cx="4240932" cy="214313"/>
          </a:xfrm>
          <a:prstGeom prst="rect">
            <a:avLst/>
          </a:prstGeom>
          <a:noFill/>
          <a:ln/>
        </p:spPr>
        <p:txBody>
          <a:bodyPr wrap="square" lIns="93599" tIns="68072" rIns="85090" bIns="0" rtlCol="0" anchor="t">
            <a:spAutoFit/>
          </a:bodyPr>
          <a:lstStyle/>
          <a:p>
            <a:pPr algn="l" indent="0" marL="0">
              <a:lnSpc>
                <a:spcPct val="80000"/>
              </a:lnSpc>
              <a:buNone/>
            </a:pPr>
            <a:r>
              <a:rPr lang="en-US" sz="650" b="1" dirty="0">
                <a:solidFill>
                  <a:srgbClr val="F8FAFC"/>
                </a:solidFill>
                <a:latin typeface="monospace" pitchFamily="34" charset="0"/>
                <a:ea typeface="monospace" pitchFamily="34" charset="-122"/>
                <a:cs typeface="monospace" pitchFamily="34" charset="-120"/>
              </a:rPr>
              <a:t>configure-all-features.sh [dry-run] --apply</a:t>
            </a:r>
            <a:endParaRPr lang="en-US" sz="650" dirty="0"/>
          </a:p>
        </p:txBody>
      </p:sp>
      <p:sp>
        <p:nvSpPr>
          <p:cNvPr id="23" name="Text 19"/>
          <p:cNvSpPr/>
          <p:nvPr/>
        </p:nvSpPr>
        <p:spPr>
          <a:xfrm>
            <a:off x="4295849" y="2221706"/>
            <a:ext cx="4240932" cy="105817"/>
          </a:xfrm>
          <a:prstGeom prst="rect">
            <a:avLst/>
          </a:prstGeom>
          <a:noFill/>
          <a:ln/>
        </p:spPr>
        <p:txBody>
          <a:bodyPr wrap="none" lIns="0" tIns="0" rIns="0" bIns="0" rtlCol="0" anchor="t">
            <a:spAutoFit/>
          </a:bodyPr>
          <a:lstStyle/>
          <a:p>
            <a:pPr algn="l" indent="0" marL="0">
              <a:lnSpc>
                <a:spcPct val="91200"/>
              </a:lnSpc>
              <a:buNone/>
            </a:pPr>
            <a:r>
              <a:rPr lang="en-US" sz="650" dirty="0">
                <a:solidFill>
                  <a:srgbClr val="334155"/>
                </a:solidFill>
                <a:latin typeface="Arial" pitchFamily="34" charset="0"/>
                <a:ea typeface="Arial" pitchFamily="34" charset="-122"/>
                <a:cs typeface="Arial" pitchFamily="34" charset="-120"/>
              </a:rPr>
              <a:t>Make repository changes only after reviewing a dry-run plan; never print secret values.</a:t>
            </a:r>
            <a:endParaRPr lang="en-US" sz="650" dirty="0"/>
          </a:p>
        </p:txBody>
      </p:sp>
      <p:sp>
        <p:nvSpPr>
          <p:cNvPr id="24" name="Shape 20"/>
          <p:cNvSpPr/>
          <p:nvPr/>
        </p:nvSpPr>
        <p:spPr>
          <a:xfrm>
            <a:off x="485775" y="2486025"/>
            <a:ext cx="3674343" cy="600075"/>
          </a:xfrm>
          <a:prstGeom prst="rect">
            <a:avLst/>
          </a:prstGeom>
          <a:solidFill>
            <a:srgbClr val="F8FAFC"/>
          </a:solidFill>
          <a:ln/>
        </p:spPr>
      </p:sp>
      <p:sp>
        <p:nvSpPr>
          <p:cNvPr id="25" name="Text 21"/>
          <p:cNvSpPr/>
          <p:nvPr/>
        </p:nvSpPr>
        <p:spPr>
          <a:xfrm>
            <a:off x="614363" y="2571750"/>
            <a:ext cx="3424312" cy="136289"/>
          </a:xfrm>
          <a:prstGeom prst="rect">
            <a:avLst/>
          </a:prstGeom>
          <a:noFill/>
          <a:ln/>
        </p:spPr>
        <p:txBody>
          <a:bodyPr wrap="none" lIns="0" tIns="0" rIns="0" bIns="0" rtlCol="0" anchor="t">
            <a:spAutoFit/>
          </a:bodyPr>
          <a:lstStyle/>
          <a:p>
            <a:pPr algn="l" indent="0" marL="0">
              <a:lnSpc>
                <a:spcPct val="84800"/>
              </a:lnSpc>
              <a:buNone/>
            </a:pPr>
            <a:r>
              <a:rPr lang="en-US" sz="900" b="1" dirty="0">
                <a:solidFill>
                  <a:srgbClr val="0B1020"/>
                </a:solidFill>
                <a:latin typeface="Arial" pitchFamily="34" charset="0"/>
                <a:ea typeface="Arial" pitchFamily="34" charset="-122"/>
                <a:cs typeface="Arial" pitchFamily="34" charset="-120"/>
              </a:rPr>
              <a:t>PROVE LOCAL CODE PATHS</a:t>
            </a:r>
            <a:endParaRPr lang="en-US" sz="900" dirty="0"/>
          </a:p>
        </p:txBody>
      </p:sp>
      <p:sp>
        <p:nvSpPr>
          <p:cNvPr id="26" name="Text 22"/>
          <p:cNvSpPr/>
          <p:nvPr/>
        </p:nvSpPr>
        <p:spPr>
          <a:xfrm>
            <a:off x="614363" y="2765189"/>
            <a:ext cx="3424312" cy="119993"/>
          </a:xfrm>
          <a:prstGeom prst="rect">
            <a:avLst/>
          </a:prstGeom>
          <a:noFill/>
          <a:ln/>
        </p:spPr>
        <p:txBody>
          <a:bodyPr wrap="none" lIns="0" tIns="0" rIns="0" bIns="0" rtlCol="0" anchor="t">
            <a:spAutoFit/>
          </a:bodyPr>
          <a:lstStyle/>
          <a:p>
            <a:pPr algn="l" indent="0" marL="0">
              <a:lnSpc>
                <a:spcPct val="96000"/>
              </a:lnSpc>
              <a:buNone/>
            </a:pPr>
            <a:r>
              <a:rPr lang="en-US" sz="750" dirty="0">
                <a:solidFill>
                  <a:srgbClr val="334155"/>
                </a:solidFill>
                <a:latin typeface="Arial" pitchFamily="34" charset="0"/>
                <a:ea typeface="Arial" pitchFamily="34" charset="-122"/>
                <a:cs typeface="Arial" pitchFamily="34" charset="-120"/>
              </a:rPr>
              <a:t>Exercise unit, fixture, static, contract, and workflow checks without contacting</a:t>
            </a:r>
            <a:endParaRPr lang="en-US" sz="750" dirty="0"/>
          </a:p>
        </p:txBody>
      </p:sp>
      <p:sp>
        <p:nvSpPr>
          <p:cNvPr id="27" name="Text 23"/>
          <p:cNvSpPr/>
          <p:nvPr/>
        </p:nvSpPr>
        <p:spPr>
          <a:xfrm>
            <a:off x="614363" y="2942332"/>
            <a:ext cx="3424312" cy="119993"/>
          </a:xfrm>
          <a:prstGeom prst="rect">
            <a:avLst/>
          </a:prstGeom>
          <a:noFill/>
          <a:ln/>
        </p:spPr>
        <p:txBody>
          <a:bodyPr wrap="none" lIns="0" tIns="0" rIns="0" bIns="0" rtlCol="0" anchor="t">
            <a:spAutoFit/>
          </a:bodyPr>
          <a:lstStyle/>
          <a:p>
            <a:pPr algn="l" indent="0" marL="0">
              <a:lnSpc>
                <a:spcPct val="96000"/>
              </a:lnSpc>
              <a:buNone/>
            </a:pPr>
            <a:r>
              <a:rPr lang="en-US" sz="750" dirty="0">
                <a:solidFill>
                  <a:srgbClr val="334155"/>
                </a:solidFill>
                <a:latin typeface="Arial" pitchFamily="34" charset="0"/>
                <a:ea typeface="Arial" pitchFamily="34" charset="-122"/>
                <a:cs typeface="Arial" pitchFamily="34" charset="-120"/>
              </a:rPr>
              <a:t>the SaaS or notice providers.</a:t>
            </a:r>
            <a:endParaRPr lang="en-US" sz="750" dirty="0"/>
          </a:p>
        </p:txBody>
      </p:sp>
      <p:sp>
        <p:nvSpPr>
          <p:cNvPr id="28" name="Shape 24"/>
          <p:cNvSpPr/>
          <p:nvPr/>
        </p:nvSpPr>
        <p:spPr>
          <a:xfrm>
            <a:off x="4167262" y="2486025"/>
            <a:ext cx="4490963" cy="600075"/>
          </a:xfrm>
          <a:prstGeom prst="rect">
            <a:avLst/>
          </a:prstGeom>
          <a:solidFill>
            <a:srgbClr val="F8FAFC"/>
          </a:solidFill>
          <a:ln/>
        </p:spPr>
      </p:sp>
      <p:sp>
        <p:nvSpPr>
          <p:cNvPr id="29" name="Shape 25"/>
          <p:cNvSpPr/>
          <p:nvPr/>
        </p:nvSpPr>
        <p:spPr>
          <a:xfrm>
            <a:off x="4295849" y="2564606"/>
            <a:ext cx="4240932" cy="214313"/>
          </a:xfrm>
          <a:prstGeom prst="rect">
            <a:avLst/>
          </a:prstGeom>
          <a:solidFill>
            <a:srgbClr val="0B1020"/>
          </a:solidFill>
          <a:ln/>
        </p:spPr>
      </p:sp>
      <p:sp>
        <p:nvSpPr>
          <p:cNvPr id="30" name="Text 26"/>
          <p:cNvSpPr/>
          <p:nvPr/>
        </p:nvSpPr>
        <p:spPr>
          <a:xfrm>
            <a:off x="4295849" y="2564606"/>
            <a:ext cx="4240932" cy="214313"/>
          </a:xfrm>
          <a:prstGeom prst="rect">
            <a:avLst/>
          </a:prstGeom>
          <a:noFill/>
          <a:ln/>
        </p:spPr>
        <p:txBody>
          <a:bodyPr wrap="square" lIns="93599" tIns="68072" rIns="85090" bIns="0" rtlCol="0" anchor="t">
            <a:spAutoFit/>
          </a:bodyPr>
          <a:lstStyle/>
          <a:p>
            <a:pPr algn="l" indent="0" marL="0">
              <a:lnSpc>
                <a:spcPct val="80000"/>
              </a:lnSpc>
              <a:buNone/>
            </a:pPr>
            <a:r>
              <a:rPr lang="en-US" sz="650" b="1" dirty="0">
                <a:solidFill>
                  <a:srgbClr val="F8FAFC"/>
                </a:solidFill>
                <a:latin typeface="monospace" pitchFamily="34" charset="0"/>
                <a:ea typeface="monospace" pitchFamily="34" charset="-122"/>
                <a:cs typeface="monospace" pitchFamily="34" charset="-120"/>
              </a:rPr>
              <a:t>run-all-features.sh</a:t>
            </a:r>
            <a:endParaRPr lang="en-US" sz="650" dirty="0"/>
          </a:p>
        </p:txBody>
      </p:sp>
      <p:sp>
        <p:nvSpPr>
          <p:cNvPr id="31" name="Text 27"/>
          <p:cNvSpPr/>
          <p:nvPr/>
        </p:nvSpPr>
        <p:spPr>
          <a:xfrm>
            <a:off x="4295849" y="2828925"/>
            <a:ext cx="4240932" cy="105817"/>
          </a:xfrm>
          <a:prstGeom prst="rect">
            <a:avLst/>
          </a:prstGeom>
          <a:noFill/>
          <a:ln/>
        </p:spPr>
        <p:txBody>
          <a:bodyPr wrap="none" lIns="0" tIns="0" rIns="0" bIns="0" rtlCol="0" anchor="t">
            <a:spAutoFit/>
          </a:bodyPr>
          <a:lstStyle/>
          <a:p>
            <a:pPr algn="l" indent="0" marL="0">
              <a:lnSpc>
                <a:spcPct val="91200"/>
              </a:lnSpc>
              <a:buNone/>
            </a:pPr>
            <a:r>
              <a:rPr lang="en-US" sz="650" dirty="0">
                <a:solidFill>
                  <a:srgbClr val="334155"/>
                </a:solidFill>
                <a:latin typeface="Arial" pitchFamily="34" charset="0"/>
                <a:ea typeface="Arial" pitchFamily="34" charset="-122"/>
                <a:cs typeface="Arial" pitchFamily="34" charset="-120"/>
              </a:rPr>
              <a:t>One master validation command for every offline code and safety boundary.</a:t>
            </a:r>
            <a:endParaRPr lang="en-US" sz="650" dirty="0"/>
          </a:p>
        </p:txBody>
      </p:sp>
      <p:sp>
        <p:nvSpPr>
          <p:cNvPr id="32" name="Shape 28"/>
          <p:cNvSpPr/>
          <p:nvPr/>
        </p:nvSpPr>
        <p:spPr>
          <a:xfrm>
            <a:off x="485775" y="3093244"/>
            <a:ext cx="3674343" cy="600075"/>
          </a:xfrm>
          <a:prstGeom prst="rect">
            <a:avLst/>
          </a:prstGeom>
          <a:solidFill>
            <a:srgbClr val="F8FAFC"/>
          </a:solidFill>
          <a:ln/>
        </p:spPr>
      </p:sp>
      <p:sp>
        <p:nvSpPr>
          <p:cNvPr id="33" name="Text 29"/>
          <p:cNvSpPr/>
          <p:nvPr/>
        </p:nvSpPr>
        <p:spPr>
          <a:xfrm>
            <a:off x="614363" y="3178969"/>
            <a:ext cx="3424312" cy="136289"/>
          </a:xfrm>
          <a:prstGeom prst="rect">
            <a:avLst/>
          </a:prstGeom>
          <a:noFill/>
          <a:ln/>
        </p:spPr>
        <p:txBody>
          <a:bodyPr wrap="none" lIns="0" tIns="0" rIns="0" bIns="0" rtlCol="0" anchor="t">
            <a:spAutoFit/>
          </a:bodyPr>
          <a:lstStyle/>
          <a:p>
            <a:pPr algn="l" indent="0" marL="0">
              <a:lnSpc>
                <a:spcPct val="84800"/>
              </a:lnSpc>
              <a:buNone/>
            </a:pPr>
            <a:r>
              <a:rPr lang="en-US" sz="900" b="1" dirty="0">
                <a:solidFill>
                  <a:srgbClr val="0B1020"/>
                </a:solidFill>
                <a:latin typeface="Arial" pitchFamily="34" charset="0"/>
                <a:ea typeface="Arial" pitchFamily="34" charset="-122"/>
                <a:cs typeface="Arial" pitchFamily="34" charset="-120"/>
              </a:rPr>
              <a:t>INSPECT READINESS</a:t>
            </a:r>
            <a:endParaRPr lang="en-US" sz="900" dirty="0"/>
          </a:p>
        </p:txBody>
      </p:sp>
      <p:sp>
        <p:nvSpPr>
          <p:cNvPr id="34" name="Text 30"/>
          <p:cNvSpPr/>
          <p:nvPr/>
        </p:nvSpPr>
        <p:spPr>
          <a:xfrm>
            <a:off x="614363" y="3372408"/>
            <a:ext cx="3424312" cy="119993"/>
          </a:xfrm>
          <a:prstGeom prst="rect">
            <a:avLst/>
          </a:prstGeom>
          <a:noFill/>
          <a:ln/>
        </p:spPr>
        <p:txBody>
          <a:bodyPr wrap="none" lIns="0" tIns="0" rIns="0" bIns="0" rtlCol="0" anchor="t">
            <a:spAutoFit/>
          </a:bodyPr>
          <a:lstStyle/>
          <a:p>
            <a:pPr algn="l" indent="0" marL="0">
              <a:lnSpc>
                <a:spcPct val="96000"/>
              </a:lnSpc>
              <a:buNone/>
            </a:pPr>
            <a:r>
              <a:rPr lang="en-US" sz="750" dirty="0">
                <a:solidFill>
                  <a:srgbClr val="334155"/>
                </a:solidFill>
                <a:latin typeface="Arial" pitchFamily="34" charset="0"/>
                <a:ea typeface="Arial" pitchFamily="34" charset="-122"/>
                <a:cs typeface="Arial" pitchFamily="34" charset="-120"/>
              </a:rPr>
              <a:t>Confirm policy, source wiring, retained-history, and optional channel</a:t>
            </a:r>
            <a:endParaRPr lang="en-US" sz="750" dirty="0"/>
          </a:p>
        </p:txBody>
      </p:sp>
      <p:sp>
        <p:nvSpPr>
          <p:cNvPr id="35" name="Text 31"/>
          <p:cNvSpPr/>
          <p:nvPr/>
        </p:nvSpPr>
        <p:spPr>
          <a:xfrm>
            <a:off x="614363" y="3549551"/>
            <a:ext cx="3424312" cy="119993"/>
          </a:xfrm>
          <a:prstGeom prst="rect">
            <a:avLst/>
          </a:prstGeom>
          <a:noFill/>
          <a:ln/>
        </p:spPr>
        <p:txBody>
          <a:bodyPr wrap="none" lIns="0" tIns="0" rIns="0" bIns="0" rtlCol="0" anchor="t">
            <a:spAutoFit/>
          </a:bodyPr>
          <a:lstStyle/>
          <a:p>
            <a:pPr algn="l" indent="0" marL="0">
              <a:lnSpc>
                <a:spcPct val="96000"/>
              </a:lnSpc>
              <a:buNone/>
            </a:pPr>
            <a:r>
              <a:rPr lang="en-US" sz="750" dirty="0">
                <a:solidFill>
                  <a:srgbClr val="334155"/>
                </a:solidFill>
                <a:latin typeface="Arial" pitchFamily="34" charset="0"/>
                <a:ea typeface="Arial" pitchFamily="34" charset="-122"/>
                <a:cs typeface="Arial" pitchFamily="34" charset="-120"/>
              </a:rPr>
              <a:t>completeness before routine automation.</a:t>
            </a:r>
            <a:endParaRPr lang="en-US" sz="750" dirty="0"/>
          </a:p>
        </p:txBody>
      </p:sp>
      <p:sp>
        <p:nvSpPr>
          <p:cNvPr id="36" name="Shape 32"/>
          <p:cNvSpPr/>
          <p:nvPr/>
        </p:nvSpPr>
        <p:spPr>
          <a:xfrm>
            <a:off x="4167262" y="3093244"/>
            <a:ext cx="4490963" cy="600075"/>
          </a:xfrm>
          <a:prstGeom prst="rect">
            <a:avLst/>
          </a:prstGeom>
          <a:solidFill>
            <a:srgbClr val="F8FAFC"/>
          </a:solidFill>
          <a:ln/>
        </p:spPr>
      </p:sp>
      <p:sp>
        <p:nvSpPr>
          <p:cNvPr id="37" name="Shape 33"/>
          <p:cNvSpPr/>
          <p:nvPr/>
        </p:nvSpPr>
        <p:spPr>
          <a:xfrm>
            <a:off x="4295849" y="3171825"/>
            <a:ext cx="4240932" cy="214313"/>
          </a:xfrm>
          <a:prstGeom prst="rect">
            <a:avLst/>
          </a:prstGeom>
          <a:solidFill>
            <a:srgbClr val="0B1020"/>
          </a:solidFill>
          <a:ln/>
        </p:spPr>
      </p:sp>
      <p:sp>
        <p:nvSpPr>
          <p:cNvPr id="38" name="Text 34"/>
          <p:cNvSpPr/>
          <p:nvPr/>
        </p:nvSpPr>
        <p:spPr>
          <a:xfrm>
            <a:off x="4295849" y="3171825"/>
            <a:ext cx="4240932" cy="214313"/>
          </a:xfrm>
          <a:prstGeom prst="rect">
            <a:avLst/>
          </a:prstGeom>
          <a:noFill/>
          <a:ln/>
        </p:spPr>
        <p:txBody>
          <a:bodyPr wrap="square" lIns="93599" tIns="68072" rIns="85090" bIns="0" rtlCol="0" anchor="t">
            <a:spAutoFit/>
          </a:bodyPr>
          <a:lstStyle/>
          <a:p>
            <a:pPr algn="l" indent="0" marL="0">
              <a:lnSpc>
                <a:spcPct val="80000"/>
              </a:lnSpc>
              <a:buNone/>
            </a:pPr>
            <a:r>
              <a:rPr lang="en-US" sz="650" b="1" dirty="0">
                <a:solidFill>
                  <a:srgbClr val="F8FAFC"/>
                </a:solidFill>
                <a:latin typeface="monospace" pitchFamily="34" charset="0"/>
                <a:ea typeface="monospace" pitchFamily="34" charset="-122"/>
                <a:cs typeface="monospace" pitchFamily="34" charset="-120"/>
              </a:rPr>
              <a:t>GitHub Actions → Operations preflight</a:t>
            </a:r>
            <a:endParaRPr lang="en-US" sz="650" dirty="0"/>
          </a:p>
        </p:txBody>
      </p:sp>
      <p:sp>
        <p:nvSpPr>
          <p:cNvPr id="39" name="Text 35"/>
          <p:cNvSpPr/>
          <p:nvPr/>
        </p:nvSpPr>
        <p:spPr>
          <a:xfrm>
            <a:off x="4295849" y="3436144"/>
            <a:ext cx="4240932" cy="105817"/>
          </a:xfrm>
          <a:prstGeom prst="rect">
            <a:avLst/>
          </a:prstGeom>
          <a:noFill/>
          <a:ln/>
        </p:spPr>
        <p:txBody>
          <a:bodyPr wrap="none" lIns="0" tIns="0" rIns="0" bIns="0" rtlCol="0" anchor="t">
            <a:spAutoFit/>
          </a:bodyPr>
          <a:lstStyle/>
          <a:p>
            <a:pPr algn="l" indent="0" marL="0">
              <a:lnSpc>
                <a:spcPct val="91200"/>
              </a:lnSpc>
              <a:buNone/>
            </a:pPr>
            <a:r>
              <a:rPr lang="en-US" sz="650" dirty="0">
                <a:solidFill>
                  <a:srgbClr val="334155"/>
                </a:solidFill>
                <a:latin typeface="Arial" pitchFamily="34" charset="0"/>
                <a:ea typeface="Arial" pitchFamily="34" charset="-122"/>
                <a:cs typeface="Arial" pitchFamily="34" charset="-120"/>
              </a:rPr>
              <a:t>A scheduled/manual, non-destructive configuration and contract check.</a:t>
            </a:r>
            <a:endParaRPr lang="en-US" sz="650" dirty="0"/>
          </a:p>
        </p:txBody>
      </p:sp>
      <p:sp>
        <p:nvSpPr>
          <p:cNvPr id="40" name="Shape 36"/>
          <p:cNvSpPr/>
          <p:nvPr/>
        </p:nvSpPr>
        <p:spPr>
          <a:xfrm>
            <a:off x="485775" y="3700463"/>
            <a:ext cx="3674343" cy="600075"/>
          </a:xfrm>
          <a:prstGeom prst="rect">
            <a:avLst/>
          </a:prstGeom>
          <a:solidFill>
            <a:srgbClr val="F8FAFC"/>
          </a:solidFill>
          <a:ln/>
        </p:spPr>
      </p:sp>
      <p:sp>
        <p:nvSpPr>
          <p:cNvPr id="41" name="Text 37"/>
          <p:cNvSpPr/>
          <p:nvPr/>
        </p:nvSpPr>
        <p:spPr>
          <a:xfrm>
            <a:off x="614363" y="3786188"/>
            <a:ext cx="3424312" cy="136289"/>
          </a:xfrm>
          <a:prstGeom prst="rect">
            <a:avLst/>
          </a:prstGeom>
          <a:noFill/>
          <a:ln/>
        </p:spPr>
        <p:txBody>
          <a:bodyPr wrap="none" lIns="0" tIns="0" rIns="0" bIns="0" rtlCol="0" anchor="t">
            <a:spAutoFit/>
          </a:bodyPr>
          <a:lstStyle/>
          <a:p>
            <a:pPr algn="l" indent="0" marL="0">
              <a:lnSpc>
                <a:spcPct val="84800"/>
              </a:lnSpc>
              <a:buNone/>
            </a:pPr>
            <a:r>
              <a:rPr lang="en-US" sz="900" b="1" dirty="0">
                <a:solidFill>
                  <a:srgbClr val="0B1020"/>
                </a:solidFill>
                <a:latin typeface="Arial" pitchFamily="34" charset="0"/>
                <a:ea typeface="Arial" pitchFamily="34" charset="-122"/>
                <a:cs typeface="Arial" pitchFamily="34" charset="-120"/>
              </a:rPr>
              <a:t>REVIEW EVIDENCE</a:t>
            </a:r>
            <a:endParaRPr lang="en-US" sz="900" dirty="0"/>
          </a:p>
        </p:txBody>
      </p:sp>
      <p:sp>
        <p:nvSpPr>
          <p:cNvPr id="42" name="Text 38"/>
          <p:cNvSpPr/>
          <p:nvPr/>
        </p:nvSpPr>
        <p:spPr>
          <a:xfrm>
            <a:off x="614363" y="3979627"/>
            <a:ext cx="3424312" cy="119993"/>
          </a:xfrm>
          <a:prstGeom prst="rect">
            <a:avLst/>
          </a:prstGeom>
          <a:noFill/>
          <a:ln/>
        </p:spPr>
        <p:txBody>
          <a:bodyPr wrap="none" lIns="0" tIns="0" rIns="0" bIns="0" rtlCol="0" anchor="t">
            <a:spAutoFit/>
          </a:bodyPr>
          <a:lstStyle/>
          <a:p>
            <a:pPr algn="l" indent="0" marL="0">
              <a:lnSpc>
                <a:spcPct val="96000"/>
              </a:lnSpc>
              <a:buNone/>
            </a:pPr>
            <a:r>
              <a:rPr lang="en-US" sz="750" dirty="0">
                <a:solidFill>
                  <a:srgbClr val="334155"/>
                </a:solidFill>
                <a:latin typeface="Arial" pitchFamily="34" charset="0"/>
                <a:ea typeface="Arial" pitchFamily="34" charset="-122"/>
                <a:cs typeface="Arial" pitchFamily="34" charset="-120"/>
              </a:rPr>
              <a:t>Explore genuine merged metrics and trend context without sending</a:t>
            </a:r>
            <a:endParaRPr lang="en-US" sz="750" dirty="0"/>
          </a:p>
        </p:txBody>
      </p:sp>
      <p:sp>
        <p:nvSpPr>
          <p:cNvPr id="43" name="Text 39"/>
          <p:cNvSpPr/>
          <p:nvPr/>
        </p:nvSpPr>
        <p:spPr>
          <a:xfrm>
            <a:off x="614363" y="4156770"/>
            <a:ext cx="3424312" cy="119993"/>
          </a:xfrm>
          <a:prstGeom prst="rect">
            <a:avLst/>
          </a:prstGeom>
          <a:noFill/>
          <a:ln/>
        </p:spPr>
        <p:txBody>
          <a:bodyPr wrap="none" lIns="0" tIns="0" rIns="0" bIns="0" rtlCol="0" anchor="t">
            <a:spAutoFit/>
          </a:bodyPr>
          <a:lstStyle/>
          <a:p>
            <a:pPr algn="l" indent="0" marL="0">
              <a:lnSpc>
                <a:spcPct val="96000"/>
              </a:lnSpc>
              <a:buNone/>
            </a:pPr>
            <a:r>
              <a:rPr lang="en-US" sz="750" dirty="0">
                <a:solidFill>
                  <a:srgbClr val="334155"/>
                </a:solidFill>
                <a:latin typeface="Arial" pitchFamily="34" charset="0"/>
                <a:ea typeface="Arial" pitchFamily="34" charset="-122"/>
                <a:cs typeface="Arial" pitchFamily="34" charset="-120"/>
              </a:rPr>
              <a:t>operational data to an external analytics service.</a:t>
            </a:r>
            <a:endParaRPr lang="en-US" sz="750" dirty="0"/>
          </a:p>
        </p:txBody>
      </p:sp>
      <p:sp>
        <p:nvSpPr>
          <p:cNvPr id="44" name="Shape 40"/>
          <p:cNvSpPr/>
          <p:nvPr/>
        </p:nvSpPr>
        <p:spPr>
          <a:xfrm>
            <a:off x="4167262" y="3700463"/>
            <a:ext cx="4490963" cy="600075"/>
          </a:xfrm>
          <a:prstGeom prst="rect">
            <a:avLst/>
          </a:prstGeom>
          <a:solidFill>
            <a:srgbClr val="F8FAFC"/>
          </a:solidFill>
          <a:ln/>
        </p:spPr>
      </p:sp>
      <p:sp>
        <p:nvSpPr>
          <p:cNvPr id="45" name="Shape 41"/>
          <p:cNvSpPr/>
          <p:nvPr/>
        </p:nvSpPr>
        <p:spPr>
          <a:xfrm>
            <a:off x="4295849" y="3779044"/>
            <a:ext cx="4240932" cy="214313"/>
          </a:xfrm>
          <a:prstGeom prst="rect">
            <a:avLst/>
          </a:prstGeom>
          <a:solidFill>
            <a:srgbClr val="0B1020"/>
          </a:solidFill>
          <a:ln/>
        </p:spPr>
      </p:sp>
      <p:sp>
        <p:nvSpPr>
          <p:cNvPr id="46" name="Text 42"/>
          <p:cNvSpPr/>
          <p:nvPr/>
        </p:nvSpPr>
        <p:spPr>
          <a:xfrm>
            <a:off x="4295849" y="3779044"/>
            <a:ext cx="4240932" cy="214313"/>
          </a:xfrm>
          <a:prstGeom prst="rect">
            <a:avLst/>
          </a:prstGeom>
          <a:noFill/>
          <a:ln/>
        </p:spPr>
        <p:txBody>
          <a:bodyPr wrap="square" lIns="93599" tIns="68072" rIns="85090" bIns="0" rtlCol="0" anchor="t">
            <a:spAutoFit/>
          </a:bodyPr>
          <a:lstStyle/>
          <a:p>
            <a:pPr algn="l" indent="0" marL="0">
              <a:lnSpc>
                <a:spcPct val="80000"/>
              </a:lnSpc>
              <a:buNone/>
            </a:pPr>
            <a:r>
              <a:rPr lang="en-US" sz="650" b="1" dirty="0">
                <a:solidFill>
                  <a:srgbClr val="F8FAFC"/>
                </a:solidFill>
                <a:latin typeface="monospace" pitchFamily="34" charset="0"/>
                <a:ea typeface="monospace" pitchFamily="34" charset="-122"/>
                <a:cs typeface="monospace" pitchFamily="34" charset="-120"/>
              </a:rPr>
              <a:t>Local dashboard → import metrics JSON</a:t>
            </a:r>
            <a:endParaRPr lang="en-US" sz="650" dirty="0"/>
          </a:p>
        </p:txBody>
      </p:sp>
      <p:sp>
        <p:nvSpPr>
          <p:cNvPr id="47" name="Text 43"/>
          <p:cNvSpPr/>
          <p:nvPr/>
        </p:nvSpPr>
        <p:spPr>
          <a:xfrm>
            <a:off x="4295849" y="4043363"/>
            <a:ext cx="4240932" cy="105817"/>
          </a:xfrm>
          <a:prstGeom prst="rect">
            <a:avLst/>
          </a:prstGeom>
          <a:noFill/>
          <a:ln/>
        </p:spPr>
        <p:txBody>
          <a:bodyPr wrap="none" lIns="0" tIns="0" rIns="0" bIns="0" rtlCol="0" anchor="t">
            <a:spAutoFit/>
          </a:bodyPr>
          <a:lstStyle/>
          <a:p>
            <a:pPr algn="l" indent="0" marL="0">
              <a:lnSpc>
                <a:spcPct val="91200"/>
              </a:lnSpc>
              <a:buNone/>
            </a:pPr>
            <a:r>
              <a:rPr lang="en-US" sz="650" dirty="0">
                <a:solidFill>
                  <a:srgbClr val="334155"/>
                </a:solidFill>
                <a:latin typeface="Arial" pitchFamily="34" charset="0"/>
                <a:ea typeface="Arial" pitchFamily="34" charset="-122"/>
                <a:cs typeface="Arial" pitchFamily="34" charset="-120"/>
              </a:rPr>
              <a:t>Read duration, runner balance, retries, history, and CSV export locally.</a:t>
            </a:r>
            <a:endParaRPr lang="en-US" sz="650" dirty="0"/>
          </a:p>
        </p:txBody>
      </p:sp>
      <p:sp>
        <p:nvSpPr>
          <p:cNvPr id="48" name="Shape 44"/>
          <p:cNvSpPr/>
          <p:nvPr/>
        </p:nvSpPr>
        <p:spPr>
          <a:xfrm>
            <a:off x="485775" y="4386263"/>
            <a:ext cx="8172450" cy="528638"/>
          </a:xfrm>
          <a:prstGeom prst="rect">
            <a:avLst/>
          </a:prstGeom>
          <a:solidFill>
            <a:srgbClr val="F8FAFC"/>
          </a:solidFill>
          <a:ln/>
        </p:spPr>
      </p:sp>
      <p:sp>
        <p:nvSpPr>
          <p:cNvPr id="49" name="Shape 45"/>
          <p:cNvSpPr/>
          <p:nvPr/>
        </p:nvSpPr>
        <p:spPr>
          <a:xfrm>
            <a:off x="485775" y="4386263"/>
            <a:ext cx="2157413" cy="528638"/>
          </a:xfrm>
          <a:prstGeom prst="rect">
            <a:avLst/>
          </a:prstGeom>
          <a:solidFill>
            <a:srgbClr val="A3E635"/>
          </a:solidFill>
          <a:ln/>
        </p:spPr>
      </p:sp>
      <p:sp>
        <p:nvSpPr>
          <p:cNvPr id="50" name="Text 46"/>
          <p:cNvSpPr/>
          <p:nvPr/>
        </p:nvSpPr>
        <p:spPr>
          <a:xfrm>
            <a:off x="485775" y="4386263"/>
            <a:ext cx="2157413" cy="528638"/>
          </a:xfrm>
          <a:prstGeom prst="rect">
            <a:avLst/>
          </a:prstGeom>
          <a:noFill/>
          <a:ln/>
        </p:spPr>
        <p:txBody>
          <a:bodyPr wrap="square" lIns="178562" tIns="187071" rIns="136017" bIns="0" rtlCol="0" anchor="t">
            <a:spAutoFit/>
          </a:bodyPr>
          <a:lstStyle/>
          <a:p>
            <a:pPr algn="l" indent="0" marL="0">
              <a:lnSpc>
                <a:spcPct val="88000"/>
              </a:lnSpc>
              <a:buNone/>
            </a:pPr>
            <a:r>
              <a:rPr lang="en-US" sz="700" b="1" spc="1" kern="0" dirty="0">
                <a:solidFill>
                  <a:srgbClr val="0B1020"/>
                </a:solidFill>
                <a:latin typeface="Arial" pitchFamily="34" charset="0"/>
                <a:ea typeface="Arial" pitchFamily="34" charset="-122"/>
                <a:cs typeface="Arial" pitchFamily="34" charset="-120"/>
              </a:rPr>
              <a:t>CONTROL PRINCIPLE</a:t>
            </a:r>
            <a:endParaRPr lang="en-US" sz="700" dirty="0"/>
          </a:p>
        </p:txBody>
      </p:sp>
      <p:sp>
        <p:nvSpPr>
          <p:cNvPr id="51" name="Text 47"/>
          <p:cNvSpPr/>
          <p:nvPr/>
        </p:nvSpPr>
        <p:spPr>
          <a:xfrm>
            <a:off x="2643188" y="4386263"/>
            <a:ext cx="6015038" cy="528638"/>
          </a:xfrm>
          <a:prstGeom prst="rect">
            <a:avLst/>
          </a:prstGeom>
          <a:noFill/>
          <a:ln/>
        </p:spPr>
        <p:txBody>
          <a:bodyPr wrap="square" lIns="204089" tIns="153035" rIns="204089" bIns="0" rtlCol="0" anchor="t">
            <a:spAutoFit/>
          </a:bodyPr>
          <a:lstStyle/>
          <a:p>
            <a:pPr algn="l" indent="0" marL="0">
              <a:lnSpc>
                <a:spcPct val="97600"/>
              </a:lnSpc>
              <a:buNone/>
            </a:pPr>
            <a:r>
              <a:rPr lang="en-US" sz="1000" dirty="0">
                <a:solidFill>
                  <a:srgbClr val="334155"/>
                </a:solidFill>
                <a:latin typeface="Arial" pitchFamily="34" charset="0"/>
                <a:ea typeface="Arial" pitchFamily="34" charset="-122"/>
                <a:cs typeface="Arial" pitchFamily="34" charset="-120"/>
              </a:rPr>
              <a:t>Make credentials and deployment changes deliberate; make validation, observability, and maintenance repeatable.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85775" y="342900"/>
            <a:ext cx="8172450" cy="100013"/>
          </a:xfrm>
          <a:prstGeom prst="rect">
            <a:avLst/>
          </a:prstGeom>
          <a:noFill/>
          <a:ln/>
        </p:spPr>
        <p:txBody>
          <a:bodyPr wrap="none" lIns="0" tIns="0" rIns="0" bIns="0" rtlCol="0" anchor="t">
            <a:spAutoFit/>
          </a:bodyPr>
          <a:lstStyle/>
          <a:p>
            <a:pPr algn="l" indent="0" marL="0">
              <a:lnSpc>
                <a:spcPct val="80000"/>
              </a:lnSpc>
              <a:buNone/>
            </a:pPr>
            <a:r>
              <a:rPr lang="en-US" sz="700" b="1" spc="2" kern="0" dirty="0">
                <a:solidFill>
                  <a:srgbClr val="A3E635"/>
                </a:solidFill>
                <a:latin typeface="Arial" pitchFamily="34" charset="0"/>
                <a:ea typeface="Arial" pitchFamily="34" charset="-122"/>
                <a:cs typeface="Arial" pitchFamily="34" charset="-120"/>
              </a:rPr>
              <a:t>COMPLETENESS GATE</a:t>
            </a:r>
            <a:endParaRPr lang="en-US" sz="700" dirty="0"/>
          </a:p>
        </p:txBody>
      </p:sp>
      <p:sp>
        <p:nvSpPr>
          <p:cNvPr id="5" name="Text 1"/>
          <p:cNvSpPr/>
          <p:nvPr/>
        </p:nvSpPr>
        <p:spPr>
          <a:xfrm>
            <a:off x="485775" y="514350"/>
            <a:ext cx="8172450" cy="300038"/>
          </a:xfrm>
          <a:prstGeom prst="rect">
            <a:avLst/>
          </a:prstGeom>
          <a:noFill/>
          <a:ln/>
        </p:spPr>
        <p:txBody>
          <a:bodyPr wrap="none" lIns="0" tIns="0" rIns="0" bIns="0" rtlCol="0" anchor="t">
            <a:spAutoFit/>
          </a:bodyPr>
          <a:lstStyle/>
          <a:p>
            <a:pPr algn="l" indent="0" marL="0">
              <a:lnSpc>
                <a:spcPct val="80000"/>
              </a:lnSpc>
              <a:buNone/>
            </a:pPr>
            <a:r>
              <a:rPr lang="en-US" sz="2100" b="1" spc="-1" kern="0" dirty="0">
                <a:solidFill>
                  <a:srgbClr val="F8FAFC"/>
                </a:solidFill>
                <a:latin typeface="Arial" pitchFamily="34" charset="0"/>
                <a:ea typeface="Arial" pitchFamily="34" charset="-122"/>
                <a:cs typeface="Arial" pitchFamily="34" charset="-120"/>
              </a:rPr>
              <a:t>COMPLETENESS IS A VERIFIABLE CONTRACT</a:t>
            </a:r>
            <a:endParaRPr lang="en-US" sz="2100" dirty="0"/>
          </a:p>
        </p:txBody>
      </p:sp>
      <p:sp>
        <p:nvSpPr>
          <p:cNvPr id="6" name="Text 2"/>
          <p:cNvSpPr/>
          <p:nvPr/>
        </p:nvSpPr>
        <p:spPr>
          <a:xfrm>
            <a:off x="485775" y="900113"/>
            <a:ext cx="6786563" cy="371475"/>
          </a:xfrm>
          <a:prstGeom prst="rect">
            <a:avLst/>
          </a:prstGeom>
          <a:noFill/>
          <a:ln/>
        </p:spPr>
        <p:txBody>
          <a:bodyPr wrap="square" lIns="0" tIns="0" rIns="0" bIns="0" rtlCol="0" anchor="t">
            <a:spAutoFit/>
          </a:bodyPr>
          <a:lstStyle/>
          <a:p>
            <a:pPr algn="l" indent="0" marL="0">
              <a:lnSpc>
                <a:spcPct val="104000"/>
              </a:lnSpc>
              <a:buNone/>
            </a:pPr>
            <a:r>
              <a:rPr lang="en-US" sz="1050" dirty="0">
                <a:solidFill>
                  <a:srgbClr val="CBD5E1"/>
                </a:solidFill>
                <a:latin typeface="Arial" pitchFamily="34" charset="0"/>
                <a:ea typeface="Arial" pitchFamily="34" charset="-122"/>
                <a:cs typeface="Arial" pitchFamily="34" charset="-120"/>
              </a:rPr>
              <a:t>The skill converts “include everything” into a tangible source-coverage check, so promised capabilities cannot disappear behind prose or partial implementation.</a:t>
            </a:r>
            <a:endParaRPr lang="en-US" sz="1050" dirty="0"/>
          </a:p>
        </p:txBody>
      </p:sp>
      <p:sp>
        <p:nvSpPr>
          <p:cNvPr id="7" name="Shape 3"/>
          <p:cNvSpPr/>
          <p:nvPr/>
        </p:nvSpPr>
        <p:spPr>
          <a:xfrm>
            <a:off x="485775" y="1521619"/>
            <a:ext cx="1796653" cy="1714500"/>
          </a:xfrm>
          <a:prstGeom prst="rect">
            <a:avLst/>
          </a:prstGeom>
          <a:solidFill>
            <a:srgbClr val="F8FAFC"/>
          </a:solidFill>
          <a:ln/>
        </p:spPr>
      </p:sp>
      <p:sp>
        <p:nvSpPr>
          <p:cNvPr id="8" name="Shape 4"/>
          <p:cNvSpPr/>
          <p:nvPr/>
        </p:nvSpPr>
        <p:spPr>
          <a:xfrm>
            <a:off x="485775" y="1521619"/>
            <a:ext cx="1796653" cy="50006"/>
          </a:xfrm>
          <a:prstGeom prst="rect">
            <a:avLst/>
          </a:prstGeom>
          <a:solidFill>
            <a:srgbClr val="38BDF8"/>
          </a:solidFill>
          <a:ln/>
        </p:spPr>
      </p:sp>
      <p:sp>
        <p:nvSpPr>
          <p:cNvPr id="9" name="Text 5"/>
          <p:cNvSpPr/>
          <p:nvPr/>
        </p:nvSpPr>
        <p:spPr>
          <a:xfrm>
            <a:off x="614363" y="1671638"/>
            <a:ext cx="1539478" cy="85725"/>
          </a:xfrm>
          <a:prstGeom prst="rect">
            <a:avLst/>
          </a:prstGeom>
          <a:noFill/>
          <a:ln/>
        </p:spPr>
        <p:txBody>
          <a:bodyPr wrap="none" lIns="0" tIns="0" rIns="0" bIns="0" rtlCol="0" anchor="t">
            <a:spAutoFit/>
          </a:bodyPr>
          <a:lstStyle/>
          <a:p>
            <a:pPr algn="l" indent="0" marL="0">
              <a:lnSpc>
                <a:spcPct val="80000"/>
              </a:lnSpc>
              <a:buNone/>
            </a:pPr>
            <a:r>
              <a:rPr lang="en-US" sz="600" b="1" spc="1" kern="0" dirty="0">
                <a:solidFill>
                  <a:srgbClr val="2563EB"/>
                </a:solidFill>
                <a:latin typeface="Arial" pitchFamily="34" charset="0"/>
                <a:ea typeface="Arial" pitchFamily="34" charset="-122"/>
                <a:cs typeface="Arial" pitchFamily="34" charset="-120"/>
              </a:rPr>
              <a:t>01 / READ</a:t>
            </a:r>
            <a:endParaRPr lang="en-US" sz="600" dirty="0"/>
          </a:p>
        </p:txBody>
      </p:sp>
      <p:sp>
        <p:nvSpPr>
          <p:cNvPr id="10" name="Text 6"/>
          <p:cNvSpPr/>
          <p:nvPr/>
        </p:nvSpPr>
        <p:spPr>
          <a:xfrm>
            <a:off x="614363" y="1821656"/>
            <a:ext cx="1539478" cy="311981"/>
          </a:xfrm>
          <a:prstGeom prst="rect">
            <a:avLst/>
          </a:prstGeom>
          <a:noFill/>
          <a:ln/>
        </p:spPr>
        <p:txBody>
          <a:bodyPr wrap="square" lIns="0" tIns="0" rIns="0" bIns="0" rtlCol="0" anchor="t">
            <a:spAutoFit/>
          </a:bodyPr>
          <a:lstStyle/>
          <a:p>
            <a:pPr algn="l" indent="0" marL="0">
              <a:lnSpc>
                <a:spcPct val="83200"/>
              </a:lnSpc>
              <a:buNone/>
            </a:pPr>
            <a:r>
              <a:rPr lang="en-US" sz="1050" b="1" dirty="0">
                <a:solidFill>
                  <a:srgbClr val="0B1020"/>
                </a:solidFill>
                <a:latin typeface="Arial" pitchFamily="34" charset="0"/>
                <a:ea typeface="Arial" pitchFamily="34" charset="-122"/>
                <a:cs typeface="Arial" pitchFamily="34" charset="-120"/>
              </a:rPr>
              <a:t>FEATURE CONTRACT</a:t>
            </a:r>
            <a:endParaRPr lang="en-US" sz="1050" dirty="0"/>
          </a:p>
        </p:txBody>
      </p:sp>
      <p:sp>
        <p:nvSpPr>
          <p:cNvPr id="11" name="Text 7"/>
          <p:cNvSpPr/>
          <p:nvPr/>
        </p:nvSpPr>
        <p:spPr>
          <a:xfrm>
            <a:off x="614363" y="2246877"/>
            <a:ext cx="1539478" cy="575965"/>
          </a:xfrm>
          <a:prstGeom prst="rect">
            <a:avLst/>
          </a:prstGeom>
          <a:noFill/>
          <a:ln/>
        </p:spPr>
        <p:txBody>
          <a:bodyPr wrap="square" lIns="0" tIns="0" rIns="0" bIns="0" rtlCol="0" anchor="t">
            <a:spAutoFit/>
          </a:bodyPr>
          <a:lstStyle/>
          <a:p>
            <a:pPr algn="l" indent="0" marL="0">
              <a:lnSpc>
                <a:spcPct val="100800"/>
              </a:lnSpc>
              <a:buNone/>
            </a:pPr>
            <a:r>
              <a:rPr lang="en-US" sz="850" dirty="0">
                <a:solidFill>
                  <a:srgbClr val="334155"/>
                </a:solidFill>
                <a:latin typeface="Arial" pitchFamily="34" charset="0"/>
                <a:ea typeface="Arial" pitchFamily="34" charset="-122"/>
                <a:cs typeface="Arial" pitchFamily="34" charset="-120"/>
              </a:rPr>
              <a:t>Define the expected journey, verification, operations, insight, safety, and delivery capabilities before planning.</a:t>
            </a:r>
            <a:endParaRPr lang="en-US" sz="850" dirty="0"/>
          </a:p>
        </p:txBody>
      </p:sp>
      <p:sp>
        <p:nvSpPr>
          <p:cNvPr id="12" name="Shape 8"/>
          <p:cNvSpPr/>
          <p:nvPr/>
        </p:nvSpPr>
        <p:spPr>
          <a:xfrm>
            <a:off x="614363" y="2936081"/>
            <a:ext cx="1539478" cy="300038"/>
          </a:xfrm>
          <a:prstGeom prst="rect">
            <a:avLst/>
          </a:prstGeom>
          <a:solidFill>
            <a:srgbClr val="E0F2FE"/>
          </a:solidFill>
          <a:ln/>
        </p:spPr>
      </p:sp>
      <p:sp>
        <p:nvSpPr>
          <p:cNvPr id="13" name="Text 9"/>
          <p:cNvSpPr/>
          <p:nvPr/>
        </p:nvSpPr>
        <p:spPr>
          <a:xfrm>
            <a:off x="614363" y="2936081"/>
            <a:ext cx="1539478" cy="300038"/>
          </a:xfrm>
          <a:prstGeom prst="rect">
            <a:avLst/>
          </a:prstGeom>
          <a:noFill/>
          <a:ln/>
        </p:spPr>
        <p:txBody>
          <a:bodyPr wrap="square" lIns="85090" tIns="102108" rIns="76581" bIns="0" rtlCol="0" anchor="t">
            <a:spAutoFit/>
          </a:bodyPr>
          <a:lstStyle/>
          <a:p>
            <a:pPr algn="l" indent="0" marL="0">
              <a:lnSpc>
                <a:spcPct val="84000"/>
              </a:lnSpc>
              <a:buNone/>
            </a:pPr>
            <a:r>
              <a:rPr lang="en-US" sz="550" b="1" spc="1" kern="0" dirty="0">
                <a:solidFill>
                  <a:srgbClr val="0B1020"/>
                </a:solidFill>
                <a:latin typeface="Arial" pitchFamily="34" charset="0"/>
                <a:ea typeface="Arial" pitchFamily="34" charset="-122"/>
                <a:cs typeface="Arial" pitchFamily="34" charset="-120"/>
              </a:rPr>
              <a:t>REFERENCE BASELINE</a:t>
            </a:r>
            <a:endParaRPr lang="en-US" sz="550" dirty="0"/>
          </a:p>
        </p:txBody>
      </p:sp>
      <p:sp>
        <p:nvSpPr>
          <p:cNvPr id="14" name="Text 10"/>
          <p:cNvSpPr/>
          <p:nvPr/>
        </p:nvSpPr>
        <p:spPr>
          <a:xfrm>
            <a:off x="2282428" y="1521619"/>
            <a:ext cx="328613" cy="1714500"/>
          </a:xfrm>
          <a:prstGeom prst="rect">
            <a:avLst/>
          </a:prstGeom>
          <a:noFill/>
          <a:ln/>
        </p:spPr>
        <p:txBody>
          <a:bodyPr wrap="square" lIns="0" tIns="0" rIns="0" bIns="0" rtlCol="0" anchor="ctr">
            <a:spAutoFit/>
          </a:bodyPr>
          <a:lstStyle/>
          <a:p>
            <a:pPr algn="ctr" indent="0" marL="0">
              <a:lnSpc>
                <a:spcPct val="80000"/>
              </a:lnSpc>
              <a:buNone/>
            </a:pPr>
            <a:r>
              <a:rPr lang="en-US" sz="1600" b="1" dirty="0">
                <a:solidFill>
                  <a:srgbClr val="A3E635"/>
                </a:solidFill>
                <a:latin typeface="Arial" pitchFamily="34" charset="0"/>
                <a:ea typeface="Arial" pitchFamily="34" charset="-122"/>
                <a:cs typeface="Arial" pitchFamily="34" charset="-120"/>
              </a:rPr>
              <a:t>→</a:t>
            </a:r>
            <a:endParaRPr lang="en-US" sz="1600" dirty="0"/>
          </a:p>
        </p:txBody>
      </p:sp>
      <p:sp>
        <p:nvSpPr>
          <p:cNvPr id="15" name="Shape 11"/>
          <p:cNvSpPr/>
          <p:nvPr/>
        </p:nvSpPr>
        <p:spPr>
          <a:xfrm>
            <a:off x="2611041" y="1521619"/>
            <a:ext cx="1796653" cy="1714500"/>
          </a:xfrm>
          <a:prstGeom prst="rect">
            <a:avLst/>
          </a:prstGeom>
          <a:solidFill>
            <a:srgbClr val="F8FAFC"/>
          </a:solidFill>
          <a:ln/>
        </p:spPr>
      </p:sp>
      <p:sp>
        <p:nvSpPr>
          <p:cNvPr id="16" name="Shape 12"/>
          <p:cNvSpPr/>
          <p:nvPr/>
        </p:nvSpPr>
        <p:spPr>
          <a:xfrm>
            <a:off x="2611041" y="1521619"/>
            <a:ext cx="1796653" cy="50006"/>
          </a:xfrm>
          <a:prstGeom prst="rect">
            <a:avLst/>
          </a:prstGeom>
          <a:solidFill>
            <a:srgbClr val="38BDF8"/>
          </a:solidFill>
          <a:ln/>
        </p:spPr>
      </p:sp>
      <p:sp>
        <p:nvSpPr>
          <p:cNvPr id="17" name="Text 13"/>
          <p:cNvSpPr/>
          <p:nvPr/>
        </p:nvSpPr>
        <p:spPr>
          <a:xfrm>
            <a:off x="2739628" y="1671638"/>
            <a:ext cx="1539478" cy="85725"/>
          </a:xfrm>
          <a:prstGeom prst="rect">
            <a:avLst/>
          </a:prstGeom>
          <a:noFill/>
          <a:ln/>
        </p:spPr>
        <p:txBody>
          <a:bodyPr wrap="none" lIns="0" tIns="0" rIns="0" bIns="0" rtlCol="0" anchor="t">
            <a:spAutoFit/>
          </a:bodyPr>
          <a:lstStyle/>
          <a:p>
            <a:pPr algn="l" indent="0" marL="0">
              <a:lnSpc>
                <a:spcPct val="80000"/>
              </a:lnSpc>
              <a:buNone/>
            </a:pPr>
            <a:r>
              <a:rPr lang="en-US" sz="600" b="1" spc="1" kern="0" dirty="0">
                <a:solidFill>
                  <a:srgbClr val="2563EB"/>
                </a:solidFill>
                <a:latin typeface="Arial" pitchFamily="34" charset="0"/>
                <a:ea typeface="Arial" pitchFamily="34" charset="-122"/>
                <a:cs typeface="Arial" pitchFamily="34" charset="-120"/>
              </a:rPr>
              <a:t>02 / DECLARE</a:t>
            </a:r>
            <a:endParaRPr lang="en-US" sz="600" dirty="0"/>
          </a:p>
        </p:txBody>
      </p:sp>
      <p:sp>
        <p:nvSpPr>
          <p:cNvPr id="18" name="Text 14"/>
          <p:cNvSpPr/>
          <p:nvPr/>
        </p:nvSpPr>
        <p:spPr>
          <a:xfrm>
            <a:off x="2739628" y="1821656"/>
            <a:ext cx="1539478" cy="311981"/>
          </a:xfrm>
          <a:prstGeom prst="rect">
            <a:avLst/>
          </a:prstGeom>
          <a:noFill/>
          <a:ln/>
        </p:spPr>
        <p:txBody>
          <a:bodyPr wrap="square" lIns="0" tIns="0" rIns="0" bIns="0" rtlCol="0" anchor="t">
            <a:spAutoFit/>
          </a:bodyPr>
          <a:lstStyle/>
          <a:p>
            <a:pPr algn="l" indent="0" marL="0">
              <a:lnSpc>
                <a:spcPct val="83200"/>
              </a:lnSpc>
              <a:buNone/>
            </a:pPr>
            <a:r>
              <a:rPr lang="en-US" sz="1050" b="1" dirty="0">
                <a:solidFill>
                  <a:srgbClr val="0B1020"/>
                </a:solidFill>
                <a:latin typeface="Arial" pitchFamily="34" charset="0"/>
                <a:ea typeface="Arial" pitchFamily="34" charset="-122"/>
                <a:cs typeface="Arial" pitchFamily="34" charset="-120"/>
              </a:rPr>
              <a:t>12-CAPABILITY MANIFEST</a:t>
            </a:r>
            <a:endParaRPr lang="en-US" sz="1050" dirty="0"/>
          </a:p>
        </p:txBody>
      </p:sp>
      <p:sp>
        <p:nvSpPr>
          <p:cNvPr id="19" name="Text 15"/>
          <p:cNvSpPr/>
          <p:nvPr/>
        </p:nvSpPr>
        <p:spPr>
          <a:xfrm>
            <a:off x="2739628" y="2246877"/>
            <a:ext cx="1539478" cy="575965"/>
          </a:xfrm>
          <a:prstGeom prst="rect">
            <a:avLst/>
          </a:prstGeom>
          <a:noFill/>
          <a:ln/>
        </p:spPr>
        <p:txBody>
          <a:bodyPr wrap="square" lIns="0" tIns="0" rIns="0" bIns="0" rtlCol="0" anchor="t">
            <a:spAutoFit/>
          </a:bodyPr>
          <a:lstStyle/>
          <a:p>
            <a:pPr algn="l" indent="0" marL="0">
              <a:lnSpc>
                <a:spcPct val="100800"/>
              </a:lnSpc>
              <a:buNone/>
            </a:pPr>
            <a:r>
              <a:rPr lang="en-US" sz="850" dirty="0">
                <a:solidFill>
                  <a:srgbClr val="334155"/>
                </a:solidFill>
                <a:latin typeface="Arial" pitchFamily="34" charset="0"/>
                <a:ea typeface="Arial" pitchFamily="34" charset="-122"/>
                <a:cs typeface="Arial" pitchFamily="34" charset="-120"/>
              </a:rPr>
              <a:t>Map every promised capability to one or more concrete generated source paths.</a:t>
            </a:r>
            <a:endParaRPr lang="en-US" sz="850" dirty="0"/>
          </a:p>
        </p:txBody>
      </p:sp>
      <p:sp>
        <p:nvSpPr>
          <p:cNvPr id="20" name="Shape 16"/>
          <p:cNvSpPr/>
          <p:nvPr/>
        </p:nvSpPr>
        <p:spPr>
          <a:xfrm>
            <a:off x="2739628" y="2936081"/>
            <a:ext cx="1539478" cy="300038"/>
          </a:xfrm>
          <a:prstGeom prst="rect">
            <a:avLst/>
          </a:prstGeom>
          <a:solidFill>
            <a:srgbClr val="E0F2FE"/>
          </a:solidFill>
          <a:ln/>
        </p:spPr>
      </p:sp>
      <p:sp>
        <p:nvSpPr>
          <p:cNvPr id="21" name="Text 17"/>
          <p:cNvSpPr/>
          <p:nvPr/>
        </p:nvSpPr>
        <p:spPr>
          <a:xfrm>
            <a:off x="2739628" y="2936081"/>
            <a:ext cx="1539478" cy="300038"/>
          </a:xfrm>
          <a:prstGeom prst="rect">
            <a:avLst/>
          </a:prstGeom>
          <a:noFill/>
          <a:ln/>
        </p:spPr>
        <p:txBody>
          <a:bodyPr wrap="square" lIns="85090" tIns="102108" rIns="76581" bIns="0" rtlCol="0" anchor="t">
            <a:spAutoFit/>
          </a:bodyPr>
          <a:lstStyle/>
          <a:p>
            <a:pPr algn="l" indent="0" marL="0">
              <a:lnSpc>
                <a:spcPct val="84000"/>
              </a:lnSpc>
              <a:buNone/>
            </a:pPr>
            <a:r>
              <a:rPr lang="en-US" sz="550" b="1" spc="1" kern="0" dirty="0">
                <a:solidFill>
                  <a:srgbClr val="0B1020"/>
                </a:solidFill>
                <a:latin typeface="Arial" pitchFamily="34" charset="0"/>
                <a:ea typeface="Arial" pitchFamily="34" charset="-122"/>
                <a:cs typeface="Arial" pitchFamily="34" charset="-120"/>
              </a:rPr>
              <a:t>REPOSITORY-SPECIFIC MAP</a:t>
            </a:r>
            <a:endParaRPr lang="en-US" sz="550" dirty="0"/>
          </a:p>
        </p:txBody>
      </p:sp>
      <p:sp>
        <p:nvSpPr>
          <p:cNvPr id="22" name="Text 18"/>
          <p:cNvSpPr/>
          <p:nvPr/>
        </p:nvSpPr>
        <p:spPr>
          <a:xfrm>
            <a:off x="4407694" y="1521619"/>
            <a:ext cx="328613" cy="1714500"/>
          </a:xfrm>
          <a:prstGeom prst="rect">
            <a:avLst/>
          </a:prstGeom>
          <a:noFill/>
          <a:ln/>
        </p:spPr>
        <p:txBody>
          <a:bodyPr wrap="square" lIns="0" tIns="0" rIns="0" bIns="0" rtlCol="0" anchor="ctr">
            <a:spAutoFit/>
          </a:bodyPr>
          <a:lstStyle/>
          <a:p>
            <a:pPr algn="ctr" indent="0" marL="0">
              <a:lnSpc>
                <a:spcPct val="80000"/>
              </a:lnSpc>
              <a:buNone/>
            </a:pPr>
            <a:r>
              <a:rPr lang="en-US" sz="1600" b="1" dirty="0">
                <a:solidFill>
                  <a:srgbClr val="A3E635"/>
                </a:solidFill>
                <a:latin typeface="Arial" pitchFamily="34" charset="0"/>
                <a:ea typeface="Arial" pitchFamily="34" charset="-122"/>
                <a:cs typeface="Arial" pitchFamily="34" charset="-120"/>
              </a:rPr>
              <a:t>→</a:t>
            </a:r>
            <a:endParaRPr lang="en-US" sz="1600" dirty="0"/>
          </a:p>
        </p:txBody>
      </p:sp>
      <p:sp>
        <p:nvSpPr>
          <p:cNvPr id="23" name="Shape 19"/>
          <p:cNvSpPr/>
          <p:nvPr/>
        </p:nvSpPr>
        <p:spPr>
          <a:xfrm>
            <a:off x="4736306" y="1521619"/>
            <a:ext cx="1796653" cy="1714500"/>
          </a:xfrm>
          <a:prstGeom prst="rect">
            <a:avLst/>
          </a:prstGeom>
          <a:solidFill>
            <a:srgbClr val="F8FAFC"/>
          </a:solidFill>
          <a:ln/>
        </p:spPr>
      </p:sp>
      <p:sp>
        <p:nvSpPr>
          <p:cNvPr id="24" name="Shape 20"/>
          <p:cNvSpPr/>
          <p:nvPr/>
        </p:nvSpPr>
        <p:spPr>
          <a:xfrm>
            <a:off x="4736306" y="1521619"/>
            <a:ext cx="1796653" cy="50006"/>
          </a:xfrm>
          <a:prstGeom prst="rect">
            <a:avLst/>
          </a:prstGeom>
          <a:solidFill>
            <a:srgbClr val="A3E635"/>
          </a:solidFill>
          <a:ln/>
        </p:spPr>
      </p:sp>
      <p:sp>
        <p:nvSpPr>
          <p:cNvPr id="25" name="Text 21"/>
          <p:cNvSpPr/>
          <p:nvPr/>
        </p:nvSpPr>
        <p:spPr>
          <a:xfrm>
            <a:off x="4864894" y="1671638"/>
            <a:ext cx="1539478" cy="85725"/>
          </a:xfrm>
          <a:prstGeom prst="rect">
            <a:avLst/>
          </a:prstGeom>
          <a:noFill/>
          <a:ln/>
        </p:spPr>
        <p:txBody>
          <a:bodyPr wrap="none" lIns="0" tIns="0" rIns="0" bIns="0" rtlCol="0" anchor="t">
            <a:spAutoFit/>
          </a:bodyPr>
          <a:lstStyle/>
          <a:p>
            <a:pPr algn="l" indent="0" marL="0">
              <a:lnSpc>
                <a:spcPct val="80000"/>
              </a:lnSpc>
              <a:buNone/>
            </a:pPr>
            <a:r>
              <a:rPr lang="en-US" sz="600" b="1" spc="1" kern="0" dirty="0">
                <a:solidFill>
                  <a:srgbClr val="65A30D"/>
                </a:solidFill>
                <a:latin typeface="Arial" pitchFamily="34" charset="0"/>
                <a:ea typeface="Arial" pitchFamily="34" charset="-122"/>
                <a:cs typeface="Arial" pitchFamily="34" charset="-120"/>
              </a:rPr>
              <a:t>03 / VALIDATE</a:t>
            </a:r>
            <a:endParaRPr lang="en-US" sz="600" dirty="0"/>
          </a:p>
        </p:txBody>
      </p:sp>
      <p:sp>
        <p:nvSpPr>
          <p:cNvPr id="26" name="Text 22"/>
          <p:cNvSpPr/>
          <p:nvPr/>
        </p:nvSpPr>
        <p:spPr>
          <a:xfrm>
            <a:off x="4864894" y="1821656"/>
            <a:ext cx="1539478" cy="311981"/>
          </a:xfrm>
          <a:prstGeom prst="rect">
            <a:avLst/>
          </a:prstGeom>
          <a:noFill/>
          <a:ln/>
        </p:spPr>
        <p:txBody>
          <a:bodyPr wrap="square" lIns="0" tIns="0" rIns="0" bIns="0" rtlCol="0" anchor="t">
            <a:spAutoFit/>
          </a:bodyPr>
          <a:lstStyle/>
          <a:p>
            <a:pPr algn="l" indent="0" marL="0">
              <a:lnSpc>
                <a:spcPct val="83200"/>
              </a:lnSpc>
              <a:buNone/>
            </a:pPr>
            <a:r>
              <a:rPr lang="en-US" sz="1050" b="1" dirty="0">
                <a:solidFill>
                  <a:srgbClr val="0B1020"/>
                </a:solidFill>
                <a:latin typeface="Arial" pitchFamily="34" charset="0"/>
                <a:ea typeface="Arial" pitchFamily="34" charset="-122"/>
                <a:cs typeface="Arial" pitchFamily="34" charset="-120"/>
              </a:rPr>
              <a:t>SOURCE COVERAGE CHECK</a:t>
            </a:r>
            <a:endParaRPr lang="en-US" sz="1050" dirty="0"/>
          </a:p>
        </p:txBody>
      </p:sp>
      <p:sp>
        <p:nvSpPr>
          <p:cNvPr id="27" name="Text 23"/>
          <p:cNvSpPr/>
          <p:nvPr/>
        </p:nvSpPr>
        <p:spPr>
          <a:xfrm>
            <a:off x="4864894" y="2246877"/>
            <a:ext cx="1539478" cy="575965"/>
          </a:xfrm>
          <a:prstGeom prst="rect">
            <a:avLst/>
          </a:prstGeom>
          <a:noFill/>
          <a:ln/>
        </p:spPr>
        <p:txBody>
          <a:bodyPr wrap="square" lIns="0" tIns="0" rIns="0" bIns="0" rtlCol="0" anchor="t">
            <a:spAutoFit/>
          </a:bodyPr>
          <a:lstStyle/>
          <a:p>
            <a:pPr algn="l" indent="0" marL="0">
              <a:lnSpc>
                <a:spcPct val="100800"/>
              </a:lnSpc>
              <a:buNone/>
            </a:pPr>
            <a:r>
              <a:rPr lang="en-US" sz="850" dirty="0">
                <a:solidFill>
                  <a:srgbClr val="334155"/>
                </a:solidFill>
                <a:latin typeface="Arial" pitchFamily="34" charset="0"/>
                <a:ea typeface="Arial" pitchFamily="34" charset="-122"/>
                <a:cs typeface="Arial" pitchFamily="34" charset="-120"/>
              </a:rPr>
              <a:t>Run the validator after code generation; missing files produce an explicit failed feature list.</a:t>
            </a:r>
            <a:endParaRPr lang="en-US" sz="850" dirty="0"/>
          </a:p>
        </p:txBody>
      </p:sp>
      <p:sp>
        <p:nvSpPr>
          <p:cNvPr id="28" name="Shape 24"/>
          <p:cNvSpPr/>
          <p:nvPr/>
        </p:nvSpPr>
        <p:spPr>
          <a:xfrm>
            <a:off x="4864894" y="2936081"/>
            <a:ext cx="1539478" cy="300038"/>
          </a:xfrm>
          <a:prstGeom prst="rect">
            <a:avLst/>
          </a:prstGeom>
          <a:solidFill>
            <a:srgbClr val="A3E635"/>
          </a:solidFill>
          <a:ln/>
        </p:spPr>
      </p:sp>
      <p:sp>
        <p:nvSpPr>
          <p:cNvPr id="29" name="Text 25"/>
          <p:cNvSpPr/>
          <p:nvPr/>
        </p:nvSpPr>
        <p:spPr>
          <a:xfrm>
            <a:off x="4864894" y="2936081"/>
            <a:ext cx="1539478" cy="300038"/>
          </a:xfrm>
          <a:prstGeom prst="rect">
            <a:avLst/>
          </a:prstGeom>
          <a:noFill/>
          <a:ln/>
        </p:spPr>
        <p:txBody>
          <a:bodyPr wrap="square" lIns="85090" tIns="102108" rIns="76581" bIns="0" rtlCol="0" anchor="t">
            <a:spAutoFit/>
          </a:bodyPr>
          <a:lstStyle/>
          <a:p>
            <a:pPr algn="l" indent="0" marL="0">
              <a:lnSpc>
                <a:spcPct val="84000"/>
              </a:lnSpc>
              <a:buNone/>
            </a:pPr>
            <a:r>
              <a:rPr lang="en-US" sz="550" b="1" spc="1" kern="0" dirty="0">
                <a:solidFill>
                  <a:srgbClr val="0B1020"/>
                </a:solidFill>
                <a:latin typeface="Arial" pitchFamily="34" charset="0"/>
                <a:ea typeface="Arial" pitchFamily="34" charset="-122"/>
                <a:cs typeface="Arial" pitchFamily="34" charset="-120"/>
              </a:rPr>
              <a:t>PASS OR FAIL</a:t>
            </a:r>
            <a:endParaRPr lang="en-US" sz="550" dirty="0"/>
          </a:p>
        </p:txBody>
      </p:sp>
      <p:sp>
        <p:nvSpPr>
          <p:cNvPr id="30" name="Text 26"/>
          <p:cNvSpPr/>
          <p:nvPr/>
        </p:nvSpPr>
        <p:spPr>
          <a:xfrm>
            <a:off x="6532959" y="1521619"/>
            <a:ext cx="328613" cy="1714500"/>
          </a:xfrm>
          <a:prstGeom prst="rect">
            <a:avLst/>
          </a:prstGeom>
          <a:noFill/>
          <a:ln/>
        </p:spPr>
        <p:txBody>
          <a:bodyPr wrap="square" lIns="0" tIns="0" rIns="0" bIns="0" rtlCol="0" anchor="ctr">
            <a:spAutoFit/>
          </a:bodyPr>
          <a:lstStyle/>
          <a:p>
            <a:pPr algn="ctr" indent="0" marL="0">
              <a:lnSpc>
                <a:spcPct val="80000"/>
              </a:lnSpc>
              <a:buNone/>
            </a:pPr>
            <a:r>
              <a:rPr lang="en-US" sz="1600" b="1" dirty="0">
                <a:solidFill>
                  <a:srgbClr val="A3E635"/>
                </a:solidFill>
                <a:latin typeface="Arial" pitchFamily="34" charset="0"/>
                <a:ea typeface="Arial" pitchFamily="34" charset="-122"/>
                <a:cs typeface="Arial" pitchFamily="34" charset="-120"/>
              </a:rPr>
              <a:t>→</a:t>
            </a:r>
            <a:endParaRPr lang="en-US" sz="1600" dirty="0"/>
          </a:p>
        </p:txBody>
      </p:sp>
      <p:sp>
        <p:nvSpPr>
          <p:cNvPr id="31" name="Shape 27"/>
          <p:cNvSpPr/>
          <p:nvPr/>
        </p:nvSpPr>
        <p:spPr>
          <a:xfrm>
            <a:off x="6861572" y="1521619"/>
            <a:ext cx="1796653" cy="1714500"/>
          </a:xfrm>
          <a:prstGeom prst="rect">
            <a:avLst/>
          </a:prstGeom>
          <a:solidFill>
            <a:srgbClr val="F8FAFC"/>
          </a:solidFill>
          <a:ln/>
        </p:spPr>
      </p:sp>
      <p:sp>
        <p:nvSpPr>
          <p:cNvPr id="32" name="Shape 28"/>
          <p:cNvSpPr/>
          <p:nvPr/>
        </p:nvSpPr>
        <p:spPr>
          <a:xfrm>
            <a:off x="6861572" y="1521619"/>
            <a:ext cx="1796653" cy="50006"/>
          </a:xfrm>
          <a:prstGeom prst="rect">
            <a:avLst/>
          </a:prstGeom>
          <a:solidFill>
            <a:srgbClr val="38BDF8"/>
          </a:solidFill>
          <a:ln/>
        </p:spPr>
      </p:sp>
      <p:sp>
        <p:nvSpPr>
          <p:cNvPr id="33" name="Text 29"/>
          <p:cNvSpPr/>
          <p:nvPr/>
        </p:nvSpPr>
        <p:spPr>
          <a:xfrm>
            <a:off x="6990159" y="1671638"/>
            <a:ext cx="1539478" cy="85725"/>
          </a:xfrm>
          <a:prstGeom prst="rect">
            <a:avLst/>
          </a:prstGeom>
          <a:noFill/>
          <a:ln/>
        </p:spPr>
        <p:txBody>
          <a:bodyPr wrap="none" lIns="0" tIns="0" rIns="0" bIns="0" rtlCol="0" anchor="t">
            <a:spAutoFit/>
          </a:bodyPr>
          <a:lstStyle/>
          <a:p>
            <a:pPr algn="l" indent="0" marL="0">
              <a:lnSpc>
                <a:spcPct val="80000"/>
              </a:lnSpc>
              <a:buNone/>
            </a:pPr>
            <a:r>
              <a:rPr lang="en-US" sz="600" b="1" spc="1" kern="0" dirty="0">
                <a:solidFill>
                  <a:srgbClr val="2563EB"/>
                </a:solidFill>
                <a:latin typeface="Arial" pitchFamily="34" charset="0"/>
                <a:ea typeface="Arial" pitchFamily="34" charset="-122"/>
                <a:cs typeface="Arial" pitchFamily="34" charset="-120"/>
              </a:rPr>
              <a:t>04 / REPORT</a:t>
            </a:r>
            <a:endParaRPr lang="en-US" sz="600" dirty="0"/>
          </a:p>
        </p:txBody>
      </p:sp>
      <p:sp>
        <p:nvSpPr>
          <p:cNvPr id="34" name="Text 30"/>
          <p:cNvSpPr/>
          <p:nvPr/>
        </p:nvSpPr>
        <p:spPr>
          <a:xfrm>
            <a:off x="6990159" y="1821656"/>
            <a:ext cx="1539478" cy="155990"/>
          </a:xfrm>
          <a:prstGeom prst="rect">
            <a:avLst/>
          </a:prstGeom>
          <a:noFill/>
          <a:ln/>
        </p:spPr>
        <p:txBody>
          <a:bodyPr wrap="none" lIns="0" tIns="0" rIns="0" bIns="0" rtlCol="0" anchor="t">
            <a:spAutoFit/>
          </a:bodyPr>
          <a:lstStyle/>
          <a:p>
            <a:pPr algn="l" indent="0" marL="0">
              <a:lnSpc>
                <a:spcPct val="83200"/>
              </a:lnSpc>
              <a:buNone/>
            </a:pPr>
            <a:r>
              <a:rPr lang="en-US" sz="1050" b="1" dirty="0">
                <a:solidFill>
                  <a:srgbClr val="0B1020"/>
                </a:solidFill>
                <a:latin typeface="Arial" pitchFamily="34" charset="0"/>
                <a:ea typeface="Arial" pitchFamily="34" charset="-122"/>
                <a:cs typeface="Arial" pitchFamily="34" charset="-120"/>
              </a:rPr>
              <a:t>HONEST DELIVERY</a:t>
            </a:r>
            <a:endParaRPr lang="en-US" sz="1050" dirty="0"/>
          </a:p>
        </p:txBody>
      </p:sp>
      <p:sp>
        <p:nvSpPr>
          <p:cNvPr id="35" name="Text 31"/>
          <p:cNvSpPr/>
          <p:nvPr/>
        </p:nvSpPr>
        <p:spPr>
          <a:xfrm>
            <a:off x="6990159" y="2168854"/>
            <a:ext cx="1539478" cy="575965"/>
          </a:xfrm>
          <a:prstGeom prst="rect">
            <a:avLst/>
          </a:prstGeom>
          <a:noFill/>
          <a:ln/>
        </p:spPr>
        <p:txBody>
          <a:bodyPr wrap="square" lIns="0" tIns="0" rIns="0" bIns="0" rtlCol="0" anchor="t">
            <a:spAutoFit/>
          </a:bodyPr>
          <a:lstStyle/>
          <a:p>
            <a:pPr algn="l" indent="0" marL="0">
              <a:lnSpc>
                <a:spcPct val="100800"/>
              </a:lnSpc>
              <a:buNone/>
            </a:pPr>
            <a:r>
              <a:rPr lang="en-US" sz="850" dirty="0">
                <a:solidFill>
                  <a:srgbClr val="334155"/>
                </a:solidFill>
                <a:latin typeface="Arial" pitchFamily="34" charset="0"/>
                <a:ea typeface="Arial" pitchFamily="34" charset="-122"/>
                <a:cs typeface="Arial" pitchFamily="34" charset="-120"/>
              </a:rPr>
              <a:t>Separate offline validation from live SaaS, GitHub, Slack, or email actions that still require credentials.</a:t>
            </a:r>
            <a:endParaRPr lang="en-US" sz="850" dirty="0"/>
          </a:p>
        </p:txBody>
      </p:sp>
      <p:sp>
        <p:nvSpPr>
          <p:cNvPr id="36" name="Shape 32"/>
          <p:cNvSpPr/>
          <p:nvPr/>
        </p:nvSpPr>
        <p:spPr>
          <a:xfrm>
            <a:off x="6990159" y="2936025"/>
            <a:ext cx="1539478" cy="300038"/>
          </a:xfrm>
          <a:prstGeom prst="rect">
            <a:avLst/>
          </a:prstGeom>
          <a:solidFill>
            <a:srgbClr val="E0F2FE"/>
          </a:solidFill>
          <a:ln/>
        </p:spPr>
      </p:sp>
      <p:sp>
        <p:nvSpPr>
          <p:cNvPr id="37" name="Text 33"/>
          <p:cNvSpPr/>
          <p:nvPr/>
        </p:nvSpPr>
        <p:spPr>
          <a:xfrm>
            <a:off x="6990159" y="2936025"/>
            <a:ext cx="1539478" cy="300038"/>
          </a:xfrm>
          <a:prstGeom prst="rect">
            <a:avLst/>
          </a:prstGeom>
          <a:noFill/>
          <a:ln/>
        </p:spPr>
        <p:txBody>
          <a:bodyPr wrap="square" lIns="85090" tIns="102108" rIns="76581" bIns="0" rtlCol="0" anchor="t">
            <a:spAutoFit/>
          </a:bodyPr>
          <a:lstStyle/>
          <a:p>
            <a:pPr algn="l" indent="0" marL="0">
              <a:lnSpc>
                <a:spcPct val="84000"/>
              </a:lnSpc>
              <a:buNone/>
            </a:pPr>
            <a:r>
              <a:rPr lang="en-US" sz="550" b="1" spc="1" kern="0" dirty="0">
                <a:solidFill>
                  <a:srgbClr val="0B1020"/>
                </a:solidFill>
                <a:latin typeface="Arial" pitchFamily="34" charset="0"/>
                <a:ea typeface="Arial" pitchFamily="34" charset="-122"/>
                <a:cs typeface="Arial" pitchFamily="34" charset="-120"/>
              </a:rPr>
              <a:t>NO IMPLIED LIVE RUN</a:t>
            </a:r>
            <a:endParaRPr lang="en-US" sz="550" dirty="0"/>
          </a:p>
        </p:txBody>
      </p:sp>
      <p:sp>
        <p:nvSpPr>
          <p:cNvPr id="38" name="Shape 34"/>
          <p:cNvSpPr/>
          <p:nvPr/>
        </p:nvSpPr>
        <p:spPr>
          <a:xfrm>
            <a:off x="485775" y="3457575"/>
            <a:ext cx="4439841" cy="1065981"/>
          </a:xfrm>
          <a:prstGeom prst="rect">
            <a:avLst/>
          </a:prstGeom>
          <a:solidFill>
            <a:srgbClr val="38BDF8"/>
          </a:solidFill>
          <a:ln/>
        </p:spPr>
      </p:sp>
      <p:sp>
        <p:nvSpPr>
          <p:cNvPr id="39" name="Text 35"/>
          <p:cNvSpPr/>
          <p:nvPr/>
        </p:nvSpPr>
        <p:spPr>
          <a:xfrm>
            <a:off x="650081" y="3607594"/>
            <a:ext cx="4111228" cy="117872"/>
          </a:xfrm>
          <a:prstGeom prst="rect">
            <a:avLst/>
          </a:prstGeom>
          <a:noFill/>
          <a:ln/>
        </p:spPr>
        <p:txBody>
          <a:bodyPr wrap="none" lIns="0" tIns="0" rIns="0" bIns="0" rtlCol="0" anchor="t">
            <a:spAutoFit/>
          </a:bodyPr>
          <a:lstStyle/>
          <a:p>
            <a:pPr algn="l" indent="0" marL="0">
              <a:lnSpc>
                <a:spcPct val="88000"/>
              </a:lnSpc>
              <a:buNone/>
            </a:pPr>
            <a:r>
              <a:rPr lang="en-US" sz="750" b="1" spc="1" kern="0" dirty="0">
                <a:solidFill>
                  <a:srgbClr val="0B1020"/>
                </a:solidFill>
                <a:latin typeface="Arial" pitchFamily="34" charset="0"/>
                <a:ea typeface="Arial" pitchFamily="34" charset="-122"/>
                <a:cs typeface="Arial" pitchFamily="34" charset="-120"/>
              </a:rPr>
              <a:t>REUSABLE VALIDATION COMMAND</a:t>
            </a:r>
            <a:endParaRPr lang="en-US" sz="750" dirty="0"/>
          </a:p>
        </p:txBody>
      </p:sp>
      <p:sp>
        <p:nvSpPr>
          <p:cNvPr id="40" name="Shape 36"/>
          <p:cNvSpPr/>
          <p:nvPr/>
        </p:nvSpPr>
        <p:spPr>
          <a:xfrm>
            <a:off x="650081" y="3846909"/>
            <a:ext cx="4111228" cy="312874"/>
          </a:xfrm>
          <a:prstGeom prst="rect">
            <a:avLst/>
          </a:prstGeom>
          <a:solidFill>
            <a:srgbClr val="0B1020"/>
          </a:solidFill>
          <a:ln/>
        </p:spPr>
      </p:sp>
      <p:sp>
        <p:nvSpPr>
          <p:cNvPr id="41" name="Text 37"/>
          <p:cNvSpPr/>
          <p:nvPr/>
        </p:nvSpPr>
        <p:spPr>
          <a:xfrm>
            <a:off x="650081" y="3846909"/>
            <a:ext cx="4111228" cy="312874"/>
          </a:xfrm>
          <a:prstGeom prst="rect">
            <a:avLst/>
          </a:prstGeom>
          <a:noFill/>
          <a:ln/>
        </p:spPr>
        <p:txBody>
          <a:bodyPr wrap="square" lIns="110617" tIns="110617" rIns="102108" bIns="0" rtlCol="0" anchor="t">
            <a:spAutoFit/>
          </a:bodyPr>
          <a:lstStyle/>
          <a:p>
            <a:pPr algn="l" indent="0" marL="0">
              <a:lnSpc>
                <a:spcPct val="88000"/>
              </a:lnSpc>
              <a:buNone/>
            </a:pPr>
            <a:r>
              <a:rPr lang="en-US" sz="700" b="1" dirty="0">
                <a:solidFill>
                  <a:srgbClr val="F8FAFC"/>
                </a:solidFill>
                <a:latin typeface="monospace" pitchFamily="34" charset="0"/>
                <a:ea typeface="monospace" pitchFamily="34" charset="-122"/>
                <a:cs typeface="monospace" pitchFamily="34" charset="-120"/>
              </a:rPr>
              <a:t>validate_suite_manifest.py --root SUITE --manifest suite-feature-manifest.json</a:t>
            </a:r>
            <a:endParaRPr lang="en-US" sz="700" dirty="0"/>
          </a:p>
        </p:txBody>
      </p:sp>
      <p:sp>
        <p:nvSpPr>
          <p:cNvPr id="42" name="Shape 38"/>
          <p:cNvSpPr/>
          <p:nvPr/>
        </p:nvSpPr>
        <p:spPr>
          <a:xfrm>
            <a:off x="5025628" y="3457575"/>
            <a:ext cx="3632597" cy="1065981"/>
          </a:xfrm>
          <a:prstGeom prst="rect">
            <a:avLst/>
          </a:prstGeom>
          <a:solidFill>
            <a:srgbClr val="F8FAFC"/>
          </a:solidFill>
          <a:ln/>
        </p:spPr>
      </p:sp>
      <p:sp>
        <p:nvSpPr>
          <p:cNvPr id="43" name="Shape 39"/>
          <p:cNvSpPr/>
          <p:nvPr/>
        </p:nvSpPr>
        <p:spPr>
          <a:xfrm>
            <a:off x="5025628" y="3457575"/>
            <a:ext cx="3632597" cy="42863"/>
          </a:xfrm>
          <a:prstGeom prst="rect">
            <a:avLst/>
          </a:prstGeom>
          <a:solidFill>
            <a:srgbClr val="A3E635"/>
          </a:solidFill>
          <a:ln/>
        </p:spPr>
      </p:sp>
      <p:sp>
        <p:nvSpPr>
          <p:cNvPr id="44" name="Text 40"/>
          <p:cNvSpPr/>
          <p:nvPr/>
        </p:nvSpPr>
        <p:spPr>
          <a:xfrm>
            <a:off x="5189934" y="3607594"/>
            <a:ext cx="3311128" cy="117872"/>
          </a:xfrm>
          <a:prstGeom prst="rect">
            <a:avLst/>
          </a:prstGeom>
          <a:noFill/>
          <a:ln/>
        </p:spPr>
        <p:txBody>
          <a:bodyPr wrap="none" lIns="0" tIns="0" rIns="0" bIns="0" rtlCol="0" anchor="t">
            <a:spAutoFit/>
          </a:bodyPr>
          <a:lstStyle/>
          <a:p>
            <a:pPr algn="l" indent="0" marL="0">
              <a:lnSpc>
                <a:spcPct val="88000"/>
              </a:lnSpc>
              <a:buNone/>
            </a:pPr>
            <a:r>
              <a:rPr lang="en-US" sz="750" b="1" spc="1" kern="0" dirty="0">
                <a:solidFill>
                  <a:srgbClr val="65A30D"/>
                </a:solidFill>
                <a:latin typeface="Arial" pitchFamily="34" charset="0"/>
                <a:ea typeface="Arial" pitchFamily="34" charset="-122"/>
                <a:cs typeface="Arial" pitchFamily="34" charset="-120"/>
              </a:rPr>
              <a:t>DELIVERY BOUNDARY</a:t>
            </a:r>
            <a:endParaRPr lang="en-US" sz="750" dirty="0"/>
          </a:p>
        </p:txBody>
      </p:sp>
      <p:sp>
        <p:nvSpPr>
          <p:cNvPr id="45" name="Text 41"/>
          <p:cNvSpPr/>
          <p:nvPr/>
        </p:nvSpPr>
        <p:spPr>
          <a:xfrm>
            <a:off x="5189934" y="3832622"/>
            <a:ext cx="3311128" cy="648072"/>
          </a:xfrm>
          <a:prstGeom prst="rect">
            <a:avLst/>
          </a:prstGeom>
          <a:noFill/>
          <a:ln/>
        </p:spPr>
        <p:txBody>
          <a:bodyPr wrap="square" lIns="0" tIns="0" rIns="0" bIns="0" rtlCol="0" anchor="t">
            <a:spAutoFit/>
          </a:bodyPr>
          <a:lstStyle/>
          <a:p>
            <a:pPr algn="l" indent="0" marL="0">
              <a:lnSpc>
                <a:spcPct val="100800"/>
              </a:lnSpc>
              <a:buNone/>
            </a:pPr>
            <a:r>
              <a:rPr lang="en-US" sz="950" dirty="0">
                <a:solidFill>
                  <a:srgbClr val="334155"/>
                </a:solidFill>
                <a:latin typeface="Arial" pitchFamily="34" charset="0"/>
                <a:ea typeface="Arial" pitchFamily="34" charset="-122"/>
                <a:cs typeface="Arial" pitchFamily="34" charset="-120"/>
              </a:rPr>
              <a:t>Source coverage proves the declared implementation exists. It does not pretend that protected live access, real credentials, or a test workspace were exercised when they were not.</a:t>
            </a:r>
            <a:endParaRPr lang="en-US" sz="950" dirty="0"/>
          </a:p>
        </p:txBody>
      </p:sp>
      <p:sp>
        <p:nvSpPr>
          <p:cNvPr id="46" name="Text 42"/>
          <p:cNvSpPr/>
          <p:nvPr/>
        </p:nvSpPr>
        <p:spPr>
          <a:xfrm>
            <a:off x="485775" y="4614863"/>
            <a:ext cx="8172450" cy="119993"/>
          </a:xfrm>
          <a:prstGeom prst="rect">
            <a:avLst/>
          </a:prstGeom>
          <a:noFill/>
          <a:ln/>
        </p:spPr>
        <p:txBody>
          <a:bodyPr wrap="none" lIns="0" tIns="0" rIns="0" bIns="0" rtlCol="0" anchor="t">
            <a:spAutoFit/>
          </a:bodyPr>
          <a:lstStyle/>
          <a:p>
            <a:pPr algn="l" indent="0" marL="0">
              <a:lnSpc>
                <a:spcPct val="96000"/>
              </a:lnSpc>
              <a:buNone/>
            </a:pPr>
            <a:r>
              <a:rPr lang="en-US" sz="700" b="1" spc="1" kern="0" dirty="0">
                <a:solidFill>
                  <a:srgbClr val="A3E635"/>
                </a:solidFill>
                <a:latin typeface="Arial" pitchFamily="34" charset="0"/>
                <a:ea typeface="Arial" pitchFamily="34" charset="-122"/>
                <a:cs typeface="Arial" pitchFamily="34" charset="-120"/>
              </a:rPr>
              <a:t>ASSURANCE PRINCIPLE:</a:t>
            </a:r>
            <a:r>
              <a:rPr lang="en-US" sz="700" b="1" spc="1" kern="0" dirty="0">
                <a:solidFill>
                  <a:srgbClr val="CBD5E1"/>
                </a:solidFill>
                <a:latin typeface="Arial" pitchFamily="34" charset="0"/>
                <a:ea typeface="Arial" pitchFamily="34" charset="-122"/>
                <a:cs typeface="Arial" pitchFamily="34" charset="-120"/>
              </a:rPr>
              <a:t> EVERY PROMISE MAPS TO CODE; EVERY LIVE CLAIM MAPS TO EVIDENCE.</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1323380"/>
            <a:ext cx="4703713" cy="107156"/>
          </a:xfrm>
          <a:prstGeom prst="rect">
            <a:avLst/>
          </a:prstGeom>
          <a:noFill/>
          <a:ln/>
        </p:spPr>
        <p:txBody>
          <a:bodyPr wrap="none" lIns="0" tIns="0" rIns="0" bIns="0" rtlCol="0" anchor="t">
            <a:spAutoFit/>
          </a:bodyPr>
          <a:lstStyle/>
          <a:p>
            <a:pPr algn="l" indent="0" marL="0">
              <a:lnSpc>
                <a:spcPct val="80000"/>
              </a:lnSpc>
              <a:buNone/>
            </a:pPr>
            <a:r>
              <a:rPr lang="en-US" sz="750" b="1" spc="2" kern="0" dirty="0">
                <a:solidFill>
                  <a:srgbClr val="A3E635"/>
                </a:solidFill>
                <a:latin typeface="Arial" pitchFamily="34" charset="0"/>
                <a:ea typeface="Arial" pitchFamily="34" charset="-122"/>
                <a:cs typeface="Arial" pitchFamily="34" charset="-120"/>
              </a:rPr>
              <a:t>SAAS ONBOARDING OPERATIONS</a:t>
            </a:r>
            <a:endParaRPr lang="en-US" sz="750" dirty="0"/>
          </a:p>
        </p:txBody>
      </p:sp>
      <p:sp>
        <p:nvSpPr>
          <p:cNvPr id="5" name="Text 1"/>
          <p:cNvSpPr/>
          <p:nvPr/>
        </p:nvSpPr>
        <p:spPr>
          <a:xfrm>
            <a:off x="571500" y="1559123"/>
            <a:ext cx="4703713" cy="1221581"/>
          </a:xfrm>
          <a:prstGeom prst="rect">
            <a:avLst/>
          </a:prstGeom>
          <a:noFill/>
          <a:ln/>
        </p:spPr>
        <p:txBody>
          <a:bodyPr wrap="square" lIns="0" tIns="0" rIns="0" bIns="0" rtlCol="0" anchor="t">
            <a:spAutoFit/>
          </a:bodyPr>
          <a:lstStyle/>
          <a:p>
            <a:pPr algn="l" indent="0" marL="0">
              <a:lnSpc>
                <a:spcPct val="76000"/>
              </a:lnSpc>
              <a:buNone/>
            </a:pPr>
            <a:r>
              <a:rPr lang="en-US" sz="3100" b="1" spc="-2" kern="0" dirty="0">
                <a:solidFill>
                  <a:srgbClr val="F8FAFC"/>
                </a:solidFill>
                <a:latin typeface="Arial" pitchFamily="34" charset="0"/>
                <a:ea typeface="Arial" pitchFamily="34" charset="-122"/>
                <a:cs typeface="Arial" pitchFamily="34" charset="-120"/>
              </a:rPr>
              <a:t>BUILD THE WHOLE SYSTEM, THEN PROVE IT.</a:t>
            </a:r>
            <a:endParaRPr lang="en-US" sz="3100" dirty="0"/>
          </a:p>
        </p:txBody>
      </p:sp>
      <p:sp>
        <p:nvSpPr>
          <p:cNvPr id="6" name="Text 2"/>
          <p:cNvSpPr/>
          <p:nvPr/>
        </p:nvSpPr>
        <p:spPr>
          <a:xfrm>
            <a:off x="571500" y="2987873"/>
            <a:ext cx="4703713" cy="892969"/>
          </a:xfrm>
          <a:prstGeom prst="rect">
            <a:avLst/>
          </a:prstGeom>
          <a:noFill/>
          <a:ln/>
        </p:spPr>
        <p:txBody>
          <a:bodyPr wrap="square" lIns="0" tIns="0" rIns="0" bIns="0" rtlCol="0" anchor="t">
            <a:spAutoFit/>
          </a:bodyPr>
          <a:lstStyle/>
          <a:p>
            <a:pPr algn="l" indent="0" marL="0">
              <a:lnSpc>
                <a:spcPct val="100000"/>
              </a:lnSpc>
              <a:buNone/>
            </a:pPr>
            <a:r>
              <a:rPr lang="en-US" sz="1300" dirty="0">
                <a:solidFill>
                  <a:srgbClr val="CBD5E1"/>
                </a:solidFill>
                <a:latin typeface="Arial" pitchFamily="34" charset="0"/>
                <a:ea typeface="Arial" pitchFamily="34" charset="-122"/>
                <a:cs typeface="Arial" pitchFamily="34" charset="-120"/>
              </a:rPr>
              <a:t>The reusable skill turns onboarding automation into a complete delivery pattern: trustworthy UI evidence, secure operations, measurable performance, and repeatable maintenance.</a:t>
            </a:r>
            <a:endParaRPr lang="en-US" sz="1300" dirty="0"/>
          </a:p>
        </p:txBody>
      </p:sp>
      <p:sp>
        <p:nvSpPr>
          <p:cNvPr id="7" name="Shape 3"/>
          <p:cNvSpPr/>
          <p:nvPr/>
        </p:nvSpPr>
        <p:spPr>
          <a:xfrm>
            <a:off x="571500" y="4138017"/>
            <a:ext cx="2493671" cy="200025"/>
          </a:xfrm>
          <a:prstGeom prst="rect">
            <a:avLst/>
          </a:prstGeom>
          <a:solidFill>
            <a:srgbClr val="A3E635"/>
          </a:solidFill>
          <a:ln/>
        </p:spPr>
      </p:sp>
      <p:sp>
        <p:nvSpPr>
          <p:cNvPr id="8" name="Text 4"/>
          <p:cNvSpPr/>
          <p:nvPr/>
        </p:nvSpPr>
        <p:spPr>
          <a:xfrm>
            <a:off x="571500" y="4138017"/>
            <a:ext cx="2493671" cy="200025"/>
          </a:xfrm>
          <a:prstGeom prst="rect">
            <a:avLst/>
          </a:prstGeom>
          <a:noFill/>
          <a:ln/>
        </p:spPr>
        <p:txBody>
          <a:bodyPr wrap="square" lIns="144526" tIns="119126" rIns="144526" bIns="0" rtlCol="0" anchor="t">
            <a:spAutoFit/>
          </a:bodyPr>
          <a:lstStyle/>
          <a:p>
            <a:pPr algn="l" indent="0" marL="0">
              <a:lnSpc>
                <a:spcPct val="80000"/>
              </a:lnSpc>
              <a:buNone/>
            </a:pPr>
            <a:r>
              <a:rPr lang="en-US" sz="700" b="1" spc="1" kern="0" dirty="0">
                <a:solidFill>
                  <a:srgbClr val="0B1020"/>
                </a:solidFill>
                <a:latin typeface="Arial" pitchFamily="34" charset="0"/>
                <a:ea typeface="Arial" pitchFamily="34" charset="-122"/>
                <a:cs typeface="Arial" pitchFamily="34" charset="-120"/>
              </a:rPr>
              <a:t>START WITH THE FEATURE CONTRACT</a:t>
            </a:r>
            <a:endParaRPr lang="en-US" sz="700" dirty="0"/>
          </a:p>
        </p:txBody>
      </p:sp>
      <p:sp>
        <p:nvSpPr>
          <p:cNvPr id="9" name="Shape 5"/>
          <p:cNvSpPr/>
          <p:nvPr/>
        </p:nvSpPr>
        <p:spPr>
          <a:xfrm>
            <a:off x="5689550" y="3729038"/>
            <a:ext cx="1409328" cy="378619"/>
          </a:xfrm>
          <a:prstGeom prst="rect">
            <a:avLst/>
          </a:prstGeom>
          <a:solidFill>
            <a:srgbClr val="F8FAFC"/>
          </a:solidFill>
          <a:ln w="9144">
            <a:solidFill>
              <a:srgbClr val="38BDF8"/>
            </a:solidFill>
            <a:prstDash val="solid"/>
          </a:ln>
        </p:spPr>
      </p:sp>
      <p:sp>
        <p:nvSpPr>
          <p:cNvPr id="10" name="Text 6"/>
          <p:cNvSpPr/>
          <p:nvPr/>
        </p:nvSpPr>
        <p:spPr>
          <a:xfrm>
            <a:off x="5689550" y="3729038"/>
            <a:ext cx="1409328" cy="378619"/>
          </a:xfrm>
          <a:prstGeom prst="rect">
            <a:avLst/>
          </a:prstGeom>
          <a:noFill/>
          <a:ln/>
        </p:spPr>
        <p:txBody>
          <a:bodyPr wrap="square" lIns="0" tIns="102108" rIns="0" bIns="0" rtlCol="0" anchor="t">
            <a:spAutoFit/>
          </a:bodyPr>
          <a:lstStyle/>
          <a:p>
            <a:pPr algn="l" indent="0" marL="0">
              <a:lnSpc>
                <a:spcPct val="80000"/>
              </a:lnSpc>
              <a:buNone/>
            </a:pPr>
            <a:r>
              <a:rPr lang="en-US" sz="650" b="1" spc="1" kern="0" dirty="0">
                <a:solidFill>
                  <a:srgbClr val="CBD5E1"/>
                </a:solidFill>
                <a:latin typeface="Arial" pitchFamily="34" charset="0"/>
                <a:ea typeface="Arial" pitchFamily="34" charset="-122"/>
                <a:cs typeface="Arial" pitchFamily="34" charset="-120"/>
              </a:rPr>
              <a:t>JOURNEY → VERIFICATION → OPERATIONS → INSIGHT</a:t>
            </a:r>
            <a:endParaRPr lang="en-US" sz="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2026-08-21T07:44:22Z</dcterms:created>
  <dcterms:modified xsi:type="dcterms:W3CDTF">2026-08-21T07:44:22Z</dcterms:modified>
</cp:coreProperties>
</file>